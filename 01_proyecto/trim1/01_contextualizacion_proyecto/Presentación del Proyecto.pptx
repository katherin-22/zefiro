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71" r:id="rId8"/>
    <p:sldId id="262" r:id="rId9"/>
    <p:sldId id="263" r:id="rId10"/>
    <p:sldId id="281" r:id="rId11"/>
    <p:sldId id="264" r:id="rId12"/>
    <p:sldId id="265" r:id="rId13"/>
    <p:sldId id="266" r:id="rId14"/>
    <p:sldId id="267" r:id="rId15"/>
    <p:sldId id="276" r:id="rId16"/>
    <p:sldId id="274" r:id="rId17"/>
    <p:sldId id="275" r:id="rId18"/>
    <p:sldId id="277" r:id="rId19"/>
    <p:sldId id="278" r:id="rId20"/>
    <p:sldId id="279" r:id="rId21"/>
    <p:sldId id="280" r:id="rId22"/>
    <p:sldId id="268" r:id="rId23"/>
    <p:sldId id="269" r:id="rId24"/>
    <p:sldId id="272" r:id="rId25"/>
    <p:sldId id="270" r:id="rId26"/>
  </p:sldIdLst>
  <p:sldSz cx="12192000" cy="6858000"/>
  <p:notesSz cx="6858000" cy="9144000"/>
  <p:embeddedFontLst>
    <p:embeddedFont>
      <p:font typeface="Work Sans" pitchFamily="2" charset="0"/>
      <p:regular r:id="rId28"/>
      <p:bold r:id="rId29"/>
      <p:italic r:id="rId30"/>
      <p:boldItalic r:id="rId31"/>
    </p:embeddedFont>
    <p:embeddedFont>
      <p:font typeface="Work Sans Light" pitchFamily="2" charset="0"/>
      <p:regular r:id="rId32"/>
      <p:bold r:id="rId33"/>
      <p:italic r:id="rId34"/>
      <p:boldItalic r:id="rId35"/>
    </p:embeddedFont>
    <p:embeddedFont>
      <p:font typeface="Work Sans Medium"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gGeO/vHCTEi/MJf6RnpC6vp81Q4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0B6C16-105A-48B9-B28C-AD33A7352A04}">
  <a:tblStyle styleId="{410B6C16-105A-48B9-B28C-AD33A7352A0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59" d="100"/>
          <a:sy n="59" d="100"/>
        </p:scale>
        <p:origin x="8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63988e4161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g363988e4161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63988e4161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g363988e4161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6393dac501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36393dac501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11578A74-2E8D-07F9-8FF1-2A364FB4D3EC}"/>
            </a:ext>
          </a:extLst>
        </p:cNvPr>
        <p:cNvGrpSpPr/>
        <p:nvPr/>
      </p:nvGrpSpPr>
      <p:grpSpPr>
        <a:xfrm>
          <a:off x="0" y="0"/>
          <a:ext cx="0" cy="0"/>
          <a:chOff x="0" y="0"/>
          <a:chExt cx="0" cy="0"/>
        </a:xfrm>
      </p:grpSpPr>
      <p:sp>
        <p:nvSpPr>
          <p:cNvPr id="137" name="Google Shape;137;g36393dac501_0_0:notes">
            <a:extLst>
              <a:ext uri="{FF2B5EF4-FFF2-40B4-BE49-F238E27FC236}">
                <a16:creationId xmlns:a16="http://schemas.microsoft.com/office/drawing/2014/main" id="{498A3966-A0A3-5A12-807B-B17F11A03EF0}"/>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36393dac501_0_0:notes">
            <a:extLst>
              <a:ext uri="{FF2B5EF4-FFF2-40B4-BE49-F238E27FC236}">
                <a16:creationId xmlns:a16="http://schemas.microsoft.com/office/drawing/2014/main" id="{BED9EEDE-097B-A380-8383-AC915D5D40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3157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6393dac501_3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g36393dac501_3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6393dac501_6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6" name="Google Shape;156;g36393dac501_6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6393dac501_6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6" name="Google Shape;156;g36393dac501_6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7210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6393dac501_4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g36393dac501_4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6393dac501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36393dac501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60782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68640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6393dac501_4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g36393dac501_4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3755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17486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6393dac501_4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g36393dac501_4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22789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6393dac501_4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g36393dac501_4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9173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6393dac501_4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g36393dac501_4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88431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48fab2c6ef_1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48fab2c6ef_1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g348fab2c6ef_1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48fab2c6ef_1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48fab2c6ef_1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g348fab2c6ef_1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24</a:t>
            </a:fld>
            <a:endParaRPr/>
          </a:p>
        </p:txBody>
      </p:sp>
    </p:spTree>
    <p:extLst>
      <p:ext uri="{BB962C8B-B14F-4D97-AF65-F5344CB8AC3E}">
        <p14:creationId xmlns:p14="http://schemas.microsoft.com/office/powerpoint/2010/main" val="38476713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15"/>
        <p:cNvGrpSpPr/>
        <p:nvPr/>
      </p:nvGrpSpPr>
      <p:grpSpPr>
        <a:xfrm>
          <a:off x="0" y="0"/>
          <a:ext cx="0" cy="0"/>
          <a:chOff x="0" y="0"/>
          <a:chExt cx="0" cy="0"/>
        </a:xfrm>
      </p:grpSpPr>
      <p:pic>
        <p:nvPicPr>
          <p:cNvPr id="16" name="Google Shape;16;p17" descr="Interfaz de usuario gráfica, Texto, Aplicación&#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Encabezado de sección">
  <p:cSld name="1_Encabezado de sección">
    <p:spTree>
      <p:nvGrpSpPr>
        <p:cNvPr id="1" name="Shape 17"/>
        <p:cNvGrpSpPr/>
        <p:nvPr/>
      </p:nvGrpSpPr>
      <p:grpSpPr>
        <a:xfrm>
          <a:off x="0" y="0"/>
          <a:ext cx="0" cy="0"/>
          <a:chOff x="0" y="0"/>
          <a:chExt cx="0" cy="0"/>
        </a:xfrm>
      </p:grpSpPr>
      <p:pic>
        <p:nvPicPr>
          <p:cNvPr id="18" name="Google Shape;18;p18"/>
          <p:cNvPicPr preferRelativeResize="0"/>
          <p:nvPr/>
        </p:nvPicPr>
        <p:blipFill rotWithShape="1">
          <a:blip r:embed="rId2">
            <a:alphaModFix/>
          </a:blip>
          <a:srcRect/>
          <a:stretch/>
        </p:blipFill>
        <p:spPr>
          <a:xfrm>
            <a:off x="11027833" y="317431"/>
            <a:ext cx="811391" cy="7905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Encabezado de sección">
  <p:cSld name="2_Encabezado de sección">
    <p:spTree>
      <p:nvGrpSpPr>
        <p:cNvPr id="1" name="Shape 19"/>
        <p:cNvGrpSpPr/>
        <p:nvPr/>
      </p:nvGrpSpPr>
      <p:grpSpPr>
        <a:xfrm>
          <a:off x="0" y="0"/>
          <a:ext cx="0" cy="0"/>
          <a:chOff x="0" y="0"/>
          <a:chExt cx="0" cy="0"/>
        </a:xfrm>
      </p:grpSpPr>
      <p:pic>
        <p:nvPicPr>
          <p:cNvPr id="20" name="Google Shape;20;p19" descr="Patrón de fondo&#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21" name="Google Shape;21;p19"/>
          <p:cNvPicPr preferRelativeResize="0"/>
          <p:nvPr/>
        </p:nvPicPr>
        <p:blipFill rotWithShape="1">
          <a:blip r:embed="rId3">
            <a:alphaModFix/>
          </a:blip>
          <a:srcRect/>
          <a:stretch/>
        </p:blipFill>
        <p:spPr>
          <a:xfrm>
            <a:off x="11054859" y="303050"/>
            <a:ext cx="855785" cy="83398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7"/>
        <p:cNvGrpSpPr/>
        <p:nvPr/>
      </p:nvGrpSpPr>
      <p:grpSpPr>
        <a:xfrm>
          <a:off x="0" y="0"/>
          <a:ext cx="0" cy="0"/>
          <a:chOff x="0" y="0"/>
          <a:chExt cx="0" cy="0"/>
        </a:xfrm>
      </p:grpSpPr>
      <p:sp>
        <p:nvSpPr>
          <p:cNvPr id="28" name="Google Shape;2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31"/>
        <p:cNvGrpSpPr/>
        <p:nvPr/>
      </p:nvGrpSpPr>
      <p:grpSpPr>
        <a:xfrm>
          <a:off x="0" y="0"/>
          <a:ext cx="0" cy="0"/>
          <a:chOff x="0" y="0"/>
          <a:chExt cx="0" cy="0"/>
        </a:xfrm>
      </p:grpSpPr>
      <p:sp>
        <p:nvSpPr>
          <p:cNvPr id="32" name="Google Shape;32;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4" name="Google Shape;3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7"/>
        <p:cNvGrpSpPr/>
        <p:nvPr/>
      </p:nvGrpSpPr>
      <p:grpSpPr>
        <a:xfrm>
          <a:off x="0" y="0"/>
          <a:ext cx="0" cy="0"/>
          <a:chOff x="0" y="0"/>
          <a:chExt cx="0" cy="0"/>
        </a:xfrm>
      </p:grpSpPr>
      <p:sp>
        <p:nvSpPr>
          <p:cNvPr id="38" name="Google Shape;3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3"/>
        <p:cNvGrpSpPr/>
        <p:nvPr/>
      </p:nvGrpSpPr>
      <p:grpSpPr>
        <a:xfrm>
          <a:off x="0" y="0"/>
          <a:ext cx="0" cy="0"/>
          <a:chOff x="0" y="0"/>
          <a:chExt cx="0" cy="0"/>
        </a:xfrm>
      </p:grpSpPr>
      <p:sp>
        <p:nvSpPr>
          <p:cNvPr id="44" name="Google Shape;4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6" name="Google Shape;4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6"/>
        <p:cNvGrpSpPr/>
        <p:nvPr/>
      </p:nvGrpSpPr>
      <p:grpSpPr>
        <a:xfrm>
          <a:off x="0" y="0"/>
          <a:ext cx="0" cy="0"/>
          <a:chOff x="0" y="0"/>
          <a:chExt cx="0" cy="0"/>
        </a:xfrm>
      </p:grpSpPr>
      <p:sp>
        <p:nvSpPr>
          <p:cNvPr id="57" name="Google Shape;5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1" name="Google Shape;6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70"/>
        <p:cNvGrpSpPr/>
        <p:nvPr/>
      </p:nvGrpSpPr>
      <p:grpSpPr>
        <a:xfrm>
          <a:off x="0" y="0"/>
          <a:ext cx="0" cy="0"/>
          <a:chOff x="0" y="0"/>
          <a:chExt cx="0" cy="0"/>
        </a:xfrm>
      </p:grpSpPr>
      <p:sp>
        <p:nvSpPr>
          <p:cNvPr id="71" name="Google Shape;71;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7"/>
        <p:cNvGrpSpPr/>
        <p:nvPr/>
      </p:nvGrpSpPr>
      <p:grpSpPr>
        <a:xfrm>
          <a:off x="0" y="0"/>
          <a:ext cx="0" cy="0"/>
          <a:chOff x="0" y="0"/>
          <a:chExt cx="0" cy="0"/>
        </a:xfrm>
      </p:grpSpPr>
      <p:sp>
        <p:nvSpPr>
          <p:cNvPr id="78" name="Google Shape;78;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9"/>
          <p:cNvSpPr>
            <a:spLocks noGrp="1"/>
          </p:cNvSpPr>
          <p:nvPr>
            <p:ph type="pic" idx="2"/>
          </p:nvPr>
        </p:nvSpPr>
        <p:spPr>
          <a:xfrm>
            <a:off x="5183188" y="987425"/>
            <a:ext cx="6172200" cy="4873625"/>
          </a:xfrm>
          <a:prstGeom prst="rect">
            <a:avLst/>
          </a:prstGeom>
          <a:noFill/>
          <a:ln>
            <a:noFill/>
          </a:ln>
        </p:spPr>
      </p:sp>
      <p:sp>
        <p:nvSpPr>
          <p:cNvPr id="80" name="Google Shape;80;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4"/>
        <p:cNvGrpSpPr/>
        <p:nvPr/>
      </p:nvGrpSpPr>
      <p:grpSpPr>
        <a:xfrm>
          <a:off x="0" y="0"/>
          <a:ext cx="0" cy="0"/>
          <a:chOff x="0" y="0"/>
          <a:chExt cx="0" cy="0"/>
        </a:xfrm>
      </p:grpSpPr>
      <p:sp>
        <p:nvSpPr>
          <p:cNvPr id="85" name="Google Shape;85;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90"/>
        <p:cNvGrpSpPr/>
        <p:nvPr/>
      </p:nvGrpSpPr>
      <p:grpSpPr>
        <a:xfrm>
          <a:off x="0" y="0"/>
          <a:ext cx="0" cy="0"/>
          <a:chOff x="0" y="0"/>
          <a:chExt cx="0" cy="0"/>
        </a:xfrm>
      </p:grpSpPr>
      <p:sp>
        <p:nvSpPr>
          <p:cNvPr id="91" name="Google Shape;91;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forms.gle/mygN8hwspY6cPo2K6" TargetMode="External"/><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hyperlink" Target="https://docs.google.com/document/d/1k89GukGZqF4sdMDzXDMdkwlsAVQvETv5/edit" TargetMode="External"/><Relationship Id="rId5" Type="http://schemas.openxmlformats.org/officeDocument/2006/relationships/hyperlink" Target="https://docs.google.com/document/d/19fb_yMSavdpKgo4-iXuHDx7MvqHGwpOrQmrW8WEoYcM/edit?tab=t.0" TargetMode="External"/><Relationship Id="rId4" Type="http://schemas.openxmlformats.org/officeDocument/2006/relationships/hyperlink" Target="https://docs.google.com/document/d/1hUNuXN74zkWklU7JHV1C2Eg7h8_buByc/edit?usp=sharing&amp;ouid=110984401584463252056&amp;rtpof=true&amp;sd=tru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hyperlink" Target="http://node.js" TargetMode="Externa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hyperlink" Target="https://github.com/Katherin-22/zefiro/blob/Test/01_proyecto/trim7/Manuales/Plan%20del%20Proyecto%20CMMI%20Nivel%202.pdf" TargetMode="Externa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hyperlink" Target="https://github.com/Katherin-22/zefiro/blob/Test/01_proyecto/trim7/Diagrama%20Despliegue/Zefiro.drawio.png" TargetMode="Externa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hyperlink" Target="https://github.com/Katherin-22/zefiro/blob/Test/01_proyecto/trim7/Manuales/manual%20tecnico%20e%20instalacion.pdf" TargetMode="Externa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hyperlink" Target="https://github.com/Katherin-22/zefiro/blob/Test/01_proyecto/trim7/Manuales/Plan%20de%20Migraci%C3%B3n%20y%20respaldo%20de%20datos.pdf" TargetMode="Externa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hyperlink" Target="https://github.com/Katherin-22/zefiro/blob/Test/01_proyecto/trim7/Manuales/Plan%20de%20mantenimiento%20y%20Soporte.pdf" TargetMode="Externa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hyperlink" Target="https://github.com/Katherin-22/zefiro/blob/Test/01_proyecto/trim7/Manuales/Manual%20de%20capacitacion%20Proyecto.pdf" TargetMode="Externa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hyperlink" Target="https://github.com/Katherin-22/zefiro/blob/Test/01_proyecto/trim7/Manuales/Manual%20de%20usuario%20aplicativo%20web%20Z%C3%A9firo.pdf" TargetMode="Externa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p:nvPr/>
        </p:nvSpPr>
        <p:spPr>
          <a:xfrm>
            <a:off x="927400" y="2854475"/>
            <a:ext cx="5198100" cy="6156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endParaRPr sz="3400" b="1">
              <a:solidFill>
                <a:srgbClr val="0C0C0C"/>
              </a:solidFill>
              <a:latin typeface="Work Sans"/>
              <a:ea typeface="Work Sans"/>
              <a:cs typeface="Work Sans"/>
              <a:sym typeface="Work Sans"/>
            </a:endParaRPr>
          </a:p>
        </p:txBody>
      </p:sp>
      <p:pic>
        <p:nvPicPr>
          <p:cNvPr id="102" name="Google Shape;102;p1"/>
          <p:cNvPicPr preferRelativeResize="0"/>
          <p:nvPr/>
        </p:nvPicPr>
        <p:blipFill>
          <a:blip r:embed="rId3">
            <a:alphaModFix/>
          </a:blip>
          <a:stretch>
            <a:fillRect/>
          </a:stretch>
        </p:blipFill>
        <p:spPr>
          <a:xfrm>
            <a:off x="8573749" y="2185900"/>
            <a:ext cx="2626000" cy="2662575"/>
          </a:xfrm>
          <a:prstGeom prst="rect">
            <a:avLst/>
          </a:prstGeom>
          <a:noFill/>
          <a:ln>
            <a:noFill/>
          </a:ln>
        </p:spPr>
      </p:pic>
      <p:pic>
        <p:nvPicPr>
          <p:cNvPr id="3" name="Imagen 2">
            <a:extLst>
              <a:ext uri="{FF2B5EF4-FFF2-40B4-BE49-F238E27FC236}">
                <a16:creationId xmlns:a16="http://schemas.microsoft.com/office/drawing/2014/main" id="{98EBC749-0B0E-2CC5-825D-2EBAD87A3D7A}"/>
              </a:ext>
            </a:extLst>
          </p:cNvPr>
          <p:cNvPicPr>
            <a:picLocks noChangeAspect="1"/>
          </p:cNvPicPr>
          <p:nvPr/>
        </p:nvPicPr>
        <p:blipFill>
          <a:blip r:embed="rId4"/>
          <a:stretch>
            <a:fillRect/>
          </a:stretch>
        </p:blipFill>
        <p:spPr>
          <a:xfrm>
            <a:off x="4974279" y="2247108"/>
            <a:ext cx="2445934" cy="24459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7"/>
        <p:cNvGrpSpPr/>
        <p:nvPr/>
      </p:nvGrpSpPr>
      <p:grpSpPr>
        <a:xfrm>
          <a:off x="0" y="0"/>
          <a:ext cx="0" cy="0"/>
          <a:chOff x="0" y="0"/>
          <a:chExt cx="0" cy="0"/>
        </a:xfrm>
      </p:grpSpPr>
      <p:sp>
        <p:nvSpPr>
          <p:cNvPr id="108" name="Google Shape;108;p2"/>
          <p:cNvSpPr txBox="1"/>
          <p:nvPr/>
        </p:nvSpPr>
        <p:spPr>
          <a:xfrm>
            <a:off x="2092050" y="1450608"/>
            <a:ext cx="8007900"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7200" dirty="0">
                <a:solidFill>
                  <a:schemeClr val="lt1"/>
                </a:solidFill>
                <a:latin typeface="Work Sans Light"/>
                <a:sym typeface="Work Sans Light"/>
              </a:rPr>
              <a:t>Zéfiro</a:t>
            </a:r>
            <a:endParaRPr dirty="0"/>
          </a:p>
        </p:txBody>
      </p:sp>
      <p:cxnSp>
        <p:nvCxnSpPr>
          <p:cNvPr id="109" name="Google Shape;109;p2"/>
          <p:cNvCxnSpPr/>
          <p:nvPr/>
        </p:nvCxnSpPr>
        <p:spPr>
          <a:xfrm>
            <a:off x="5227899" y="3321934"/>
            <a:ext cx="1736203" cy="0"/>
          </a:xfrm>
          <a:prstGeom prst="straightConnector1">
            <a:avLst/>
          </a:prstGeom>
          <a:noFill/>
          <a:ln w="9525" cap="flat" cmpd="sng">
            <a:solidFill>
              <a:schemeClr val="lt1"/>
            </a:solidFill>
            <a:prstDash val="solid"/>
            <a:miter lim="800000"/>
            <a:headEnd type="none" w="sm" len="sm"/>
            <a:tailEnd type="none" w="sm" len="sm"/>
          </a:ln>
        </p:spPr>
      </p:cxnSp>
      <p:sp>
        <p:nvSpPr>
          <p:cNvPr id="110" name="Google Shape;110;p2"/>
          <p:cNvSpPr txBox="1"/>
          <p:nvPr/>
        </p:nvSpPr>
        <p:spPr>
          <a:xfrm>
            <a:off x="4168816" y="3463724"/>
            <a:ext cx="3854400" cy="830956"/>
          </a:xfrm>
          <a:prstGeom prst="rect">
            <a:avLst/>
          </a:prstGeom>
          <a:noFill/>
          <a:ln>
            <a:noFill/>
          </a:ln>
        </p:spPr>
        <p:txBody>
          <a:bodyPr spcFirstLastPara="1" wrap="square" lIns="91425" tIns="45700" rIns="91425" bIns="45700" anchor="t" anchorCtr="0">
            <a:spAutoFit/>
          </a:bodyPr>
          <a:lstStyle/>
          <a:p>
            <a:pPr marL="0" marR="0" lvl="0" indent="457200" algn="l" rtl="0">
              <a:spcBef>
                <a:spcPts val="0"/>
              </a:spcBef>
              <a:spcAft>
                <a:spcPts val="0"/>
              </a:spcAft>
              <a:buNone/>
            </a:pPr>
            <a:r>
              <a:rPr lang="es-MX" sz="1600" dirty="0">
                <a:solidFill>
                  <a:schemeClr val="lt1"/>
                </a:solidFill>
                <a:latin typeface="Work Sans Light"/>
                <a:ea typeface="Work Sans Light"/>
                <a:cs typeface="Work Sans Light"/>
                <a:sym typeface="Work Sans Light"/>
              </a:rPr>
              <a:t>Bohorquez Diaz Daniela Lorena</a:t>
            </a:r>
            <a:endParaRPr sz="1600" dirty="0">
              <a:solidFill>
                <a:schemeClr val="lt1"/>
              </a:solidFill>
              <a:latin typeface="Work Sans Light"/>
              <a:ea typeface="Work Sans Light"/>
              <a:cs typeface="Work Sans Light"/>
              <a:sym typeface="Work Sans Light"/>
            </a:endParaRPr>
          </a:p>
          <a:p>
            <a:pPr marL="0" lvl="0" indent="0" algn="ctr" rtl="0">
              <a:spcBef>
                <a:spcPts val="0"/>
              </a:spcBef>
              <a:spcAft>
                <a:spcPts val="0"/>
              </a:spcAft>
              <a:buClr>
                <a:schemeClr val="dk1"/>
              </a:buClr>
              <a:buFont typeface="Arial"/>
              <a:buNone/>
            </a:pPr>
            <a:r>
              <a:rPr lang="es-MX" sz="1600" dirty="0">
                <a:solidFill>
                  <a:schemeClr val="lt1"/>
                </a:solidFill>
                <a:latin typeface="Work Sans Light"/>
                <a:ea typeface="Work Sans Light"/>
                <a:cs typeface="Work Sans Light"/>
                <a:sym typeface="Work Sans Light"/>
              </a:rPr>
              <a:t>Carvajal Bonilla </a:t>
            </a:r>
            <a:r>
              <a:rPr lang="es-MX" sz="1600" dirty="0" err="1">
                <a:solidFill>
                  <a:schemeClr val="lt1"/>
                </a:solidFill>
                <a:latin typeface="Work Sans Light"/>
                <a:ea typeface="Work Sans Light"/>
                <a:cs typeface="Work Sans Light"/>
                <a:sym typeface="Work Sans Light"/>
              </a:rPr>
              <a:t>Jhonatan</a:t>
            </a:r>
            <a:endParaRPr sz="1600" dirty="0">
              <a:solidFill>
                <a:schemeClr val="lt1"/>
              </a:solidFill>
              <a:latin typeface="Work Sans Light"/>
              <a:ea typeface="Work Sans Light"/>
              <a:cs typeface="Work Sans Light"/>
              <a:sym typeface="Work Sans Light"/>
            </a:endParaRPr>
          </a:p>
          <a:p>
            <a:pPr marL="0" marR="0" lvl="0" indent="0" algn="ctr" rtl="0">
              <a:spcBef>
                <a:spcPts val="0"/>
              </a:spcBef>
              <a:spcAft>
                <a:spcPts val="0"/>
              </a:spcAft>
              <a:buNone/>
            </a:pPr>
            <a:r>
              <a:rPr lang="es-MX" sz="1600" dirty="0">
                <a:solidFill>
                  <a:schemeClr val="lt1"/>
                </a:solidFill>
                <a:latin typeface="Work Sans Light"/>
                <a:ea typeface="Work Sans Light"/>
                <a:cs typeface="Work Sans Light"/>
                <a:sym typeface="Work Sans Light"/>
              </a:rPr>
              <a:t>Morcillo Quiroga </a:t>
            </a:r>
            <a:r>
              <a:rPr lang="es-MX" sz="1600" dirty="0" err="1">
                <a:solidFill>
                  <a:schemeClr val="lt1"/>
                </a:solidFill>
                <a:latin typeface="Work Sans Light"/>
                <a:ea typeface="Work Sans Light"/>
                <a:cs typeface="Work Sans Light"/>
                <a:sym typeface="Work Sans Light"/>
              </a:rPr>
              <a:t>Katherin</a:t>
            </a:r>
            <a:endParaRPr sz="2400" dirty="0">
              <a:solidFill>
                <a:schemeClr val="lt1"/>
              </a:solidFill>
              <a:latin typeface="Work Sans Light"/>
              <a:ea typeface="Work Sans Light"/>
              <a:cs typeface="Work Sans Light"/>
              <a:sym typeface="Work Sans Light"/>
            </a:endParaRPr>
          </a:p>
        </p:txBody>
      </p:sp>
      <p:sp>
        <p:nvSpPr>
          <p:cNvPr id="111" name="Google Shape;111;p2"/>
          <p:cNvSpPr txBox="1"/>
          <p:nvPr/>
        </p:nvSpPr>
        <p:spPr>
          <a:xfrm>
            <a:off x="1068888" y="5279998"/>
            <a:ext cx="10054224" cy="107721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Servicio Nacional de Aprendizaje –SENA, Centro de Electricidad Electrónica y Telecomunicaciones</a:t>
            </a:r>
            <a:endParaRPr/>
          </a:p>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Tecnólogo en Análisis y Desarrollo de Software</a:t>
            </a:r>
            <a:endParaRPr/>
          </a:p>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Instructor Albeiro Ramos</a:t>
            </a:r>
            <a:endParaRPr/>
          </a:p>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Bogotá, 30 de Julio de 2025</a:t>
            </a:r>
            <a:endParaRPr sz="1600" b="1">
              <a:solidFill>
                <a:schemeClr val="lt1"/>
              </a:solidFill>
              <a:latin typeface="Work Sans Light"/>
              <a:ea typeface="Work Sans Light"/>
              <a:cs typeface="Work Sans Light"/>
              <a:sym typeface="Work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5"/>
        <p:cNvGrpSpPr/>
        <p:nvPr/>
      </p:nvGrpSpPr>
      <p:grpSpPr>
        <a:xfrm>
          <a:off x="0" y="0"/>
          <a:ext cx="0" cy="0"/>
          <a:chOff x="0" y="0"/>
          <a:chExt cx="0" cy="0"/>
        </a:xfrm>
      </p:grpSpPr>
      <p:sp>
        <p:nvSpPr>
          <p:cNvPr id="116" name="Google Shape;116;g363988e4161_0_0"/>
          <p:cNvSpPr/>
          <p:nvPr/>
        </p:nvSpPr>
        <p:spPr>
          <a:xfrm>
            <a:off x="498593" y="494977"/>
            <a:ext cx="2940000" cy="3471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g363988e4161_0_0"/>
          <p:cNvSpPr txBox="1"/>
          <p:nvPr/>
        </p:nvSpPr>
        <p:spPr>
          <a:xfrm>
            <a:off x="395799" y="191847"/>
            <a:ext cx="35148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Light"/>
              <a:buNone/>
            </a:pPr>
            <a:r>
              <a:rPr lang="es-MX" sz="3600" dirty="0">
                <a:solidFill>
                  <a:srgbClr val="38AA00"/>
                </a:solidFill>
                <a:latin typeface="Work Sans Light"/>
                <a:ea typeface="Work Sans Light"/>
                <a:cs typeface="Work Sans Light"/>
                <a:sym typeface="Work Sans Light"/>
              </a:rPr>
              <a:t>Introducción</a:t>
            </a:r>
            <a:endParaRPr dirty="0"/>
          </a:p>
        </p:txBody>
      </p:sp>
      <p:sp>
        <p:nvSpPr>
          <p:cNvPr id="118" name="Google Shape;118;g363988e4161_0_0"/>
          <p:cNvSpPr txBox="1"/>
          <p:nvPr/>
        </p:nvSpPr>
        <p:spPr>
          <a:xfrm>
            <a:off x="367149" y="819464"/>
            <a:ext cx="7292491" cy="6038536"/>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1200"/>
              </a:spcBef>
              <a:spcAft>
                <a:spcPts val="0"/>
              </a:spcAft>
              <a:buNone/>
            </a:pPr>
            <a:r>
              <a:rPr lang="es-MX" sz="1600" dirty="0" err="1">
                <a:solidFill>
                  <a:schemeClr val="dk1"/>
                </a:solidFill>
                <a:latin typeface="Work Sans Light"/>
                <a:ea typeface="Work Sans Light"/>
                <a:cs typeface="Work Sans Light"/>
                <a:sym typeface="Work Sans Light"/>
              </a:rPr>
              <a:t>Innovation</a:t>
            </a:r>
            <a:r>
              <a:rPr lang="es-MX" sz="1600" dirty="0">
                <a:solidFill>
                  <a:schemeClr val="dk1"/>
                </a:solidFill>
                <a:latin typeface="Work Sans Light"/>
                <a:ea typeface="Work Sans Light"/>
                <a:cs typeface="Work Sans Light"/>
                <a:sym typeface="Work Sans Light"/>
              </a:rPr>
              <a:t> </a:t>
            </a:r>
            <a:r>
              <a:rPr lang="es-MX" sz="1600" dirty="0" err="1">
                <a:solidFill>
                  <a:schemeClr val="dk1"/>
                </a:solidFill>
                <a:latin typeface="Work Sans Light"/>
                <a:ea typeface="Work Sans Light"/>
                <a:cs typeface="Work Sans Light"/>
                <a:sym typeface="Work Sans Light"/>
              </a:rPr>
              <a:t>Fusion</a:t>
            </a:r>
            <a:r>
              <a:rPr lang="es-MX" sz="1600" dirty="0">
                <a:solidFill>
                  <a:schemeClr val="dk1"/>
                </a:solidFill>
                <a:latin typeface="Work Sans Light"/>
                <a:ea typeface="Work Sans Light"/>
                <a:cs typeface="Work Sans Light"/>
                <a:sym typeface="Work Sans Light"/>
              </a:rPr>
              <a:t> opera en los sectores industrial y comercial, fabricando y vendiendo calzado y bolsos. Su modelo de negocio se basa en replicar las últimas tendencias de moda. Actualmente, la gestión de pedidos, compras y ventas se realiza de forma manual, lo que genera grandes desafíos para su crecimiento y competitividad en el mercado actual.</a:t>
            </a:r>
            <a:endParaRPr sz="1600" dirty="0">
              <a:solidFill>
                <a:schemeClr val="dk1"/>
              </a:solidFill>
            </a:endParaRPr>
          </a:p>
          <a:p>
            <a:pPr marL="0" marR="0" lvl="0" indent="0" algn="l" rtl="0">
              <a:lnSpc>
                <a:spcPct val="100000"/>
              </a:lnSpc>
              <a:spcBef>
                <a:spcPts val="1200"/>
              </a:spcBef>
              <a:spcAft>
                <a:spcPts val="0"/>
              </a:spcAft>
              <a:buNone/>
            </a:pPr>
            <a:r>
              <a:rPr lang="es-MX" sz="1600" b="1" dirty="0">
                <a:solidFill>
                  <a:schemeClr val="dk1"/>
                </a:solidFill>
                <a:latin typeface="Work Sans"/>
                <a:ea typeface="Work Sans"/>
                <a:cs typeface="Work Sans"/>
                <a:sym typeface="Work Sans"/>
              </a:rPr>
              <a:t>Problemática Central:</a:t>
            </a:r>
            <a:endParaRPr sz="1600" b="1" dirty="0">
              <a:solidFill>
                <a:schemeClr val="dk1"/>
              </a:solidFill>
              <a:latin typeface="Work Sans"/>
              <a:ea typeface="Work Sans"/>
              <a:cs typeface="Work Sans"/>
              <a:sym typeface="Work Sans"/>
            </a:endParaRPr>
          </a:p>
          <a:p>
            <a:pPr marL="0" lvl="0" indent="0" algn="just" rtl="0">
              <a:lnSpc>
                <a:spcPct val="115000"/>
              </a:lnSpc>
              <a:spcBef>
                <a:spcPts val="1200"/>
              </a:spcBef>
              <a:spcAft>
                <a:spcPts val="0"/>
              </a:spcAft>
              <a:buSzPts val="1100"/>
              <a:buNone/>
            </a:pPr>
            <a:r>
              <a:rPr lang="es-MX" sz="1600" dirty="0">
                <a:solidFill>
                  <a:schemeClr val="dk1"/>
                </a:solidFill>
                <a:latin typeface="Work Sans Light"/>
                <a:ea typeface="Work Sans Light"/>
                <a:cs typeface="Work Sans Light"/>
                <a:sym typeface="Work Sans Light"/>
              </a:rPr>
              <a:t>La principal dificultad de </a:t>
            </a:r>
            <a:r>
              <a:rPr lang="es-MX" sz="1600" dirty="0" err="1">
                <a:solidFill>
                  <a:schemeClr val="dk1"/>
                </a:solidFill>
                <a:latin typeface="Work Sans Light"/>
                <a:ea typeface="Work Sans Light"/>
                <a:cs typeface="Work Sans Light"/>
                <a:sym typeface="Work Sans Light"/>
              </a:rPr>
              <a:t>Innovation</a:t>
            </a:r>
            <a:r>
              <a:rPr lang="es-MX" sz="1600" dirty="0">
                <a:solidFill>
                  <a:schemeClr val="dk1"/>
                </a:solidFill>
                <a:latin typeface="Work Sans Light"/>
                <a:ea typeface="Work Sans Light"/>
                <a:cs typeface="Work Sans Light"/>
                <a:sym typeface="Work Sans Light"/>
              </a:rPr>
              <a:t> </a:t>
            </a:r>
            <a:r>
              <a:rPr lang="es-MX" sz="1600" dirty="0" err="1">
                <a:solidFill>
                  <a:schemeClr val="dk1"/>
                </a:solidFill>
                <a:latin typeface="Work Sans Light"/>
                <a:ea typeface="Work Sans Light"/>
                <a:cs typeface="Work Sans Light"/>
                <a:sym typeface="Work Sans Light"/>
              </a:rPr>
              <a:t>Fusion</a:t>
            </a:r>
            <a:r>
              <a:rPr lang="es-MX" sz="1600" dirty="0">
                <a:solidFill>
                  <a:schemeClr val="dk1"/>
                </a:solidFill>
                <a:latin typeface="Work Sans Light"/>
                <a:ea typeface="Work Sans Light"/>
                <a:cs typeface="Work Sans Light"/>
                <a:sym typeface="Work Sans Light"/>
              </a:rPr>
              <a:t> es la falta de una plataforma digital. Esto limita severamente su visibilidad y capacidad para atraer nuevos clientes, poniéndola en desventaja. El manejo manual de sus procesos operativos clave crea ineficiencias que dificultan enormemente la escalabilidad del negocio.</a:t>
            </a:r>
            <a:endParaRPr sz="1600" dirty="0">
              <a:solidFill>
                <a:schemeClr val="dk1"/>
              </a:solidFill>
              <a:latin typeface="Work Sans Light"/>
              <a:ea typeface="Work Sans Light"/>
              <a:cs typeface="Work Sans Light"/>
              <a:sym typeface="Work Sans Light"/>
            </a:endParaRPr>
          </a:p>
          <a:p>
            <a:pPr marL="0" marR="0" lvl="0" indent="0" algn="l" rtl="0">
              <a:lnSpc>
                <a:spcPct val="100000"/>
              </a:lnSpc>
              <a:spcBef>
                <a:spcPts val="1200"/>
              </a:spcBef>
              <a:spcAft>
                <a:spcPts val="0"/>
              </a:spcAft>
              <a:buNone/>
            </a:pPr>
            <a:r>
              <a:rPr lang="es-MX" sz="1600" b="1" dirty="0">
                <a:solidFill>
                  <a:schemeClr val="dk1"/>
                </a:solidFill>
                <a:latin typeface="Work Sans"/>
                <a:ea typeface="Work Sans"/>
                <a:cs typeface="Work Sans"/>
                <a:sym typeface="Work Sans"/>
              </a:rPr>
              <a:t>Objetivos del Proyecto:</a:t>
            </a:r>
            <a:endParaRPr sz="1600" b="1" dirty="0">
              <a:solidFill>
                <a:schemeClr val="dk1"/>
              </a:solidFill>
              <a:latin typeface="Work Sans"/>
              <a:ea typeface="Work Sans"/>
              <a:cs typeface="Work Sans"/>
              <a:sym typeface="Work Sans"/>
            </a:endParaRPr>
          </a:p>
          <a:p>
            <a:pPr marL="0" marR="0" lvl="0" indent="0" algn="just" rtl="0">
              <a:lnSpc>
                <a:spcPct val="115000"/>
              </a:lnSpc>
              <a:spcBef>
                <a:spcPts val="1200"/>
              </a:spcBef>
              <a:spcAft>
                <a:spcPts val="1200"/>
              </a:spcAft>
              <a:buNone/>
            </a:pPr>
            <a:r>
              <a:rPr lang="es-MX" sz="1600" dirty="0">
                <a:solidFill>
                  <a:schemeClr val="dk1"/>
                </a:solidFill>
                <a:latin typeface="Work Sans Light"/>
                <a:ea typeface="Work Sans Light"/>
                <a:cs typeface="Work Sans Light"/>
                <a:sym typeface="Work Sans Light"/>
              </a:rPr>
              <a:t>El objetivo general es desarrollar e implementar un Sistema de Información Web para </a:t>
            </a:r>
            <a:r>
              <a:rPr lang="es-MX" sz="1600" dirty="0" err="1">
                <a:solidFill>
                  <a:schemeClr val="dk1"/>
                </a:solidFill>
                <a:latin typeface="Work Sans Light"/>
                <a:ea typeface="Work Sans Light"/>
                <a:cs typeface="Work Sans Light"/>
                <a:sym typeface="Work Sans Light"/>
              </a:rPr>
              <a:t>Innovation</a:t>
            </a:r>
            <a:r>
              <a:rPr lang="es-MX" sz="1600" dirty="0">
                <a:solidFill>
                  <a:schemeClr val="dk1"/>
                </a:solidFill>
                <a:latin typeface="Work Sans Light"/>
                <a:ea typeface="Work Sans Light"/>
                <a:cs typeface="Work Sans Light"/>
                <a:sym typeface="Work Sans Light"/>
              </a:rPr>
              <a:t> </a:t>
            </a:r>
            <a:r>
              <a:rPr lang="es-MX" sz="1600" dirty="0" err="1">
                <a:solidFill>
                  <a:schemeClr val="dk1"/>
                </a:solidFill>
                <a:latin typeface="Work Sans Light"/>
                <a:ea typeface="Work Sans Light"/>
                <a:cs typeface="Work Sans Light"/>
                <a:sym typeface="Work Sans Light"/>
              </a:rPr>
              <a:t>Fusion</a:t>
            </a:r>
            <a:r>
              <a:rPr lang="es-MX" sz="1600" dirty="0">
                <a:solidFill>
                  <a:schemeClr val="dk1"/>
                </a:solidFill>
                <a:latin typeface="Work Sans Light"/>
                <a:ea typeface="Work Sans Light"/>
                <a:cs typeface="Work Sans Light"/>
                <a:sym typeface="Work Sans Light"/>
              </a:rPr>
              <a:t>. Este sistema facilitará la compra de calzado y bolsos de forma segura y eficiente. Los objetivos específicos incluyen gestionar usuarios, el catálogo de productos, el carrito de compras, los pagos, las promociones, las reseñas y la administración de descuentos.</a:t>
            </a:r>
            <a:endParaRPr sz="1600" dirty="0">
              <a:solidFill>
                <a:schemeClr val="dk1"/>
              </a:solidFill>
              <a:latin typeface="Work Sans Light"/>
              <a:ea typeface="Work Sans Light"/>
              <a:cs typeface="Work Sans Light"/>
              <a:sym typeface="Work Sans Light"/>
            </a:endParaRPr>
          </a:p>
        </p:txBody>
      </p:sp>
      <p:pic>
        <p:nvPicPr>
          <p:cNvPr id="119" name="Google Shape;119;g363988e4161_0_0"/>
          <p:cNvPicPr preferRelativeResize="0"/>
          <p:nvPr/>
        </p:nvPicPr>
        <p:blipFill>
          <a:blip r:embed="rId4">
            <a:alphaModFix/>
          </a:blip>
          <a:stretch>
            <a:fillRect/>
          </a:stretch>
        </p:blipFill>
        <p:spPr>
          <a:xfrm>
            <a:off x="7897404" y="0"/>
            <a:ext cx="4294595" cy="6858000"/>
          </a:xfrm>
          <a:prstGeom prst="rect">
            <a:avLst/>
          </a:prstGeom>
          <a:noFill/>
          <a:ln>
            <a:noFill/>
          </a:ln>
        </p:spPr>
      </p:pic>
      <p:pic>
        <p:nvPicPr>
          <p:cNvPr id="120" name="Google Shape;120;g363988e4161_0_0"/>
          <p:cNvPicPr preferRelativeResize="0"/>
          <p:nvPr/>
        </p:nvPicPr>
        <p:blipFill>
          <a:blip r:embed="rId5">
            <a:alphaModFix/>
          </a:blip>
          <a:stretch>
            <a:fillRect/>
          </a:stretch>
        </p:blipFill>
        <p:spPr>
          <a:xfrm>
            <a:off x="7912585" y="0"/>
            <a:ext cx="4264231"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4"/>
        <p:cNvGrpSpPr/>
        <p:nvPr/>
      </p:nvGrpSpPr>
      <p:grpSpPr>
        <a:xfrm>
          <a:off x="0" y="0"/>
          <a:ext cx="0" cy="0"/>
          <a:chOff x="0" y="0"/>
          <a:chExt cx="0" cy="0"/>
        </a:xfrm>
      </p:grpSpPr>
      <p:sp>
        <p:nvSpPr>
          <p:cNvPr id="125" name="Google Shape;125;g363988e4161_0_24"/>
          <p:cNvSpPr/>
          <p:nvPr/>
        </p:nvSpPr>
        <p:spPr>
          <a:xfrm>
            <a:off x="1786193" y="549352"/>
            <a:ext cx="2940000" cy="3471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g363988e4161_0_24"/>
          <p:cNvSpPr txBox="1"/>
          <p:nvPr/>
        </p:nvSpPr>
        <p:spPr>
          <a:xfrm>
            <a:off x="1786195" y="219949"/>
            <a:ext cx="35148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Light"/>
              <a:buNone/>
            </a:pPr>
            <a:r>
              <a:rPr lang="es-MX" sz="3600">
                <a:solidFill>
                  <a:srgbClr val="38AA00"/>
                </a:solidFill>
                <a:latin typeface="Work Sans Light"/>
                <a:ea typeface="Work Sans Light"/>
                <a:cs typeface="Work Sans Light"/>
                <a:sym typeface="Work Sans Light"/>
              </a:rPr>
              <a:t>Introducción</a:t>
            </a:r>
            <a:endParaRPr/>
          </a:p>
        </p:txBody>
      </p:sp>
      <p:sp>
        <p:nvSpPr>
          <p:cNvPr id="127" name="Google Shape;127;g363988e4161_0_24"/>
          <p:cNvSpPr txBox="1"/>
          <p:nvPr/>
        </p:nvSpPr>
        <p:spPr>
          <a:xfrm>
            <a:off x="1786200" y="896450"/>
            <a:ext cx="8619600" cy="56574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1200"/>
              </a:spcBef>
              <a:spcAft>
                <a:spcPts val="0"/>
              </a:spcAft>
              <a:buNone/>
            </a:pPr>
            <a:r>
              <a:rPr lang="es-MX" sz="1600" b="1" dirty="0">
                <a:solidFill>
                  <a:schemeClr val="dk1"/>
                </a:solidFill>
                <a:latin typeface="Work Sans"/>
                <a:ea typeface="Work Sans"/>
                <a:cs typeface="Work Sans"/>
                <a:sym typeface="Work Sans"/>
              </a:rPr>
              <a:t>Justificación del Proyecto</a:t>
            </a:r>
            <a:endParaRPr sz="1600" b="1" dirty="0">
              <a:solidFill>
                <a:schemeClr val="dk1"/>
              </a:solidFill>
              <a:latin typeface="Work Sans"/>
              <a:ea typeface="Work Sans"/>
              <a:cs typeface="Work Sans"/>
              <a:sym typeface="Work Sans"/>
            </a:endParaRPr>
          </a:p>
          <a:p>
            <a:pPr marL="0" marR="0" lvl="0" indent="0" algn="just" rtl="0">
              <a:lnSpc>
                <a:spcPct val="115000"/>
              </a:lnSpc>
              <a:spcBef>
                <a:spcPts val="1200"/>
              </a:spcBef>
              <a:spcAft>
                <a:spcPts val="0"/>
              </a:spcAft>
              <a:buNone/>
            </a:pPr>
            <a:r>
              <a:rPr lang="es-MX" sz="1600" dirty="0">
                <a:solidFill>
                  <a:schemeClr val="dk1"/>
                </a:solidFill>
                <a:latin typeface="Work Sans Light"/>
                <a:ea typeface="Work Sans Light"/>
                <a:cs typeface="Work Sans Light"/>
                <a:sym typeface="Work Sans Light"/>
              </a:rPr>
              <a:t>Este proyecto es crucial porque </a:t>
            </a:r>
            <a:r>
              <a:rPr lang="es-MX" sz="1600" dirty="0" err="1">
                <a:solidFill>
                  <a:schemeClr val="dk1"/>
                </a:solidFill>
                <a:latin typeface="Work Sans Light"/>
                <a:ea typeface="Work Sans Light"/>
                <a:cs typeface="Work Sans Light"/>
                <a:sym typeface="Work Sans Light"/>
              </a:rPr>
              <a:t>Innovation</a:t>
            </a:r>
            <a:r>
              <a:rPr lang="es-MX" sz="1600" dirty="0">
                <a:solidFill>
                  <a:schemeClr val="dk1"/>
                </a:solidFill>
                <a:latin typeface="Work Sans Light"/>
                <a:ea typeface="Work Sans Light"/>
                <a:cs typeface="Work Sans Light"/>
                <a:sym typeface="Work Sans Light"/>
              </a:rPr>
              <a:t> </a:t>
            </a:r>
            <a:r>
              <a:rPr lang="es-MX" sz="1600" dirty="0" err="1">
                <a:solidFill>
                  <a:schemeClr val="dk1"/>
                </a:solidFill>
                <a:latin typeface="Work Sans Light"/>
                <a:ea typeface="Work Sans Light"/>
                <a:cs typeface="Work Sans Light"/>
                <a:sym typeface="Work Sans Light"/>
              </a:rPr>
              <a:t>Fusion</a:t>
            </a:r>
            <a:r>
              <a:rPr lang="es-MX" sz="1600" dirty="0">
                <a:solidFill>
                  <a:schemeClr val="dk1"/>
                </a:solidFill>
                <a:latin typeface="Work Sans Light"/>
                <a:ea typeface="Work Sans Light"/>
                <a:cs typeface="Work Sans Light"/>
                <a:sym typeface="Work Sans Light"/>
              </a:rPr>
              <a:t> necesita modernizarse y digitalizar sus operaciones. Esto aumentará su visibilidad en el mercado, mejorará la eficiencia de sus procesos manuales y ofrecerá una experiencia de compra superior y moderna. La digitalización es esencial para su crecimiento y competitividad.</a:t>
            </a:r>
            <a:endParaRPr sz="1600" dirty="0">
              <a:solidFill>
                <a:schemeClr val="dk1"/>
              </a:solidFill>
              <a:latin typeface="Work Sans Light"/>
              <a:ea typeface="Work Sans Light"/>
              <a:cs typeface="Work Sans Light"/>
              <a:sym typeface="Work Sans Light"/>
            </a:endParaRPr>
          </a:p>
          <a:p>
            <a:pPr marL="0" marR="0" lvl="0" indent="0" algn="l" rtl="0">
              <a:lnSpc>
                <a:spcPct val="115000"/>
              </a:lnSpc>
              <a:spcBef>
                <a:spcPts val="1200"/>
              </a:spcBef>
              <a:spcAft>
                <a:spcPts val="0"/>
              </a:spcAft>
              <a:buNone/>
            </a:pPr>
            <a:r>
              <a:rPr lang="es-MX" sz="1600" b="1" dirty="0">
                <a:solidFill>
                  <a:schemeClr val="dk1"/>
                </a:solidFill>
                <a:latin typeface="Work Sans"/>
                <a:ea typeface="Work Sans"/>
                <a:cs typeface="Work Sans"/>
                <a:sym typeface="Work Sans"/>
              </a:rPr>
              <a:t>Alcance del Proyecto</a:t>
            </a:r>
            <a:endParaRPr sz="1600" b="1" dirty="0">
              <a:solidFill>
                <a:schemeClr val="dk1"/>
              </a:solidFill>
              <a:latin typeface="Work Sans"/>
              <a:ea typeface="Work Sans"/>
              <a:cs typeface="Work Sans"/>
              <a:sym typeface="Work Sans"/>
            </a:endParaRPr>
          </a:p>
          <a:p>
            <a:pPr marL="0" marR="0" lvl="0" indent="0" algn="just" rtl="0">
              <a:lnSpc>
                <a:spcPct val="115000"/>
              </a:lnSpc>
              <a:spcBef>
                <a:spcPts val="1200"/>
              </a:spcBef>
              <a:spcAft>
                <a:spcPts val="0"/>
              </a:spcAft>
              <a:buNone/>
            </a:pPr>
            <a:r>
              <a:rPr lang="es-MX" sz="1600" dirty="0">
                <a:solidFill>
                  <a:schemeClr val="dk1"/>
                </a:solidFill>
                <a:latin typeface="Work Sans Light"/>
                <a:ea typeface="Work Sans Light"/>
                <a:cs typeface="Work Sans Light"/>
                <a:sym typeface="Work Sans Light"/>
              </a:rPr>
              <a:t>El sistema abarcará el desarrollo de una aplicación web integral. Incluirá funcionalidades de comercio electrónico y administración completa de usuarios (clientes y administradores). Un proceso de compra automatizado, administración de inventario, implementación de promociones y generación de reportes para análisis de datos.</a:t>
            </a:r>
            <a:endParaRPr sz="1600" dirty="0">
              <a:solidFill>
                <a:schemeClr val="dk1"/>
              </a:solidFill>
              <a:latin typeface="Work Sans Light"/>
              <a:ea typeface="Work Sans Light"/>
              <a:cs typeface="Work Sans Light"/>
              <a:sym typeface="Work Sans Light"/>
            </a:endParaRPr>
          </a:p>
          <a:p>
            <a:pPr marL="0" marR="0" lvl="0" indent="0" algn="l" rtl="0">
              <a:lnSpc>
                <a:spcPct val="115000"/>
              </a:lnSpc>
              <a:spcBef>
                <a:spcPts val="1200"/>
              </a:spcBef>
              <a:spcAft>
                <a:spcPts val="0"/>
              </a:spcAft>
              <a:buNone/>
            </a:pPr>
            <a:r>
              <a:rPr lang="es-MX" sz="1700" b="1" dirty="0">
                <a:solidFill>
                  <a:schemeClr val="dk1"/>
                </a:solidFill>
              </a:rPr>
              <a:t> </a:t>
            </a:r>
            <a:r>
              <a:rPr lang="es-MX" sz="1600" b="1" dirty="0">
                <a:solidFill>
                  <a:schemeClr val="dk1"/>
                </a:solidFill>
                <a:latin typeface="Work Sans"/>
                <a:ea typeface="Work Sans"/>
                <a:cs typeface="Work Sans"/>
                <a:sym typeface="Work Sans"/>
              </a:rPr>
              <a:t>Delimitación del Proyecto</a:t>
            </a:r>
            <a:endParaRPr sz="1600" b="1" dirty="0">
              <a:solidFill>
                <a:schemeClr val="dk1"/>
              </a:solidFill>
              <a:latin typeface="Work Sans"/>
              <a:ea typeface="Work Sans"/>
              <a:cs typeface="Work Sans"/>
              <a:sym typeface="Work Sans"/>
            </a:endParaRPr>
          </a:p>
          <a:p>
            <a:pPr marL="0" marR="0" lvl="0" indent="0" algn="just" rtl="0">
              <a:lnSpc>
                <a:spcPct val="115000"/>
              </a:lnSpc>
              <a:spcBef>
                <a:spcPts val="1200"/>
              </a:spcBef>
              <a:spcAft>
                <a:spcPts val="1200"/>
              </a:spcAft>
              <a:buNone/>
            </a:pPr>
            <a:r>
              <a:rPr lang="es-MX" sz="1600" dirty="0">
                <a:solidFill>
                  <a:schemeClr val="dk1"/>
                </a:solidFill>
                <a:latin typeface="Work Sans Light"/>
                <a:ea typeface="Work Sans Light"/>
                <a:cs typeface="Work Sans Light"/>
                <a:sym typeface="Work Sans Light"/>
              </a:rPr>
              <a:t>El sistema se centrará en la interfaz web para la interacción con clientes y la gestión administrativa de ventas e inventario. No automatizará procesos físicos de manufactura (corte, cosido, pegado) ni la subcontratación de modelaje. La logística de envíos y devoluciones se gestionará a nivel de sistema, pero la operación física seguirá a cargo de terceros.</a:t>
            </a:r>
            <a:endParaRPr sz="1600" dirty="0">
              <a:solidFill>
                <a:schemeClr val="dk1"/>
              </a:solidFill>
              <a:latin typeface="Work Sans Light"/>
              <a:ea typeface="Work Sans Light"/>
              <a:cs typeface="Work Sans Light"/>
              <a:sym typeface="Work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1"/>
        <p:cNvGrpSpPr/>
        <p:nvPr/>
      </p:nvGrpSpPr>
      <p:grpSpPr>
        <a:xfrm>
          <a:off x="0" y="0"/>
          <a:ext cx="0" cy="0"/>
          <a:chOff x="0" y="0"/>
          <a:chExt cx="0" cy="0"/>
        </a:xfrm>
      </p:grpSpPr>
      <p:sp>
        <p:nvSpPr>
          <p:cNvPr id="132" name="Google Shape;132;p4"/>
          <p:cNvSpPr txBox="1"/>
          <p:nvPr/>
        </p:nvSpPr>
        <p:spPr>
          <a:xfrm>
            <a:off x="456236" y="416689"/>
            <a:ext cx="10515600" cy="741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4400"/>
              <a:buFont typeface="Work Sans Medium"/>
              <a:buNone/>
            </a:pPr>
            <a:r>
              <a:rPr lang="es-MX" sz="4400">
                <a:solidFill>
                  <a:schemeClr val="lt1"/>
                </a:solidFill>
                <a:latin typeface="Work Sans Medium"/>
                <a:ea typeface="Work Sans Medium"/>
                <a:cs typeface="Work Sans Medium"/>
                <a:sym typeface="Work Sans Medium"/>
              </a:rPr>
              <a:t>Nombre del Proyecto</a:t>
            </a:r>
            <a:endParaRPr/>
          </a:p>
        </p:txBody>
      </p:sp>
      <p:sp>
        <p:nvSpPr>
          <p:cNvPr id="133" name="Google Shape;133;p4"/>
          <p:cNvSpPr txBox="1"/>
          <p:nvPr/>
        </p:nvSpPr>
        <p:spPr>
          <a:xfrm>
            <a:off x="6653014" y="2489547"/>
            <a:ext cx="4547400" cy="3540300"/>
          </a:xfrm>
          <a:prstGeom prst="rect">
            <a:avLst/>
          </a:prstGeom>
          <a:noFill/>
          <a:ln>
            <a:noFill/>
          </a:ln>
        </p:spPr>
        <p:txBody>
          <a:bodyPr spcFirstLastPara="1" wrap="square" lIns="91425" tIns="45700" rIns="91425" bIns="45700" anchor="t" anchorCtr="0">
            <a:spAutoFit/>
          </a:bodyPr>
          <a:lstStyle/>
          <a:p>
            <a:pPr marL="457200" marR="0" lvl="0" indent="-431800" algn="l" rtl="0">
              <a:spcBef>
                <a:spcPts val="0"/>
              </a:spcBef>
              <a:spcAft>
                <a:spcPts val="0"/>
              </a:spcAft>
              <a:buClr>
                <a:schemeClr val="dk1"/>
              </a:buClr>
              <a:buSzPts val="3200"/>
              <a:buFont typeface="Work Sans Light"/>
              <a:buAutoNum type="arabicPeriod"/>
            </a:pPr>
            <a:r>
              <a:rPr lang="es-MX" sz="3200" b="1">
                <a:solidFill>
                  <a:schemeClr val="dk1"/>
                </a:solidFill>
                <a:latin typeface="Work Sans Light"/>
                <a:ea typeface="Work Sans Light"/>
                <a:cs typeface="Work Sans Light"/>
                <a:sym typeface="Work Sans Light"/>
              </a:rPr>
              <a:t>Problema</a:t>
            </a:r>
            <a:endParaRPr/>
          </a:p>
          <a:p>
            <a:pPr marL="457200" marR="0" lvl="0" indent="-431800" algn="l" rtl="0">
              <a:spcBef>
                <a:spcPts val="0"/>
              </a:spcBef>
              <a:spcAft>
                <a:spcPts val="0"/>
              </a:spcAft>
              <a:buClr>
                <a:schemeClr val="dk1"/>
              </a:buClr>
              <a:buSzPts val="3200"/>
              <a:buFont typeface="Work Sans Light"/>
              <a:buAutoNum type="arabicPeriod"/>
            </a:pPr>
            <a:r>
              <a:rPr lang="es-MX" sz="3200" b="1">
                <a:solidFill>
                  <a:schemeClr val="dk1"/>
                </a:solidFill>
                <a:latin typeface="Work Sans Light"/>
                <a:ea typeface="Work Sans Light"/>
                <a:cs typeface="Work Sans Light"/>
                <a:sym typeface="Work Sans Light"/>
              </a:rPr>
              <a:t>Objetivos</a:t>
            </a:r>
            <a:endParaRPr/>
          </a:p>
          <a:p>
            <a:pPr marL="457200" marR="0" lvl="0" indent="-431800" algn="l" rtl="0">
              <a:spcBef>
                <a:spcPts val="0"/>
              </a:spcBef>
              <a:spcAft>
                <a:spcPts val="0"/>
              </a:spcAft>
              <a:buClr>
                <a:schemeClr val="dk1"/>
              </a:buClr>
              <a:buSzPts val="3200"/>
              <a:buFont typeface="Work Sans Light"/>
              <a:buAutoNum type="arabicPeriod"/>
            </a:pPr>
            <a:r>
              <a:rPr lang="es-MX" sz="3200" b="1">
                <a:solidFill>
                  <a:schemeClr val="dk1"/>
                </a:solidFill>
                <a:latin typeface="Work Sans Light"/>
                <a:ea typeface="Work Sans Light"/>
                <a:cs typeface="Work Sans Light"/>
                <a:sym typeface="Work Sans Light"/>
              </a:rPr>
              <a:t>Justificación</a:t>
            </a:r>
            <a:endParaRPr/>
          </a:p>
          <a:p>
            <a:pPr marL="457200" marR="0" lvl="0" indent="-431800" algn="l" rtl="0">
              <a:spcBef>
                <a:spcPts val="0"/>
              </a:spcBef>
              <a:spcAft>
                <a:spcPts val="0"/>
              </a:spcAft>
              <a:buClr>
                <a:schemeClr val="dk1"/>
              </a:buClr>
              <a:buSzPts val="3200"/>
              <a:buFont typeface="Work Sans Light"/>
              <a:buAutoNum type="arabicPeriod"/>
            </a:pPr>
            <a:r>
              <a:rPr lang="es-MX" sz="3200" b="1">
                <a:solidFill>
                  <a:schemeClr val="dk1"/>
                </a:solidFill>
                <a:latin typeface="Work Sans Light"/>
                <a:ea typeface="Work Sans Light"/>
                <a:cs typeface="Work Sans Light"/>
                <a:sym typeface="Work Sans Light"/>
              </a:rPr>
              <a:t>Alcance</a:t>
            </a:r>
            <a:endParaRPr/>
          </a:p>
          <a:p>
            <a:pPr marL="457200" marR="0" lvl="0" indent="-431800" algn="l" rtl="0">
              <a:spcBef>
                <a:spcPts val="0"/>
              </a:spcBef>
              <a:spcAft>
                <a:spcPts val="0"/>
              </a:spcAft>
              <a:buClr>
                <a:schemeClr val="dk1"/>
              </a:buClr>
              <a:buSzPts val="3200"/>
              <a:buFont typeface="Work Sans Light"/>
              <a:buAutoNum type="arabicPeriod"/>
            </a:pPr>
            <a:r>
              <a:rPr lang="es-MX" sz="3200" b="1">
                <a:solidFill>
                  <a:schemeClr val="dk1"/>
                </a:solidFill>
                <a:latin typeface="Work Sans Light"/>
                <a:ea typeface="Work Sans Light"/>
                <a:cs typeface="Work Sans Light"/>
                <a:sym typeface="Work Sans Light"/>
              </a:rPr>
              <a:t>Delimitación</a:t>
            </a:r>
            <a:endParaRPr/>
          </a:p>
          <a:p>
            <a:pPr marL="457200" marR="0" lvl="0" indent="-431800" algn="l" rtl="0">
              <a:spcBef>
                <a:spcPts val="0"/>
              </a:spcBef>
              <a:spcAft>
                <a:spcPts val="0"/>
              </a:spcAft>
              <a:buClr>
                <a:schemeClr val="dk1"/>
              </a:buClr>
              <a:buSzPts val="3200"/>
              <a:buFont typeface="Work Sans Light"/>
              <a:buAutoNum type="arabicPeriod"/>
            </a:pPr>
            <a:r>
              <a:rPr lang="es-MX" sz="3200" b="1">
                <a:solidFill>
                  <a:schemeClr val="dk1"/>
                </a:solidFill>
                <a:latin typeface="Work Sans Light"/>
                <a:ea typeface="Work Sans Light"/>
                <a:cs typeface="Work Sans Light"/>
                <a:sym typeface="Work Sans Light"/>
              </a:rPr>
              <a:t>Entregables Trimestre</a:t>
            </a:r>
            <a:endParaRPr/>
          </a:p>
        </p:txBody>
      </p:sp>
      <p:pic>
        <p:nvPicPr>
          <p:cNvPr id="134" name="Google Shape;134;p4"/>
          <p:cNvPicPr preferRelativeResize="0"/>
          <p:nvPr/>
        </p:nvPicPr>
        <p:blipFill>
          <a:blip r:embed="rId4">
            <a:alphaModFix/>
          </a:blip>
          <a:stretch>
            <a:fillRect/>
          </a:stretch>
        </p:blipFill>
        <p:spPr>
          <a:xfrm>
            <a:off x="3573672" y="2820965"/>
            <a:ext cx="2251475" cy="2168075"/>
          </a:xfrm>
          <a:prstGeom prst="rect">
            <a:avLst/>
          </a:prstGeom>
          <a:noFill/>
          <a:ln>
            <a:noFill/>
          </a:ln>
        </p:spPr>
      </p:pic>
      <p:pic>
        <p:nvPicPr>
          <p:cNvPr id="2" name="Imagen 1">
            <a:extLst>
              <a:ext uri="{FF2B5EF4-FFF2-40B4-BE49-F238E27FC236}">
                <a16:creationId xmlns:a16="http://schemas.microsoft.com/office/drawing/2014/main" id="{7B5FBCF8-7ED3-B2CC-C930-7371119F4BA7}"/>
              </a:ext>
            </a:extLst>
          </p:cNvPr>
          <p:cNvPicPr>
            <a:picLocks noChangeAspect="1"/>
          </p:cNvPicPr>
          <p:nvPr/>
        </p:nvPicPr>
        <p:blipFill>
          <a:blip r:embed="rId5"/>
          <a:stretch>
            <a:fillRect/>
          </a:stretch>
        </p:blipFill>
        <p:spPr>
          <a:xfrm>
            <a:off x="713805" y="2682035"/>
            <a:ext cx="2445934" cy="244593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36393dac501_0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Problema</a:t>
            </a:r>
            <a:endParaRPr/>
          </a:p>
        </p:txBody>
      </p:sp>
      <p:sp>
        <p:nvSpPr>
          <p:cNvPr id="141" name="Google Shape;141;g36393dac501_0_0"/>
          <p:cNvSpPr txBox="1"/>
          <p:nvPr/>
        </p:nvSpPr>
        <p:spPr>
          <a:xfrm>
            <a:off x="372353" y="1667521"/>
            <a:ext cx="11447400" cy="50167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dirty="0" err="1">
                <a:solidFill>
                  <a:schemeClr val="dk1"/>
                </a:solidFill>
                <a:latin typeface="Work Sans Light"/>
                <a:ea typeface="Work Sans Light"/>
                <a:cs typeface="Work Sans Light"/>
                <a:sym typeface="Work Sans Light"/>
              </a:rPr>
              <a:t>Innovation</a:t>
            </a:r>
            <a:r>
              <a:rPr lang="es-MX" sz="1600" dirty="0">
                <a:solidFill>
                  <a:schemeClr val="dk1"/>
                </a:solidFill>
                <a:latin typeface="Work Sans Light"/>
                <a:ea typeface="Work Sans Light"/>
                <a:cs typeface="Work Sans Light"/>
                <a:sym typeface="Work Sans Light"/>
              </a:rPr>
              <a:t> </a:t>
            </a:r>
            <a:r>
              <a:rPr lang="es-MX" sz="1600" dirty="0" err="1">
                <a:solidFill>
                  <a:schemeClr val="dk1"/>
                </a:solidFill>
                <a:latin typeface="Work Sans Light"/>
                <a:ea typeface="Work Sans Light"/>
                <a:cs typeface="Work Sans Light"/>
                <a:sym typeface="Work Sans Light"/>
              </a:rPr>
              <a:t>Fusion</a:t>
            </a:r>
            <a:r>
              <a:rPr lang="es-MX" sz="1600" dirty="0">
                <a:solidFill>
                  <a:schemeClr val="dk1"/>
                </a:solidFill>
                <a:latin typeface="Work Sans Light"/>
                <a:ea typeface="Work Sans Light"/>
                <a:cs typeface="Work Sans Light"/>
                <a:sym typeface="Work Sans Light"/>
              </a:rPr>
              <a:t> es una empresa ubicada en Bogotá dedicada a la fabricación y venta de calzado y bolsos. Su modelo de negocio se basa en el proceso de la manufactura de los insumos, el proceso de la comercialización del producto, y el proceso de la facturación manual</a:t>
            </a: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Clr>
                <a:schemeClr val="dk1"/>
              </a:buClr>
              <a:buSzPts val="1600"/>
              <a:buFont typeface="Arial"/>
              <a:buNone/>
            </a:pPr>
            <a:r>
              <a:rPr lang="es-MX" sz="1600" dirty="0">
                <a:solidFill>
                  <a:schemeClr val="dk1"/>
                </a:solidFill>
                <a:latin typeface="Work Sans Light"/>
                <a:ea typeface="Work Sans Light"/>
                <a:cs typeface="Work Sans Light"/>
                <a:sym typeface="Work Sans Light"/>
              </a:rPr>
              <a:t>Se utilizaron técnicas de recolección de datos como lo fueron: la encuesta, la entrevista, el análisis de la competencia. En la encuesta se enfocó a posibles clientes de la empresa(</a:t>
            </a:r>
            <a:r>
              <a:rPr lang="es-MX" sz="1600" u="sng" dirty="0">
                <a:solidFill>
                  <a:schemeClr val="hlink"/>
                </a:solidFill>
                <a:latin typeface="Work Sans"/>
                <a:ea typeface="Work Sans"/>
                <a:cs typeface="Work Sans"/>
                <a:sym typeface="Work Sans"/>
                <a:hlinkClick r:id="rId3"/>
              </a:rPr>
              <a:t>link verla encuesta</a:t>
            </a:r>
            <a:r>
              <a:rPr lang="es-MX" sz="1600" dirty="0">
                <a:solidFill>
                  <a:schemeClr val="dk1"/>
                </a:solidFill>
                <a:latin typeface="Work Sans Light"/>
                <a:ea typeface="Work Sans Light"/>
                <a:cs typeface="Work Sans Light"/>
                <a:sym typeface="Work Sans Light"/>
              </a:rPr>
              <a:t>), se realizó una entrevista, donde se enfocó al gerente de la empresa (</a:t>
            </a:r>
            <a:r>
              <a:rPr lang="es-MX" sz="1600" u="sng" dirty="0">
                <a:solidFill>
                  <a:schemeClr val="hlink"/>
                </a:solidFill>
                <a:latin typeface="Work Sans Light"/>
                <a:ea typeface="Work Sans Light"/>
                <a:cs typeface="Work Sans Light"/>
                <a:sym typeface="Work Sans Light"/>
                <a:hlinkClick r:id="rId4"/>
              </a:rPr>
              <a:t>link de la entrevista</a:t>
            </a:r>
            <a:r>
              <a:rPr lang="es-MX" sz="1600" dirty="0">
                <a:solidFill>
                  <a:schemeClr val="dk1"/>
                </a:solidFill>
                <a:latin typeface="Work Sans Light"/>
                <a:ea typeface="Work Sans Light"/>
                <a:cs typeface="Work Sans Light"/>
                <a:sym typeface="Work Sans Light"/>
              </a:rPr>
              <a:t>)y un análisis de la competencia (</a:t>
            </a:r>
            <a:r>
              <a:rPr lang="es-MX" sz="1600" u="sng" dirty="0">
                <a:solidFill>
                  <a:schemeClr val="hlink"/>
                </a:solidFill>
                <a:latin typeface="Work Sans Light"/>
                <a:ea typeface="Work Sans Light"/>
                <a:cs typeface="Work Sans Light"/>
                <a:sym typeface="Work Sans Light"/>
                <a:hlinkClick r:id="rId5"/>
              </a:rPr>
              <a:t>link de competencia</a:t>
            </a:r>
            <a:r>
              <a:rPr lang="es-MX" sz="1600" dirty="0">
                <a:solidFill>
                  <a:schemeClr val="dk1"/>
                </a:solidFill>
                <a:latin typeface="Work Sans Light"/>
                <a:ea typeface="Work Sans Light"/>
                <a:cs typeface="Work Sans Light"/>
                <a:sym typeface="Work Sans Light"/>
              </a:rPr>
              <a:t>).Se realizaron las conclusiones con: (</a:t>
            </a:r>
            <a:r>
              <a:rPr lang="es-MX" sz="1600" u="sng" dirty="0">
                <a:solidFill>
                  <a:schemeClr val="hlink"/>
                </a:solidFill>
                <a:latin typeface="Work Sans Light"/>
                <a:ea typeface="Work Sans Light"/>
                <a:cs typeface="Work Sans Light"/>
                <a:sym typeface="Work Sans Light"/>
                <a:hlinkClick r:id="rId6"/>
              </a:rPr>
              <a:t>link de los resultados</a:t>
            </a:r>
            <a:r>
              <a:rPr lang="es-MX" sz="1600" dirty="0">
                <a:solidFill>
                  <a:schemeClr val="dk1"/>
                </a:solidFill>
                <a:latin typeface="Work Sans Light"/>
                <a:ea typeface="Work Sans Light"/>
                <a:cs typeface="Work Sans Light"/>
                <a:sym typeface="Work Sans Light"/>
              </a:rPr>
              <a:t>):</a:t>
            </a:r>
            <a:endParaRPr sz="1600" dirty="0">
              <a:solidFill>
                <a:schemeClr val="dk1"/>
              </a:solidFill>
              <a:latin typeface="Work Sans Light"/>
              <a:ea typeface="Work Sans Light"/>
              <a:cs typeface="Work Sans Light"/>
              <a:sym typeface="Work Sans Light"/>
            </a:endParaRPr>
          </a:p>
          <a:p>
            <a:pPr marL="0" marR="0" lvl="0" indent="0" algn="l" rtl="0">
              <a:lnSpc>
                <a:spcPct val="100000"/>
              </a:lnSpc>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lvl="0" indent="0" algn="l" rtl="0">
              <a:spcBef>
                <a:spcPts val="0"/>
              </a:spcBef>
              <a:spcAft>
                <a:spcPts val="0"/>
              </a:spcAft>
              <a:buClr>
                <a:schemeClr val="dk1"/>
              </a:buClr>
              <a:buSzPts val="1100"/>
              <a:buFont typeface="Arial"/>
              <a:buNone/>
            </a:pPr>
            <a:r>
              <a:rPr lang="es-MX" sz="1600" dirty="0">
                <a:solidFill>
                  <a:schemeClr val="dk1"/>
                </a:solidFill>
                <a:latin typeface="Work Sans Light"/>
                <a:ea typeface="Work Sans Light"/>
                <a:cs typeface="Work Sans Light"/>
                <a:sym typeface="Work Sans Light"/>
              </a:rPr>
              <a:t>Teniendo en cuenta la recolección de información y los procesos de la empresa, las necesidades encontradas es el alcance de clientes y la automatización de las facturación </a:t>
            </a:r>
            <a:endParaRPr sz="1600" dirty="0">
              <a:solidFill>
                <a:schemeClr val="dk1"/>
              </a:solidFill>
              <a:latin typeface="Work Sans Light"/>
              <a:ea typeface="Work Sans Light"/>
              <a:cs typeface="Work Sans Light"/>
              <a:sym typeface="Work Sans Light"/>
            </a:endParaRPr>
          </a:p>
          <a:p>
            <a:pPr marL="0" lvl="0" indent="0" algn="l" rtl="0">
              <a:spcBef>
                <a:spcPts val="0"/>
              </a:spcBef>
              <a:spcAft>
                <a:spcPts val="0"/>
              </a:spcAft>
              <a:buClr>
                <a:schemeClr val="dk1"/>
              </a:buClr>
              <a:buSzPts val="1100"/>
              <a:buFont typeface="Arial"/>
              <a:buNone/>
            </a:pPr>
            <a:endParaRPr sz="1600" dirty="0">
              <a:solidFill>
                <a:schemeClr val="dk1"/>
              </a:solidFill>
              <a:latin typeface="Work Sans Light"/>
              <a:ea typeface="Work Sans Light"/>
              <a:cs typeface="Work Sans Light"/>
              <a:sym typeface="Work Sans Light"/>
            </a:endParaRPr>
          </a:p>
          <a:p>
            <a:pPr marL="0" lvl="0" indent="0" algn="l" rtl="0">
              <a:spcBef>
                <a:spcPts val="0"/>
              </a:spcBef>
              <a:spcAft>
                <a:spcPts val="0"/>
              </a:spcAft>
              <a:buClr>
                <a:schemeClr val="dk1"/>
              </a:buClr>
              <a:buSzPts val="1100"/>
              <a:buFont typeface="Arial"/>
              <a:buNone/>
            </a:pPr>
            <a:r>
              <a:rPr lang="es-MX" sz="1600" dirty="0">
                <a:solidFill>
                  <a:schemeClr val="dk1"/>
                </a:solidFill>
                <a:latin typeface="Work Sans Light"/>
                <a:ea typeface="Work Sans Light"/>
                <a:cs typeface="Work Sans Light"/>
                <a:sym typeface="Work Sans Light"/>
              </a:rPr>
              <a:t>proceso:</a:t>
            </a:r>
          </a:p>
          <a:p>
            <a:pPr marL="0" lvl="0" indent="0" algn="l" rtl="0">
              <a:spcBef>
                <a:spcPts val="0"/>
              </a:spcBef>
              <a:spcAft>
                <a:spcPts val="0"/>
              </a:spcAft>
              <a:buClr>
                <a:schemeClr val="dk1"/>
              </a:buClr>
              <a:buSzPts val="1100"/>
              <a:buFont typeface="Arial"/>
              <a:buNone/>
            </a:pPr>
            <a:endParaRPr sz="1600" dirty="0">
              <a:solidFill>
                <a:schemeClr val="dk1"/>
              </a:solidFill>
              <a:latin typeface="Work Sans Light"/>
              <a:ea typeface="Work Sans Light"/>
              <a:cs typeface="Work Sans Light"/>
              <a:sym typeface="Work Sans Light"/>
            </a:endParaRPr>
          </a:p>
          <a:p>
            <a:pPr marL="457200" marR="0" lvl="0" indent="-330200" algn="l" rtl="0">
              <a:spcBef>
                <a:spcPts val="0"/>
              </a:spcBef>
              <a:spcAft>
                <a:spcPts val="0"/>
              </a:spcAft>
              <a:buClr>
                <a:schemeClr val="dk1"/>
              </a:buClr>
              <a:buSzPts val="1600"/>
              <a:buFont typeface="Work Sans Light"/>
              <a:buChar char="●"/>
            </a:pPr>
            <a:r>
              <a:rPr lang="es-MX" sz="1600" dirty="0">
                <a:solidFill>
                  <a:schemeClr val="dk1"/>
                </a:solidFill>
                <a:latin typeface="Work Sans Light"/>
                <a:ea typeface="Work Sans Light"/>
                <a:cs typeface="Work Sans Light"/>
                <a:sym typeface="Work Sans Light"/>
              </a:rPr>
              <a:t>El procesos venta e inventario: el proceso del inventario consiste en registrar en un cuaderno en donde se registran los pedidos por clientes, en el cual se detallan: estilos, colores, tallas.</a:t>
            </a:r>
            <a:endParaRPr sz="1600" dirty="0">
              <a:solidFill>
                <a:schemeClr val="dk1"/>
              </a:solidFill>
              <a:latin typeface="Work Sans Light"/>
              <a:ea typeface="Work Sans Light"/>
              <a:cs typeface="Work Sans Light"/>
              <a:sym typeface="Work Sans Light"/>
            </a:endParaRPr>
          </a:p>
          <a:p>
            <a:pPr marL="457200" marR="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En el proceso de venta, se registra en un cuaderno de facturas, el total de la venta y el saldo pendiente, con el fin de saber los gastos de insumo y el saldo queda a favor. De esta manera, se concluye que es necesaria una optimización de los procesos de inventario y venta.</a:t>
            </a: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Clr>
                <a:schemeClr val="dk1"/>
              </a:buClr>
              <a:buSzPts val="1600"/>
              <a:buFont typeface="Arial"/>
              <a:buNone/>
            </a:pPr>
            <a:endParaRPr sz="1600" dirty="0">
              <a:solidFill>
                <a:schemeClr val="dk1"/>
              </a:solidFill>
              <a:latin typeface="Work Sans Light"/>
              <a:ea typeface="Work Sans Light"/>
              <a:cs typeface="Work Sans Light"/>
              <a:sym typeface="Work Sans Light"/>
            </a:endParaRPr>
          </a:p>
        </p:txBody>
      </p:sp>
      <p:pic>
        <p:nvPicPr>
          <p:cNvPr id="142" name="Google Shape;142;g36393dac501_0_0"/>
          <p:cNvPicPr preferRelativeResize="0"/>
          <p:nvPr/>
        </p:nvPicPr>
        <p:blipFill>
          <a:blip r:embed="rId7">
            <a:alphaModFix/>
          </a:blip>
          <a:stretch>
            <a:fillRect/>
          </a:stretch>
        </p:blipFill>
        <p:spPr>
          <a:xfrm>
            <a:off x="9846091" y="351912"/>
            <a:ext cx="875109" cy="842700"/>
          </a:xfrm>
          <a:prstGeom prst="rect">
            <a:avLst/>
          </a:prstGeom>
          <a:noFill/>
          <a:ln>
            <a:noFill/>
          </a:ln>
        </p:spPr>
      </p:pic>
      <p:pic>
        <p:nvPicPr>
          <p:cNvPr id="143" name="Google Shape;143;g36393dac501_0_0"/>
          <p:cNvPicPr preferRelativeResize="0"/>
          <p:nvPr/>
        </p:nvPicPr>
        <p:blipFill>
          <a:blip r:embed="rId7">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FAE1EDB6-BB23-1473-62AE-4CE222232915}"/>
              </a:ext>
            </a:extLst>
          </p:cNvPr>
          <p:cNvPicPr>
            <a:picLocks noChangeAspect="1"/>
          </p:cNvPicPr>
          <p:nvPr/>
        </p:nvPicPr>
        <p:blipFill>
          <a:blip r:embed="rId8"/>
          <a:stretch>
            <a:fillRect/>
          </a:stretch>
        </p:blipFill>
        <p:spPr>
          <a:xfrm>
            <a:off x="8378378" y="164723"/>
            <a:ext cx="1217077" cy="12170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7E2257B7-B879-7BF2-1AA3-A1130E6FA51E}"/>
            </a:ext>
          </a:extLst>
        </p:cNvPr>
        <p:cNvGrpSpPr/>
        <p:nvPr/>
      </p:nvGrpSpPr>
      <p:grpSpPr>
        <a:xfrm>
          <a:off x="0" y="0"/>
          <a:ext cx="0" cy="0"/>
          <a:chOff x="0" y="0"/>
          <a:chExt cx="0" cy="0"/>
        </a:xfrm>
      </p:grpSpPr>
      <p:sp>
        <p:nvSpPr>
          <p:cNvPr id="140" name="Google Shape;140;g36393dac501_0_0">
            <a:extLst>
              <a:ext uri="{FF2B5EF4-FFF2-40B4-BE49-F238E27FC236}">
                <a16:creationId xmlns:a16="http://schemas.microsoft.com/office/drawing/2014/main" id="{1B78450E-7AE0-AF8C-E667-06ADE65C60D5}"/>
              </a:ext>
            </a:extLst>
          </p:cNvPr>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Problema</a:t>
            </a:r>
            <a:endParaRPr/>
          </a:p>
        </p:txBody>
      </p:sp>
      <p:sp>
        <p:nvSpPr>
          <p:cNvPr id="141" name="Google Shape;141;g36393dac501_0_0">
            <a:extLst>
              <a:ext uri="{FF2B5EF4-FFF2-40B4-BE49-F238E27FC236}">
                <a16:creationId xmlns:a16="http://schemas.microsoft.com/office/drawing/2014/main" id="{E9AD4244-DB38-2F2E-D20C-1B90C402A021}"/>
              </a:ext>
            </a:extLst>
          </p:cNvPr>
          <p:cNvSpPr txBox="1"/>
          <p:nvPr/>
        </p:nvSpPr>
        <p:spPr>
          <a:xfrm>
            <a:off x="372353" y="1667521"/>
            <a:ext cx="11447400" cy="1815841"/>
          </a:xfrm>
          <a:prstGeom prst="rect">
            <a:avLst/>
          </a:prstGeom>
          <a:noFill/>
          <a:ln>
            <a:noFill/>
          </a:ln>
        </p:spPr>
        <p:txBody>
          <a:bodyPr spcFirstLastPara="1" wrap="square" lIns="91425" tIns="45700" rIns="91425" bIns="45700" anchor="t" anchorCtr="0">
            <a:spAutoFit/>
          </a:bodyPr>
          <a:lstStyle/>
          <a:p>
            <a:pPr marL="457200" lvl="0" indent="-330200">
              <a:buClr>
                <a:schemeClr val="dk1"/>
              </a:buClr>
              <a:buSzPts val="1600"/>
              <a:buFont typeface="Work Sans Light"/>
              <a:buChar char="●"/>
            </a:pPr>
            <a:r>
              <a:rPr lang="es-ES" sz="1600" dirty="0">
                <a:solidFill>
                  <a:schemeClr val="dk1"/>
                </a:solidFill>
                <a:latin typeface="Work Sans Light"/>
                <a:ea typeface="Work Sans Light"/>
                <a:cs typeface="Work Sans Light"/>
                <a:sym typeface="Work Sans Light"/>
              </a:rPr>
              <a:t>El proceso de pagos: el proceso de pagos se realiza mediante un pago en efectivo, una transferencia bancaria o una transferencia de </a:t>
            </a:r>
            <a:r>
              <a:rPr lang="es-ES" sz="1600" dirty="0" err="1">
                <a:solidFill>
                  <a:schemeClr val="dk1"/>
                </a:solidFill>
                <a:latin typeface="Work Sans Light"/>
                <a:ea typeface="Work Sans Light"/>
                <a:cs typeface="Work Sans Light"/>
                <a:sym typeface="Work Sans Light"/>
              </a:rPr>
              <a:t>neobancos</a:t>
            </a:r>
            <a:r>
              <a:rPr lang="es-ES" sz="1600" dirty="0">
                <a:solidFill>
                  <a:schemeClr val="dk1"/>
                </a:solidFill>
                <a:latin typeface="Work Sans Light"/>
                <a:ea typeface="Work Sans Light"/>
                <a:cs typeface="Work Sans Light"/>
                <a:sym typeface="Work Sans Light"/>
              </a:rPr>
              <a:t> (</a:t>
            </a:r>
            <a:r>
              <a:rPr lang="es-ES" sz="1600" dirty="0" err="1">
                <a:solidFill>
                  <a:schemeClr val="dk1"/>
                </a:solidFill>
                <a:latin typeface="Work Sans Light"/>
                <a:ea typeface="Work Sans Light"/>
                <a:cs typeface="Work Sans Light"/>
                <a:sym typeface="Work Sans Light"/>
              </a:rPr>
              <a:t>nequi</a:t>
            </a:r>
            <a:r>
              <a:rPr lang="es-ES" sz="1600" dirty="0">
                <a:solidFill>
                  <a:schemeClr val="dk1"/>
                </a:solidFill>
                <a:latin typeface="Work Sans Light"/>
                <a:ea typeface="Work Sans Light"/>
                <a:cs typeface="Work Sans Light"/>
                <a:sym typeface="Work Sans Light"/>
              </a:rPr>
              <a:t> o </a:t>
            </a:r>
            <a:r>
              <a:rPr lang="es-ES" sz="1600" dirty="0" err="1">
                <a:solidFill>
                  <a:schemeClr val="dk1"/>
                </a:solidFill>
                <a:latin typeface="Work Sans Light"/>
                <a:ea typeface="Work Sans Light"/>
                <a:cs typeface="Work Sans Light"/>
                <a:sym typeface="Work Sans Light"/>
              </a:rPr>
              <a:t>daviplata</a:t>
            </a:r>
            <a:r>
              <a:rPr lang="es-ES" sz="1600" dirty="0">
                <a:solidFill>
                  <a:schemeClr val="dk1"/>
                </a:solidFill>
                <a:latin typeface="Work Sans Light"/>
                <a:ea typeface="Work Sans Light"/>
                <a:cs typeface="Work Sans Light"/>
                <a:sym typeface="Work Sans Light"/>
              </a:rPr>
              <a:t>). Aunque el método funciona, se concluye que es necesaria una optimización para lograr un mayor control e integración con los demás procesos.</a:t>
            </a:r>
          </a:p>
          <a:p>
            <a:pPr marL="457200" lvl="0" indent="-330200">
              <a:buClr>
                <a:schemeClr val="dk1"/>
              </a:buClr>
              <a:buSzPts val="1600"/>
              <a:buFont typeface="Work Sans Light"/>
              <a:buChar char="●"/>
            </a:pPr>
            <a:endParaRPr lang="es-ES" sz="1600" dirty="0">
              <a:solidFill>
                <a:schemeClr val="dk1"/>
              </a:solidFill>
              <a:latin typeface="Work Sans Light"/>
              <a:ea typeface="Work Sans Light"/>
              <a:cs typeface="Work Sans Light"/>
              <a:sym typeface="Work Sans Light"/>
            </a:endParaRPr>
          </a:p>
          <a:p>
            <a:pPr marL="457200" marR="0" lvl="0" indent="-330200" algn="l" rtl="0">
              <a:spcBef>
                <a:spcPts val="0"/>
              </a:spcBef>
              <a:spcAft>
                <a:spcPts val="0"/>
              </a:spcAft>
              <a:buClr>
                <a:schemeClr val="dk1"/>
              </a:buClr>
              <a:buSzPts val="1600"/>
              <a:buFont typeface="Work Sans Light"/>
              <a:buChar char="●"/>
            </a:pPr>
            <a:r>
              <a:rPr lang="es-MX" sz="1600" dirty="0">
                <a:solidFill>
                  <a:schemeClr val="dk1"/>
                </a:solidFill>
                <a:latin typeface="Work Sans Light"/>
                <a:ea typeface="Work Sans Light"/>
                <a:cs typeface="Work Sans Light"/>
                <a:sym typeface="Work Sans Light"/>
              </a:rPr>
              <a:t>El proceso de promociones y descuentos: el proceso de promociones y descuentos consiste en dar un descuento por la compra de un producto de un calzado y un bolso se le da una rebaja de un porcentaje del total de la compra al cliente</a:t>
            </a:r>
            <a:endParaRPr sz="1600" dirty="0">
              <a:solidFill>
                <a:schemeClr val="dk1"/>
              </a:solidFill>
              <a:latin typeface="Work Sans Light"/>
              <a:ea typeface="Work Sans Light"/>
              <a:cs typeface="Work Sans Light"/>
              <a:sym typeface="Work Sans Light"/>
            </a:endParaRPr>
          </a:p>
        </p:txBody>
      </p:sp>
      <p:pic>
        <p:nvPicPr>
          <p:cNvPr id="142" name="Google Shape;142;g36393dac501_0_0">
            <a:extLst>
              <a:ext uri="{FF2B5EF4-FFF2-40B4-BE49-F238E27FC236}">
                <a16:creationId xmlns:a16="http://schemas.microsoft.com/office/drawing/2014/main" id="{77528107-6AF9-0DCF-DB02-3072A001BE3A}"/>
              </a:ext>
            </a:extLst>
          </p:cNvPr>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43" name="Google Shape;143;g36393dac501_0_0">
            <a:extLst>
              <a:ext uri="{FF2B5EF4-FFF2-40B4-BE49-F238E27FC236}">
                <a16:creationId xmlns:a16="http://schemas.microsoft.com/office/drawing/2014/main" id="{A4C9270D-39D3-8A07-66CF-88628E3663F3}"/>
              </a:ext>
            </a:extLst>
          </p:cNvPr>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B981FEA9-ACFE-A46A-334E-C641A7660B58}"/>
              </a:ext>
            </a:extLst>
          </p:cNvPr>
          <p:cNvPicPr>
            <a:picLocks noChangeAspect="1"/>
          </p:cNvPicPr>
          <p:nvPr/>
        </p:nvPicPr>
        <p:blipFill>
          <a:blip r:embed="rId4"/>
          <a:stretch>
            <a:fillRect/>
          </a:stretch>
        </p:blipFill>
        <p:spPr>
          <a:xfrm>
            <a:off x="8378378" y="164723"/>
            <a:ext cx="1217077" cy="1217077"/>
          </a:xfrm>
          <a:prstGeom prst="rect">
            <a:avLst/>
          </a:prstGeom>
        </p:spPr>
      </p:pic>
    </p:spTree>
    <p:extLst>
      <p:ext uri="{BB962C8B-B14F-4D97-AF65-F5344CB8AC3E}">
        <p14:creationId xmlns:p14="http://schemas.microsoft.com/office/powerpoint/2010/main" val="3424747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36393dac501_3_0"/>
          <p:cNvSpPr/>
          <p:nvPr/>
        </p:nvSpPr>
        <p:spPr>
          <a:xfrm>
            <a:off x="1314043" y="1369915"/>
            <a:ext cx="3527400" cy="3471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 name="Google Shape;150;g36393dac501_3_0"/>
          <p:cNvSpPr txBox="1"/>
          <p:nvPr/>
        </p:nvSpPr>
        <p:spPr>
          <a:xfrm>
            <a:off x="1039259" y="1040536"/>
            <a:ext cx="4077000" cy="6765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38AA00"/>
              </a:buClr>
              <a:buSzPts val="3200"/>
              <a:buFont typeface="Work Sans Light"/>
              <a:buNone/>
            </a:pPr>
            <a:r>
              <a:rPr lang="es-MX" sz="3200">
                <a:solidFill>
                  <a:srgbClr val="38AA00"/>
                </a:solidFill>
                <a:latin typeface="Work Sans Light"/>
                <a:ea typeface="Work Sans Light"/>
                <a:cs typeface="Work Sans Light"/>
                <a:sym typeface="Work Sans Light"/>
              </a:rPr>
              <a:t>Objetivo General</a:t>
            </a:r>
            <a:endParaRPr/>
          </a:p>
        </p:txBody>
      </p:sp>
      <p:sp>
        <p:nvSpPr>
          <p:cNvPr id="151" name="Google Shape;151;g36393dac501_3_0"/>
          <p:cNvSpPr txBox="1"/>
          <p:nvPr/>
        </p:nvSpPr>
        <p:spPr>
          <a:xfrm>
            <a:off x="1247943" y="2700940"/>
            <a:ext cx="5043000" cy="1815841"/>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MX" sz="1600" dirty="0">
                <a:solidFill>
                  <a:schemeClr val="dk1"/>
                </a:solidFill>
                <a:latin typeface="Work Sans Light"/>
                <a:ea typeface="Work Sans Light"/>
                <a:cs typeface="Work Sans Light"/>
                <a:sym typeface="Work Sans Light"/>
              </a:rPr>
              <a:t>Desarrollar e implementar un Sistema de Información Web </a:t>
            </a:r>
            <a:r>
              <a:rPr lang="es-MX" sz="1500" dirty="0">
                <a:solidFill>
                  <a:srgbClr val="0C0C0C"/>
                </a:solidFill>
                <a:latin typeface="Work Sans Light"/>
                <a:ea typeface="Work Sans Light"/>
                <a:cs typeface="Work Sans Light"/>
                <a:sym typeface="Work Sans Light"/>
              </a:rPr>
              <a:t>Zéfiro</a:t>
            </a:r>
            <a:r>
              <a:rPr lang="es-MX" sz="1600" dirty="0">
                <a:solidFill>
                  <a:schemeClr val="dk1"/>
                </a:solidFill>
                <a:latin typeface="Work Sans Light"/>
                <a:ea typeface="Work Sans Light"/>
                <a:cs typeface="Work Sans Light"/>
                <a:sym typeface="Work Sans Light"/>
              </a:rPr>
              <a:t> para la gestión de productos, pedidos y promociones de la empresa </a:t>
            </a:r>
            <a:r>
              <a:rPr lang="es-MX" sz="1600" dirty="0" err="1">
                <a:solidFill>
                  <a:schemeClr val="dk1"/>
                </a:solidFill>
                <a:latin typeface="Work Sans Light"/>
                <a:ea typeface="Work Sans Light"/>
                <a:cs typeface="Work Sans Light"/>
                <a:sym typeface="Work Sans Light"/>
              </a:rPr>
              <a:t>Innovation</a:t>
            </a:r>
            <a:r>
              <a:rPr lang="es-MX" sz="1600" dirty="0">
                <a:solidFill>
                  <a:schemeClr val="dk1"/>
                </a:solidFill>
                <a:latin typeface="Work Sans Light"/>
                <a:ea typeface="Work Sans Light"/>
                <a:cs typeface="Work Sans Light"/>
                <a:sym typeface="Work Sans Light"/>
              </a:rPr>
              <a:t> </a:t>
            </a:r>
            <a:r>
              <a:rPr lang="es-MX" sz="1600" dirty="0" err="1">
                <a:solidFill>
                  <a:schemeClr val="dk1"/>
                </a:solidFill>
                <a:latin typeface="Work Sans Light"/>
                <a:ea typeface="Work Sans Light"/>
                <a:cs typeface="Work Sans Light"/>
                <a:sym typeface="Work Sans Light"/>
              </a:rPr>
              <a:t>Fusion</a:t>
            </a:r>
            <a:r>
              <a:rPr lang="es-MX" sz="1600" dirty="0">
                <a:solidFill>
                  <a:schemeClr val="dk1"/>
                </a:solidFill>
                <a:latin typeface="Work Sans Light"/>
                <a:ea typeface="Work Sans Light"/>
                <a:cs typeface="Work Sans Light"/>
                <a:sym typeface="Work Sans Light"/>
              </a:rPr>
              <a:t>, permitiendo a los usuarios navegar, seleccionar y adquirir productos de calzado y bolsos de forma intuitiva, segura y eficiente.</a:t>
            </a:r>
            <a:endParaRPr sz="1100" dirty="0">
              <a:solidFill>
                <a:schemeClr val="dk1"/>
              </a:solidFill>
            </a:endParaRPr>
          </a:p>
        </p:txBody>
      </p:sp>
      <p:pic>
        <p:nvPicPr>
          <p:cNvPr id="152" name="Google Shape;152;g36393dac501_3_0"/>
          <p:cNvPicPr preferRelativeResize="0"/>
          <p:nvPr/>
        </p:nvPicPr>
        <p:blipFill>
          <a:blip r:embed="rId3">
            <a:alphaModFix/>
          </a:blip>
          <a:stretch>
            <a:fillRect/>
          </a:stretch>
        </p:blipFill>
        <p:spPr>
          <a:xfrm>
            <a:off x="7214050" y="85125"/>
            <a:ext cx="5720524" cy="7153426"/>
          </a:xfrm>
          <a:prstGeom prst="rect">
            <a:avLst/>
          </a:prstGeom>
          <a:noFill/>
          <a:ln>
            <a:noFill/>
          </a:ln>
        </p:spPr>
      </p:pic>
      <p:pic>
        <p:nvPicPr>
          <p:cNvPr id="153" name="Google Shape;153;g36393dac501_3_0"/>
          <p:cNvPicPr preferRelativeResize="0"/>
          <p:nvPr/>
        </p:nvPicPr>
        <p:blipFill>
          <a:blip r:embed="rId4">
            <a:alphaModFix/>
          </a:blip>
          <a:stretch>
            <a:fillRect/>
          </a:stretch>
        </p:blipFill>
        <p:spPr>
          <a:xfrm>
            <a:off x="7214050" y="0"/>
            <a:ext cx="5720525" cy="7085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36393dac501_6_2"/>
          <p:cNvSpPr/>
          <p:nvPr/>
        </p:nvSpPr>
        <p:spPr>
          <a:xfrm>
            <a:off x="614446" y="587655"/>
            <a:ext cx="4166100" cy="3471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 name="Google Shape;159;g36393dac501_6_2"/>
          <p:cNvSpPr txBox="1"/>
          <p:nvPr/>
        </p:nvSpPr>
        <p:spPr>
          <a:xfrm>
            <a:off x="614455" y="323178"/>
            <a:ext cx="40770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200"/>
              <a:buFont typeface="Work Sans Light"/>
              <a:buNone/>
            </a:pPr>
            <a:r>
              <a:rPr lang="es-MX" sz="3200">
                <a:solidFill>
                  <a:srgbClr val="38AA00"/>
                </a:solidFill>
                <a:latin typeface="Work Sans Light"/>
                <a:ea typeface="Work Sans Light"/>
                <a:cs typeface="Work Sans Light"/>
                <a:sym typeface="Work Sans Light"/>
              </a:rPr>
              <a:t>Objetivo Específicos</a:t>
            </a:r>
            <a:endParaRPr/>
          </a:p>
        </p:txBody>
      </p:sp>
      <p:sp>
        <p:nvSpPr>
          <p:cNvPr id="160" name="Google Shape;160;g36393dac501_6_2"/>
          <p:cNvSpPr txBox="1"/>
          <p:nvPr/>
        </p:nvSpPr>
        <p:spPr>
          <a:xfrm>
            <a:off x="467201" y="1302661"/>
            <a:ext cx="6488771" cy="5232161"/>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es-CO" sz="1600" dirty="0">
                <a:latin typeface="Work Sans Light" pitchFamily="2" charset="0"/>
              </a:rPr>
              <a:t>Gestionar los usuarios del sistema mediante registro, inicio de sesión, recuperación de contraseña y administración de perfiles, garantizando un acceso seguro y controlado.</a:t>
            </a:r>
          </a:p>
          <a:p>
            <a:endParaRPr lang="es-CO" sz="1600" dirty="0">
              <a:latin typeface="Work Sans Light" pitchFamily="2" charset="0"/>
            </a:endParaRPr>
          </a:p>
          <a:p>
            <a:pPr marL="285750" indent="-285750">
              <a:buFont typeface="Arial" panose="020B0604020202020204" pitchFamily="34" charset="0"/>
              <a:buChar char="•"/>
            </a:pPr>
            <a:r>
              <a:rPr lang="es-CO" sz="1600" dirty="0">
                <a:latin typeface="Work Sans Light" pitchFamily="2" charset="0"/>
              </a:rPr>
              <a:t>Gestionar el catálogo de productos mediante consulta, búsqueda, filtrado y visualización detallada, mejorando la experiencia de navegación del usuario.</a:t>
            </a:r>
          </a:p>
          <a:p>
            <a:endParaRPr lang="es-CO" sz="1600" dirty="0">
              <a:latin typeface="Work Sans Light" pitchFamily="2" charset="0"/>
            </a:endParaRPr>
          </a:p>
          <a:p>
            <a:pPr marL="285750" indent="-285750">
              <a:buFont typeface="Arial" panose="020B0604020202020204" pitchFamily="34" charset="0"/>
              <a:buChar char="•"/>
            </a:pPr>
            <a:r>
              <a:rPr lang="es-CO" sz="1600" dirty="0">
                <a:latin typeface="Work Sans Light" pitchFamily="2" charset="0"/>
              </a:rPr>
              <a:t>Gestionar los productos e inventario mediante registro, edición, eliminación y control de stock, asegurando la actualización constante del catálogo.</a:t>
            </a:r>
          </a:p>
          <a:p>
            <a:endParaRPr lang="es-CO" sz="1600" dirty="0">
              <a:latin typeface="Work Sans Light" pitchFamily="2" charset="0"/>
            </a:endParaRPr>
          </a:p>
          <a:p>
            <a:pPr marL="285750" indent="-285750">
              <a:buFont typeface="Arial" panose="020B0604020202020204" pitchFamily="34" charset="0"/>
              <a:buChar char="•"/>
            </a:pPr>
            <a:r>
              <a:rPr lang="es-CO" sz="1600" dirty="0">
                <a:latin typeface="Work Sans Light" pitchFamily="2" charset="0"/>
              </a:rPr>
              <a:t>Gestionar el proceso de compra mediante el uso del carrito, cálculo automático de totales, aplicación de descuentos y ejecución de un </a:t>
            </a:r>
            <a:r>
              <a:rPr lang="es-CO" sz="1600" dirty="0" err="1">
                <a:latin typeface="Work Sans Light" pitchFamily="2" charset="0"/>
              </a:rPr>
              <a:t>checkout</a:t>
            </a:r>
            <a:r>
              <a:rPr lang="es-CO" sz="1600" dirty="0">
                <a:latin typeface="Work Sans Light" pitchFamily="2" charset="0"/>
              </a:rPr>
              <a:t> seguro.</a:t>
            </a:r>
          </a:p>
          <a:p>
            <a:endParaRPr lang="es-CO" sz="1600" dirty="0">
              <a:latin typeface="Work Sans Light" pitchFamily="2" charset="0"/>
            </a:endParaRPr>
          </a:p>
          <a:p>
            <a:pPr marL="285750" indent="-285750">
              <a:buFont typeface="Arial" panose="020B0604020202020204" pitchFamily="34" charset="0"/>
              <a:buChar char="•"/>
            </a:pPr>
            <a:r>
              <a:rPr lang="es-CO" sz="1600" dirty="0">
                <a:latin typeface="Work Sans Light" pitchFamily="2" charset="0"/>
              </a:rPr>
              <a:t>Gestionar los métodos de pago en las ventas de </a:t>
            </a:r>
            <a:r>
              <a:rPr lang="es-CO" sz="1600" dirty="0" err="1">
                <a:latin typeface="Work Sans Light" pitchFamily="2" charset="0"/>
              </a:rPr>
              <a:t>Innovation</a:t>
            </a:r>
            <a:r>
              <a:rPr lang="es-CO" sz="1600" dirty="0">
                <a:latin typeface="Work Sans Light" pitchFamily="2" charset="0"/>
              </a:rPr>
              <a:t> </a:t>
            </a:r>
            <a:r>
              <a:rPr lang="es-CO" sz="1600" dirty="0" err="1">
                <a:latin typeface="Work Sans Light" pitchFamily="2" charset="0"/>
              </a:rPr>
              <a:t>Fusion</a:t>
            </a:r>
            <a:r>
              <a:rPr lang="es-CO" sz="1600" dirty="0">
                <a:latin typeface="Work Sans Light" pitchFamily="2" charset="0"/>
              </a:rPr>
              <a:t>, integrando opciones como tarjetas y pasarelas de pago, garantizando transacciones seguras y una experiencia de compra eficiente.</a:t>
            </a:r>
          </a:p>
          <a:p>
            <a:endParaRPr lang="es-CO" dirty="0">
              <a:latin typeface="Work Sans Light" pitchFamily="2" charset="0"/>
            </a:endParaRPr>
          </a:p>
        </p:txBody>
      </p:sp>
      <p:pic>
        <p:nvPicPr>
          <p:cNvPr id="161" name="Google Shape;161;g36393dac501_6_2"/>
          <p:cNvPicPr preferRelativeResize="0"/>
          <p:nvPr/>
        </p:nvPicPr>
        <p:blipFill>
          <a:blip r:embed="rId3">
            <a:alphaModFix/>
          </a:blip>
          <a:stretch>
            <a:fillRect/>
          </a:stretch>
        </p:blipFill>
        <p:spPr>
          <a:xfrm>
            <a:off x="7446025" y="105238"/>
            <a:ext cx="4870726" cy="6647524"/>
          </a:xfrm>
          <a:prstGeom prst="rect">
            <a:avLst/>
          </a:prstGeom>
          <a:noFill/>
          <a:ln>
            <a:noFill/>
          </a:ln>
        </p:spPr>
      </p:pic>
      <p:pic>
        <p:nvPicPr>
          <p:cNvPr id="162" name="Google Shape;162;g36393dac501_6_2"/>
          <p:cNvPicPr preferRelativeResize="0"/>
          <p:nvPr/>
        </p:nvPicPr>
        <p:blipFill>
          <a:blip r:embed="rId4">
            <a:alphaModFix/>
          </a:blip>
          <a:stretch>
            <a:fillRect/>
          </a:stretch>
        </p:blipFill>
        <p:spPr>
          <a:xfrm>
            <a:off x="7446025" y="105238"/>
            <a:ext cx="4870726" cy="66475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36393dac501_6_2"/>
          <p:cNvSpPr/>
          <p:nvPr/>
        </p:nvSpPr>
        <p:spPr>
          <a:xfrm>
            <a:off x="614446" y="587655"/>
            <a:ext cx="4166100" cy="3471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 name="Google Shape;159;g36393dac501_6_2"/>
          <p:cNvSpPr txBox="1"/>
          <p:nvPr/>
        </p:nvSpPr>
        <p:spPr>
          <a:xfrm>
            <a:off x="614455" y="323178"/>
            <a:ext cx="40770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200"/>
              <a:buFont typeface="Work Sans Light"/>
              <a:buNone/>
            </a:pPr>
            <a:r>
              <a:rPr lang="es-MX" sz="3200">
                <a:solidFill>
                  <a:srgbClr val="38AA00"/>
                </a:solidFill>
                <a:latin typeface="Work Sans Light"/>
                <a:ea typeface="Work Sans Light"/>
                <a:cs typeface="Work Sans Light"/>
                <a:sym typeface="Work Sans Light"/>
              </a:rPr>
              <a:t>Objetivo Específicos</a:t>
            </a:r>
            <a:endParaRPr/>
          </a:p>
        </p:txBody>
      </p:sp>
      <p:sp>
        <p:nvSpPr>
          <p:cNvPr id="160" name="Google Shape;160;g36393dac501_6_2"/>
          <p:cNvSpPr txBox="1"/>
          <p:nvPr/>
        </p:nvSpPr>
        <p:spPr>
          <a:xfrm>
            <a:off x="456315" y="1471375"/>
            <a:ext cx="6488771" cy="3754834"/>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es-CO" sz="1600" dirty="0">
                <a:latin typeface="Work Sans Light" pitchFamily="2" charset="0"/>
              </a:rPr>
              <a:t>Gestionar los pedidos mediante la generación de tickets, confirmación de compras y seguimiento del estado, optimizando el proceso comercial y la trazabilidad.</a:t>
            </a:r>
          </a:p>
          <a:p>
            <a:endParaRPr lang="es-CO" sz="1600" dirty="0">
              <a:latin typeface="Work Sans Light" pitchFamily="2" charset="0"/>
            </a:endParaRPr>
          </a:p>
          <a:p>
            <a:pPr marL="285750" indent="-285750">
              <a:buFont typeface="Arial" panose="020B0604020202020204" pitchFamily="34" charset="0"/>
              <a:buChar char="•"/>
            </a:pPr>
            <a:r>
              <a:rPr lang="es-CO" sz="1600" dirty="0">
                <a:latin typeface="Work Sans Light" pitchFamily="2" charset="0"/>
              </a:rPr>
              <a:t>Gestionar las promociones y descuentos de la empresa, facilitando su administración por el personal e incentivando las compras de los clientes</a:t>
            </a:r>
          </a:p>
          <a:p>
            <a:endParaRPr lang="es-CO" sz="1600" dirty="0">
              <a:latin typeface="Work Sans Light" pitchFamily="2" charset="0"/>
            </a:endParaRPr>
          </a:p>
          <a:p>
            <a:pPr marL="285750" indent="-285750">
              <a:buFont typeface="Arial" panose="020B0604020202020204" pitchFamily="34" charset="0"/>
              <a:buChar char="•"/>
            </a:pPr>
            <a:r>
              <a:rPr lang="es-CO" sz="1600" dirty="0">
                <a:latin typeface="Work Sans Light" pitchFamily="2" charset="0"/>
              </a:rPr>
              <a:t>Gestionar las devoluciones y cambios de productos conforme a las políticas establecidas, garantizando una adecuada atención al cliente.</a:t>
            </a:r>
          </a:p>
          <a:p>
            <a:endParaRPr lang="es-CO" sz="1600" dirty="0">
              <a:latin typeface="Work Sans Light" pitchFamily="2" charset="0"/>
            </a:endParaRPr>
          </a:p>
          <a:p>
            <a:pPr marL="285750" indent="-285750">
              <a:buFont typeface="Arial" panose="020B0604020202020204" pitchFamily="34" charset="0"/>
              <a:buChar char="•"/>
            </a:pPr>
            <a:r>
              <a:rPr lang="es-CO" sz="1600" dirty="0">
                <a:latin typeface="Work Sans Light" pitchFamily="2" charset="0"/>
              </a:rPr>
              <a:t>Generar reportes sobre usuarios, productos y ventas, permitiendo un análisis claro del desempeño de la empresa.</a:t>
            </a:r>
          </a:p>
          <a:p>
            <a:endParaRPr lang="es-CO" dirty="0">
              <a:latin typeface="Work Sans Light" pitchFamily="2" charset="0"/>
            </a:endParaRPr>
          </a:p>
        </p:txBody>
      </p:sp>
      <p:pic>
        <p:nvPicPr>
          <p:cNvPr id="161" name="Google Shape;161;g36393dac501_6_2"/>
          <p:cNvPicPr preferRelativeResize="0"/>
          <p:nvPr/>
        </p:nvPicPr>
        <p:blipFill>
          <a:blip r:embed="rId3">
            <a:alphaModFix/>
          </a:blip>
          <a:stretch>
            <a:fillRect/>
          </a:stretch>
        </p:blipFill>
        <p:spPr>
          <a:xfrm>
            <a:off x="7446025" y="105238"/>
            <a:ext cx="4870726" cy="6647524"/>
          </a:xfrm>
          <a:prstGeom prst="rect">
            <a:avLst/>
          </a:prstGeom>
          <a:noFill/>
          <a:ln>
            <a:noFill/>
          </a:ln>
        </p:spPr>
      </p:pic>
      <p:pic>
        <p:nvPicPr>
          <p:cNvPr id="162" name="Google Shape;162;g36393dac501_6_2"/>
          <p:cNvPicPr preferRelativeResize="0"/>
          <p:nvPr/>
        </p:nvPicPr>
        <p:blipFill>
          <a:blip r:embed="rId4">
            <a:alphaModFix/>
          </a:blip>
          <a:stretch>
            <a:fillRect/>
          </a:stretch>
        </p:blipFill>
        <p:spPr>
          <a:xfrm>
            <a:off x="7446025" y="105238"/>
            <a:ext cx="4870726" cy="6647524"/>
          </a:xfrm>
          <a:prstGeom prst="rect">
            <a:avLst/>
          </a:prstGeom>
          <a:noFill/>
          <a:ln>
            <a:noFill/>
          </a:ln>
        </p:spPr>
      </p:pic>
    </p:spTree>
    <p:extLst>
      <p:ext uri="{BB962C8B-B14F-4D97-AF65-F5344CB8AC3E}">
        <p14:creationId xmlns:p14="http://schemas.microsoft.com/office/powerpoint/2010/main" val="427847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g36393dac501_4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dirty="0">
                <a:solidFill>
                  <a:schemeClr val="lt1"/>
                </a:solidFill>
                <a:latin typeface="Work Sans Medium"/>
                <a:ea typeface="Work Sans Medium"/>
                <a:cs typeface="Work Sans Medium"/>
                <a:sym typeface="Work Sans Medium"/>
              </a:rPr>
              <a:t>Justificación</a:t>
            </a:r>
            <a:endParaRPr dirty="0"/>
          </a:p>
        </p:txBody>
      </p:sp>
      <p:sp>
        <p:nvSpPr>
          <p:cNvPr id="168" name="Google Shape;168;g36393dac501_4_0"/>
          <p:cNvSpPr txBox="1"/>
          <p:nvPr/>
        </p:nvSpPr>
        <p:spPr>
          <a:xfrm>
            <a:off x="372353" y="1667521"/>
            <a:ext cx="11447400" cy="4770496"/>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Se propone el desarrollo de un Sistema de Información Web denominado </a:t>
            </a:r>
            <a:r>
              <a:rPr lang="es-MX" sz="1500" dirty="0">
                <a:solidFill>
                  <a:srgbClr val="0C0C0C"/>
                </a:solidFill>
                <a:latin typeface="Work Sans Light"/>
                <a:ea typeface="Work Sans Light"/>
                <a:cs typeface="Work Sans Light"/>
                <a:sym typeface="Work Sans Light"/>
              </a:rPr>
              <a:t>Zéfiro</a:t>
            </a:r>
            <a:r>
              <a:rPr lang="es-MX" sz="1600" dirty="0">
                <a:solidFill>
                  <a:schemeClr val="dk1"/>
                </a:solidFill>
                <a:latin typeface="Work Sans Light"/>
                <a:ea typeface="Work Sans Light"/>
                <a:cs typeface="Work Sans Light"/>
                <a:sym typeface="Work Sans Light"/>
              </a:rPr>
              <a:t> que sirva como herramienta software de apoyo al seguimiento de los procesos de la comercialización del producto, y el proceso de la facturación manual de la Empresa </a:t>
            </a:r>
            <a:r>
              <a:rPr lang="es-MX" sz="1600" dirty="0" err="1">
                <a:solidFill>
                  <a:schemeClr val="dk1"/>
                </a:solidFill>
                <a:latin typeface="Work Sans Light"/>
                <a:ea typeface="Work Sans Light"/>
                <a:cs typeface="Work Sans Light"/>
                <a:sym typeface="Work Sans Light"/>
              </a:rPr>
              <a:t>Innovation</a:t>
            </a:r>
            <a:r>
              <a:rPr lang="es-MX" sz="1600" dirty="0">
                <a:solidFill>
                  <a:schemeClr val="dk1"/>
                </a:solidFill>
                <a:latin typeface="Work Sans Light"/>
                <a:ea typeface="Work Sans Light"/>
                <a:cs typeface="Work Sans Light"/>
                <a:sym typeface="Work Sans Light"/>
              </a:rPr>
              <a:t> </a:t>
            </a:r>
            <a:r>
              <a:rPr lang="es-MX" sz="1600" dirty="0" err="1">
                <a:solidFill>
                  <a:schemeClr val="dk1"/>
                </a:solidFill>
                <a:latin typeface="Work Sans Light"/>
                <a:ea typeface="Work Sans Light"/>
                <a:cs typeface="Work Sans Light"/>
                <a:sym typeface="Work Sans Light"/>
              </a:rPr>
              <a:t>Fusion</a:t>
            </a:r>
            <a:r>
              <a:rPr lang="es-MX" sz="1600" dirty="0">
                <a:solidFill>
                  <a:schemeClr val="dk1"/>
                </a:solidFill>
                <a:latin typeface="Work Sans Light"/>
                <a:ea typeface="Work Sans Light"/>
                <a:cs typeface="Work Sans Light"/>
                <a:sym typeface="Work Sans Light"/>
              </a:rPr>
              <a:t>.</a:t>
            </a:r>
            <a:endParaRPr sz="1600" dirty="0">
              <a:solidFill>
                <a:schemeClr val="dk1"/>
              </a:solidFill>
              <a:latin typeface="Work Sans Light"/>
              <a:ea typeface="Work Sans Light"/>
              <a:cs typeface="Work Sans Light"/>
              <a:sym typeface="Work Sans Light"/>
            </a:endParaRPr>
          </a:p>
          <a:p>
            <a:pPr marL="457200" marR="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La importancia del Sistema: Permitirá la gestión de los compradores y los Administradores como usuarios de la Empresa </a:t>
            </a:r>
            <a:r>
              <a:rPr lang="es-MX" sz="1600" dirty="0" err="1">
                <a:solidFill>
                  <a:schemeClr val="dk1"/>
                </a:solidFill>
                <a:latin typeface="Work Sans Light"/>
                <a:ea typeface="Work Sans Light"/>
                <a:cs typeface="Work Sans Light"/>
                <a:sym typeface="Work Sans Light"/>
              </a:rPr>
              <a:t>Innovation</a:t>
            </a:r>
            <a:r>
              <a:rPr lang="es-MX" sz="1600" dirty="0">
                <a:solidFill>
                  <a:schemeClr val="dk1"/>
                </a:solidFill>
                <a:latin typeface="Work Sans Light"/>
                <a:ea typeface="Work Sans Light"/>
                <a:cs typeface="Work Sans Light"/>
                <a:sym typeface="Work Sans Light"/>
              </a:rPr>
              <a:t> </a:t>
            </a:r>
            <a:r>
              <a:rPr lang="es-MX" sz="1600" dirty="0" err="1">
                <a:solidFill>
                  <a:schemeClr val="dk1"/>
                </a:solidFill>
                <a:latin typeface="Work Sans Light"/>
                <a:ea typeface="Work Sans Light"/>
                <a:cs typeface="Work Sans Light"/>
                <a:sym typeface="Work Sans Light"/>
              </a:rPr>
              <a:t>Fusion</a:t>
            </a:r>
            <a:r>
              <a:rPr lang="es-MX" sz="1600" dirty="0">
                <a:solidFill>
                  <a:schemeClr val="dk1"/>
                </a:solidFill>
                <a:latin typeface="Work Sans Light"/>
                <a:ea typeface="Work Sans Light"/>
                <a:cs typeface="Work Sans Light"/>
                <a:sym typeface="Work Sans Light"/>
              </a:rPr>
              <a:t>. En el Modulo de catalogo de productos los compradores y administradores podrán gestionar el catálogo. </a:t>
            </a:r>
            <a:endParaRPr sz="1600" dirty="0">
              <a:solidFill>
                <a:schemeClr val="dk1"/>
              </a:solidFill>
              <a:latin typeface="Work Sans Light"/>
              <a:ea typeface="Work Sans Light"/>
              <a:cs typeface="Work Sans Light"/>
              <a:sym typeface="Work Sans Light"/>
            </a:endParaRPr>
          </a:p>
          <a:p>
            <a:pPr marL="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457200" lvl="0" indent="-361950" algn="l" rtl="0">
              <a:spcBef>
                <a:spcPts val="0"/>
              </a:spcBef>
              <a:spcAft>
                <a:spcPts val="0"/>
              </a:spcAft>
              <a:buClr>
                <a:schemeClr val="dk1"/>
              </a:buClr>
              <a:buSzPts val="2100"/>
              <a:buFont typeface="Work Sans Light"/>
              <a:buChar char="●"/>
            </a:pPr>
            <a:r>
              <a:rPr lang="es-MX" sz="1600" b="1" dirty="0">
                <a:solidFill>
                  <a:schemeClr val="dk1"/>
                </a:solidFill>
                <a:latin typeface="Work Sans"/>
                <a:ea typeface="Work Sans"/>
                <a:cs typeface="Work Sans"/>
                <a:sym typeface="Work Sans"/>
              </a:rPr>
              <a:t>Módulo de gestión de usuarios:</a:t>
            </a:r>
            <a:br>
              <a:rPr lang="es-MX" sz="1600" b="1" dirty="0">
                <a:solidFill>
                  <a:schemeClr val="dk1"/>
                </a:solidFill>
                <a:latin typeface="Work Sans"/>
                <a:ea typeface="Work Sans"/>
                <a:cs typeface="Work Sans"/>
                <a:sym typeface="Work Sans"/>
              </a:rPr>
            </a:br>
            <a:r>
              <a:rPr lang="es-MX" sz="1600" dirty="0">
                <a:solidFill>
                  <a:schemeClr val="dk1"/>
                </a:solidFill>
                <a:latin typeface="Work Sans"/>
                <a:ea typeface="Work Sans"/>
                <a:cs typeface="Work Sans"/>
                <a:sym typeface="Work Sans"/>
              </a:rPr>
              <a:t> </a:t>
            </a:r>
            <a:r>
              <a:rPr lang="es-MX" sz="1600" dirty="0">
                <a:solidFill>
                  <a:schemeClr val="dk1"/>
                </a:solidFill>
                <a:latin typeface="Work Sans Light"/>
                <a:ea typeface="Work Sans Light"/>
                <a:cs typeface="Work Sans Light"/>
                <a:sym typeface="Work Sans Light"/>
              </a:rPr>
              <a:t>Compradores y administradores podrán: editar la información de los usuarios y agregar administradores</a:t>
            </a:r>
            <a:endParaRPr sz="1600" dirty="0">
              <a:solidFill>
                <a:schemeClr val="dk1"/>
              </a:solidFill>
              <a:latin typeface="Work Sans Light"/>
              <a:ea typeface="Work Sans Light"/>
              <a:cs typeface="Work Sans Light"/>
              <a:sym typeface="Work Sans Light"/>
            </a:endParaRPr>
          </a:p>
          <a:p>
            <a:pPr marL="457200" lvl="0" indent="-361950" algn="l" rtl="0">
              <a:spcBef>
                <a:spcPts val="0"/>
              </a:spcBef>
              <a:spcAft>
                <a:spcPts val="0"/>
              </a:spcAft>
              <a:buClr>
                <a:schemeClr val="dk1"/>
              </a:buClr>
              <a:buSzPts val="2100"/>
              <a:buFont typeface="Work Sans Light"/>
              <a:buChar char="●"/>
            </a:pPr>
            <a:r>
              <a:rPr lang="es-MX" sz="1600" b="1" dirty="0">
                <a:solidFill>
                  <a:schemeClr val="dk1"/>
                </a:solidFill>
                <a:latin typeface="Work Sans"/>
                <a:ea typeface="Work Sans"/>
                <a:cs typeface="Work Sans"/>
                <a:sym typeface="Work Sans"/>
              </a:rPr>
              <a:t>Módulo de gestión de compras:</a:t>
            </a:r>
            <a:br>
              <a:rPr lang="es-MX" sz="1600" b="1" dirty="0">
                <a:solidFill>
                  <a:schemeClr val="dk1"/>
                </a:solidFill>
                <a:latin typeface="Work Sans"/>
                <a:ea typeface="Work Sans"/>
                <a:cs typeface="Work Sans"/>
                <a:sym typeface="Work Sans"/>
              </a:rPr>
            </a:br>
            <a:r>
              <a:rPr lang="es-MX" sz="1600" dirty="0">
                <a:solidFill>
                  <a:schemeClr val="dk1"/>
                </a:solidFill>
                <a:latin typeface="Work Sans"/>
                <a:ea typeface="Work Sans"/>
                <a:cs typeface="Work Sans"/>
                <a:sym typeface="Work Sans"/>
              </a:rPr>
              <a:t> </a:t>
            </a:r>
            <a:r>
              <a:rPr lang="es-MX" sz="1600" dirty="0">
                <a:solidFill>
                  <a:schemeClr val="dk1"/>
                </a:solidFill>
                <a:latin typeface="Work Sans Light"/>
                <a:ea typeface="Work Sans Light"/>
                <a:cs typeface="Work Sans Light"/>
                <a:sym typeface="Work Sans Light"/>
              </a:rPr>
              <a:t>Compradores y administradores podrán: manejar el carrito de compras y podrán ponerle a un producto promociones.</a:t>
            </a:r>
            <a:endParaRPr sz="1600" dirty="0">
              <a:solidFill>
                <a:schemeClr val="dk1"/>
              </a:solidFill>
              <a:latin typeface="Work Sans Light"/>
              <a:ea typeface="Work Sans Light"/>
              <a:cs typeface="Work Sans Light"/>
              <a:sym typeface="Work Sans Light"/>
            </a:endParaRPr>
          </a:p>
          <a:p>
            <a:pPr marL="457200" lvl="0" indent="-361950" algn="l" rtl="0">
              <a:spcBef>
                <a:spcPts val="0"/>
              </a:spcBef>
              <a:spcAft>
                <a:spcPts val="0"/>
              </a:spcAft>
              <a:buClr>
                <a:schemeClr val="dk1"/>
              </a:buClr>
              <a:buSzPts val="2100"/>
              <a:buFont typeface="Work Sans Light"/>
              <a:buChar char="●"/>
            </a:pPr>
            <a:r>
              <a:rPr lang="es-MX" sz="1600" b="1" dirty="0">
                <a:solidFill>
                  <a:schemeClr val="dk1"/>
                </a:solidFill>
                <a:latin typeface="Work Sans"/>
                <a:ea typeface="Work Sans"/>
                <a:cs typeface="Work Sans"/>
                <a:sym typeface="Work Sans"/>
              </a:rPr>
              <a:t>Módulo de gestión de pedidos:</a:t>
            </a:r>
            <a:br>
              <a:rPr lang="es-MX" sz="1600" b="1" dirty="0">
                <a:solidFill>
                  <a:schemeClr val="dk1"/>
                </a:solidFill>
                <a:latin typeface="Work Sans"/>
                <a:ea typeface="Work Sans"/>
                <a:cs typeface="Work Sans"/>
                <a:sym typeface="Work Sans"/>
              </a:rPr>
            </a:br>
            <a:r>
              <a:rPr lang="es-MX" sz="1600" dirty="0">
                <a:solidFill>
                  <a:schemeClr val="dk1"/>
                </a:solidFill>
                <a:latin typeface="Work Sans Light"/>
                <a:ea typeface="Work Sans Light"/>
                <a:cs typeface="Work Sans Light"/>
                <a:sym typeface="Work Sans Light"/>
              </a:rPr>
              <a:t> Compradores y administradores  podrán: tener la posibilidad de consultar sus pedidos y actualizarlos según sea necesario.</a:t>
            </a:r>
            <a:endParaRPr sz="1600" dirty="0">
              <a:solidFill>
                <a:schemeClr val="dk1"/>
              </a:solidFill>
              <a:latin typeface="Work Sans Light"/>
              <a:ea typeface="Work Sans Light"/>
              <a:cs typeface="Work Sans Light"/>
              <a:sym typeface="Work Sans Light"/>
            </a:endParaRPr>
          </a:p>
          <a:p>
            <a:pPr marL="457200" lvl="0" indent="0" algn="l" rtl="0">
              <a:spcBef>
                <a:spcPts val="0"/>
              </a:spcBef>
              <a:spcAft>
                <a:spcPts val="0"/>
              </a:spcAft>
              <a:buNone/>
            </a:pPr>
            <a:endParaRPr sz="1600" dirty="0">
              <a:solidFill>
                <a:schemeClr val="dk1"/>
              </a:solidFill>
              <a:latin typeface="Work Sans"/>
              <a:ea typeface="Work Sans"/>
              <a:cs typeface="Work Sans"/>
              <a:sym typeface="Work Sans"/>
            </a:endParaRPr>
          </a:p>
          <a:p>
            <a:pPr marL="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Clr>
                <a:schemeClr val="dk1"/>
              </a:buClr>
              <a:buSzPts val="1600"/>
              <a:buFont typeface="Arial"/>
              <a:buNone/>
            </a:pPr>
            <a:endParaRPr sz="1600" b="1" dirty="0">
              <a:solidFill>
                <a:schemeClr val="dk1"/>
              </a:solidFill>
              <a:latin typeface="Work Sans Light"/>
              <a:ea typeface="Work Sans Light"/>
              <a:cs typeface="Work Sans Light"/>
              <a:sym typeface="Work Sans Light"/>
            </a:endParaRPr>
          </a:p>
        </p:txBody>
      </p:sp>
      <p:pic>
        <p:nvPicPr>
          <p:cNvPr id="169" name="Google Shape;169;g36393dac501_4_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70" name="Google Shape;170;g36393dac501_4_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D2E8B193-DAFA-86A6-449C-054190DC5E91}"/>
              </a:ext>
            </a:extLst>
          </p:cNvPr>
          <p:cNvPicPr>
            <a:picLocks noChangeAspect="1"/>
          </p:cNvPicPr>
          <p:nvPr/>
        </p:nvPicPr>
        <p:blipFill>
          <a:blip r:embed="rId4"/>
          <a:stretch>
            <a:fillRect/>
          </a:stretch>
        </p:blipFill>
        <p:spPr>
          <a:xfrm>
            <a:off x="8160249" y="164723"/>
            <a:ext cx="1217077" cy="121707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9"/>
          <p:cNvSpPr txBox="1"/>
          <p:nvPr/>
        </p:nvSpPr>
        <p:spPr>
          <a:xfrm>
            <a:off x="456236" y="457723"/>
            <a:ext cx="1051560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a:solidFill>
                  <a:srgbClr val="0C0C0C"/>
                </a:solidFill>
                <a:latin typeface="Work Sans Medium"/>
                <a:ea typeface="Work Sans Medium"/>
                <a:cs typeface="Work Sans Medium"/>
                <a:sym typeface="Work Sans Medium"/>
              </a:rPr>
              <a:t>Justificación</a:t>
            </a:r>
            <a:endParaRPr/>
          </a:p>
        </p:txBody>
      </p:sp>
      <p:sp>
        <p:nvSpPr>
          <p:cNvPr id="178" name="Google Shape;178;p9"/>
          <p:cNvSpPr txBox="1"/>
          <p:nvPr/>
        </p:nvSpPr>
        <p:spPr>
          <a:xfrm>
            <a:off x="372353" y="1667521"/>
            <a:ext cx="11447400" cy="3410124"/>
          </a:xfrm>
          <a:prstGeom prst="rect">
            <a:avLst/>
          </a:prstGeom>
          <a:noFill/>
          <a:ln>
            <a:noFill/>
          </a:ln>
        </p:spPr>
        <p:txBody>
          <a:bodyPr spcFirstLastPara="1" wrap="square" lIns="91425" tIns="45700" rIns="91425" bIns="45700" anchor="t" anchorCtr="0">
            <a:spAutoFit/>
          </a:bodyPr>
          <a:lstStyle/>
          <a:p>
            <a:pPr marL="457200" lvl="0" indent="-330200" algn="l" rtl="0">
              <a:spcBef>
                <a:spcPts val="0"/>
              </a:spcBef>
              <a:spcAft>
                <a:spcPts val="0"/>
              </a:spcAft>
              <a:buClr>
                <a:schemeClr val="dk1"/>
              </a:buClr>
              <a:buSzPts val="1600"/>
              <a:buFont typeface="Work Sans Light"/>
              <a:buChar char="●"/>
            </a:pPr>
            <a:r>
              <a:rPr lang="es-MX" sz="1600" b="1" dirty="0">
                <a:solidFill>
                  <a:schemeClr val="dk1"/>
                </a:solidFill>
                <a:latin typeface="Work Sans"/>
                <a:ea typeface="Work Sans"/>
                <a:cs typeface="Work Sans"/>
                <a:sym typeface="Work Sans"/>
              </a:rPr>
              <a:t>Módulo de administrador:</a:t>
            </a:r>
            <a:br>
              <a:rPr lang="es-MX" sz="1600" b="1" dirty="0">
                <a:solidFill>
                  <a:schemeClr val="dk1"/>
                </a:solidFill>
                <a:latin typeface="Work Sans"/>
                <a:ea typeface="Work Sans"/>
                <a:cs typeface="Work Sans"/>
                <a:sym typeface="Work Sans"/>
              </a:rPr>
            </a:br>
            <a:r>
              <a:rPr lang="es-MX" sz="1600" dirty="0">
                <a:solidFill>
                  <a:schemeClr val="dk1"/>
                </a:solidFill>
                <a:latin typeface="Work Sans"/>
                <a:ea typeface="Work Sans"/>
                <a:cs typeface="Work Sans"/>
                <a:sym typeface="Work Sans"/>
              </a:rPr>
              <a:t> </a:t>
            </a:r>
            <a:r>
              <a:rPr lang="es-MX" sz="1600" dirty="0">
                <a:solidFill>
                  <a:schemeClr val="dk1"/>
                </a:solidFill>
                <a:latin typeface="Work Sans Light"/>
                <a:ea typeface="Work Sans Light"/>
                <a:cs typeface="Work Sans Light"/>
                <a:sym typeface="Work Sans Light"/>
              </a:rPr>
              <a:t>los administradores podrán: gestionar el inventario de productos, incluyendo la visibilidad y actualización de los datos de cada artículo.</a:t>
            </a:r>
            <a:endParaRPr sz="1600" dirty="0">
              <a:solidFill>
                <a:schemeClr val="dk1"/>
              </a:solidFill>
              <a:latin typeface="Work Sans Light"/>
              <a:ea typeface="Work Sans Light"/>
              <a:cs typeface="Work Sans Light"/>
              <a:sym typeface="Work Sans Light"/>
            </a:endParaRPr>
          </a:p>
          <a:p>
            <a:pPr marL="457200" lvl="0" indent="-330200" algn="l" rtl="0">
              <a:spcBef>
                <a:spcPts val="0"/>
              </a:spcBef>
              <a:spcAft>
                <a:spcPts val="0"/>
              </a:spcAft>
              <a:buClr>
                <a:schemeClr val="dk1"/>
              </a:buClr>
              <a:buSzPts val="1600"/>
              <a:buFont typeface="Work Sans Light"/>
              <a:buChar char="●"/>
            </a:pPr>
            <a:r>
              <a:rPr lang="es-MX" sz="1600" b="1" dirty="0">
                <a:solidFill>
                  <a:schemeClr val="dk1"/>
                </a:solidFill>
                <a:latin typeface="Work Sans"/>
                <a:ea typeface="Work Sans"/>
                <a:cs typeface="Work Sans"/>
                <a:sym typeface="Work Sans"/>
              </a:rPr>
              <a:t>Módulo de promociones y descuentos:</a:t>
            </a:r>
            <a:br>
              <a:rPr lang="es-MX" sz="1600" b="1" dirty="0">
                <a:solidFill>
                  <a:schemeClr val="dk1"/>
                </a:solidFill>
                <a:latin typeface="Work Sans"/>
                <a:ea typeface="Work Sans"/>
                <a:cs typeface="Work Sans"/>
                <a:sym typeface="Work Sans"/>
              </a:rPr>
            </a:br>
            <a:r>
              <a:rPr lang="es-MX" sz="1600" dirty="0">
                <a:solidFill>
                  <a:schemeClr val="dk1"/>
                </a:solidFill>
                <a:latin typeface="Work Sans Light"/>
                <a:ea typeface="Work Sans Light"/>
                <a:cs typeface="Work Sans Light"/>
                <a:sym typeface="Work Sans Light"/>
              </a:rPr>
              <a:t>administradores podrán: usar las promociones disponibles, gestionar las colecciones y descuentos</a:t>
            </a:r>
            <a:r>
              <a:rPr lang="es-MX" sz="1600" dirty="0">
                <a:solidFill>
                  <a:schemeClr val="dk1"/>
                </a:solidFill>
                <a:latin typeface="Work Sans"/>
                <a:ea typeface="Work Sans"/>
                <a:cs typeface="Work Sans"/>
                <a:sym typeface="Work Sans"/>
              </a:rPr>
              <a:t>.</a:t>
            </a:r>
            <a:endParaRPr sz="1600" b="1" dirty="0">
              <a:solidFill>
                <a:schemeClr val="dk1"/>
              </a:solidFill>
              <a:latin typeface="Work Sans"/>
              <a:ea typeface="Work Sans"/>
              <a:cs typeface="Work Sans"/>
              <a:sym typeface="Work Sans"/>
            </a:endParaRPr>
          </a:p>
          <a:p>
            <a:pPr marL="457200" lvl="0" indent="-330200" algn="l" rtl="0">
              <a:lnSpc>
                <a:spcPct val="115000"/>
              </a:lnSpc>
              <a:spcBef>
                <a:spcPts val="0"/>
              </a:spcBef>
              <a:spcAft>
                <a:spcPts val="0"/>
              </a:spcAft>
              <a:buClr>
                <a:schemeClr val="dk1"/>
              </a:buClr>
              <a:buSzPts val="1600"/>
              <a:buChar char="●"/>
            </a:pPr>
            <a:r>
              <a:rPr lang="es-MX" sz="1600" b="1" dirty="0">
                <a:solidFill>
                  <a:schemeClr val="dk1"/>
                </a:solidFill>
                <a:latin typeface="Work Sans"/>
                <a:ea typeface="Work Sans"/>
                <a:cs typeface="Work Sans"/>
                <a:sym typeface="Work Sans"/>
              </a:rPr>
              <a:t>Reportes y estadísticas:</a:t>
            </a:r>
            <a:br>
              <a:rPr lang="es-MX" sz="1600" b="1" dirty="0">
                <a:solidFill>
                  <a:schemeClr val="dk1"/>
                </a:solidFill>
                <a:latin typeface="Work Sans"/>
                <a:ea typeface="Work Sans"/>
                <a:cs typeface="Work Sans"/>
                <a:sym typeface="Work Sans"/>
              </a:rPr>
            </a:br>
            <a:r>
              <a:rPr lang="es-MX" sz="1600" dirty="0">
                <a:solidFill>
                  <a:schemeClr val="dk1"/>
                </a:solidFill>
                <a:latin typeface="Work Sans Light"/>
                <a:ea typeface="Work Sans Light"/>
                <a:cs typeface="Work Sans Light"/>
                <a:sym typeface="Work Sans Light"/>
              </a:rPr>
              <a:t> El sistema permitirá a los administradores generar reportes gráficos e impresos, útiles para la toma de decisiones estratégicas.</a:t>
            </a:r>
            <a:endParaRPr sz="1600" dirty="0">
              <a:solidFill>
                <a:schemeClr val="dk1"/>
              </a:solidFill>
              <a:latin typeface="Work Sans Light"/>
              <a:ea typeface="Work Sans Light"/>
              <a:cs typeface="Work Sans Light"/>
              <a:sym typeface="Work Sans Light"/>
            </a:endParaRPr>
          </a:p>
          <a:p>
            <a:pPr marL="0" lvl="0" indent="0" algn="l" rtl="0">
              <a:spcBef>
                <a:spcPts val="1200"/>
              </a:spcBef>
              <a:spcAft>
                <a:spcPts val="0"/>
              </a:spcAft>
              <a:buNone/>
            </a:pPr>
            <a:endParaRPr sz="1600" dirty="0">
              <a:solidFill>
                <a:schemeClr val="dk1"/>
              </a:solidFill>
              <a:latin typeface="Work Sans Light"/>
              <a:ea typeface="Work Sans Light"/>
              <a:cs typeface="Work Sans Light"/>
              <a:sym typeface="Work Sans Light"/>
            </a:endParaRPr>
          </a:p>
          <a:p>
            <a:pPr marL="0" lvl="0" indent="0" algn="l" rtl="0">
              <a:spcBef>
                <a:spcPts val="0"/>
              </a:spcBef>
              <a:spcAft>
                <a:spcPts val="0"/>
              </a:spcAft>
              <a:buNone/>
            </a:pPr>
            <a:endParaRPr sz="1600" dirty="0">
              <a:solidFill>
                <a:schemeClr val="dk1"/>
              </a:solidFill>
              <a:latin typeface="Work Sans Light"/>
              <a:ea typeface="Work Sans Light"/>
              <a:cs typeface="Work Sans Light"/>
              <a:sym typeface="Work Sans Light"/>
            </a:endParaRPr>
          </a:p>
          <a:p>
            <a:pPr marL="0" lvl="0" indent="0" algn="l" rtl="0">
              <a:lnSpc>
                <a:spcPct val="115000"/>
              </a:lnSpc>
              <a:spcBef>
                <a:spcPts val="1200"/>
              </a:spcBef>
              <a:spcAft>
                <a:spcPts val="1200"/>
              </a:spcAft>
              <a:buClr>
                <a:schemeClr val="dk1"/>
              </a:buClr>
              <a:buSzPts val="1100"/>
              <a:buFont typeface="Arial"/>
              <a:buNone/>
            </a:pPr>
            <a:endParaRPr sz="1600" dirty="0">
              <a:solidFill>
                <a:schemeClr val="dk1"/>
              </a:solidFill>
              <a:latin typeface="Work Sans Light"/>
              <a:ea typeface="Work Sans Light"/>
              <a:cs typeface="Work Sans Light"/>
              <a:sym typeface="Work Sans Light"/>
            </a:endParaRPr>
          </a:p>
        </p:txBody>
      </p:sp>
      <p:pic>
        <p:nvPicPr>
          <p:cNvPr id="179" name="Google Shape;179;p9"/>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80" name="Google Shape;180;p9"/>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99C76A1A-E541-9B5B-7DED-37EB7E9D6D7B}"/>
              </a:ext>
            </a:extLst>
          </p:cNvPr>
          <p:cNvPicPr>
            <a:picLocks noChangeAspect="1"/>
          </p:cNvPicPr>
          <p:nvPr/>
        </p:nvPicPr>
        <p:blipFill>
          <a:blip r:embed="rId4"/>
          <a:stretch>
            <a:fillRect/>
          </a:stretch>
        </p:blipFill>
        <p:spPr>
          <a:xfrm>
            <a:off x="8378378" y="164723"/>
            <a:ext cx="1217077" cy="12170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0"/>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Alcance</a:t>
            </a:r>
            <a:endParaRPr/>
          </a:p>
        </p:txBody>
      </p:sp>
      <p:sp>
        <p:nvSpPr>
          <p:cNvPr id="188" name="Google Shape;188;p10"/>
          <p:cNvSpPr txBox="1"/>
          <p:nvPr/>
        </p:nvSpPr>
        <p:spPr>
          <a:xfrm>
            <a:off x="3149325" y="1890313"/>
            <a:ext cx="8737200" cy="181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Usuarios del sistema podrán iniciar sesión, administrar su perfil, ver catálogo de productos organizado por filtros de búsqueda, agregar estos al carrito o a favoritos, una vez se tengan productos en el carrito de compras podrán seleccionar los productos a comprar, posterior a esto el cliente facilitará al aplicativo su método de pago, y lugar de envío. Una vez el cliente haya recibido su producto podrá valorar este en una escala de 5 estrellas y dejar una breve descripción de su experiencia. La empresa no realiza </a:t>
            </a:r>
            <a:r>
              <a:rPr lang="es-MX" sz="1600" dirty="0" err="1">
                <a:solidFill>
                  <a:schemeClr val="dk1"/>
                </a:solidFill>
                <a:latin typeface="Work Sans Light"/>
                <a:ea typeface="Work Sans Light"/>
                <a:cs typeface="Work Sans Light"/>
                <a:sym typeface="Work Sans Light"/>
              </a:rPr>
              <a:t>facturacion</a:t>
            </a:r>
            <a:r>
              <a:rPr lang="es-MX" sz="1600" dirty="0">
                <a:solidFill>
                  <a:schemeClr val="dk1"/>
                </a:solidFill>
                <a:latin typeface="Work Sans Light"/>
                <a:ea typeface="Work Sans Light"/>
                <a:cs typeface="Work Sans Light"/>
                <a:sym typeface="Work Sans Light"/>
              </a:rPr>
              <a:t> por la DIAN genera un ticket o comprobante de venta </a:t>
            </a:r>
            <a:endParaRPr sz="1600" dirty="0">
              <a:solidFill>
                <a:schemeClr val="dk1"/>
              </a:solidFill>
              <a:latin typeface="Work Sans Light"/>
              <a:ea typeface="Work Sans Light"/>
              <a:cs typeface="Work Sans Light"/>
              <a:sym typeface="Work Sans Light"/>
            </a:endParaRPr>
          </a:p>
        </p:txBody>
      </p:sp>
      <p:pic>
        <p:nvPicPr>
          <p:cNvPr id="189" name="Google Shape;189;p1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90" name="Google Shape;190;p10"/>
          <p:cNvPicPr preferRelativeResize="0"/>
          <p:nvPr/>
        </p:nvPicPr>
        <p:blipFill>
          <a:blip r:embed="rId4">
            <a:alphaModFix/>
          </a:blip>
          <a:stretch>
            <a:fillRect/>
          </a:stretch>
        </p:blipFill>
        <p:spPr>
          <a:xfrm>
            <a:off x="405700" y="1541549"/>
            <a:ext cx="2267425" cy="2267425"/>
          </a:xfrm>
          <a:prstGeom prst="rect">
            <a:avLst/>
          </a:prstGeom>
          <a:noFill/>
          <a:ln>
            <a:noFill/>
          </a:ln>
        </p:spPr>
      </p:pic>
      <p:sp>
        <p:nvSpPr>
          <p:cNvPr id="191" name="Google Shape;191;p10"/>
          <p:cNvSpPr txBox="1"/>
          <p:nvPr/>
        </p:nvSpPr>
        <p:spPr>
          <a:xfrm>
            <a:off x="280825" y="4620450"/>
            <a:ext cx="8737200"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Administrador(es) del sistema podrán iniciar sesión, administrar la visibilidad de productos según su stock, gestionar los datos de estos como el precio y descripción</a:t>
            </a:r>
            <a:endParaRPr dirty="0"/>
          </a:p>
        </p:txBody>
      </p:sp>
      <p:pic>
        <p:nvPicPr>
          <p:cNvPr id="192" name="Google Shape;192;p10"/>
          <p:cNvPicPr preferRelativeResize="0"/>
          <p:nvPr/>
        </p:nvPicPr>
        <p:blipFill>
          <a:blip r:embed="rId5">
            <a:alphaModFix/>
          </a:blip>
          <a:stretch>
            <a:fillRect/>
          </a:stretch>
        </p:blipFill>
        <p:spPr>
          <a:xfrm>
            <a:off x="9339200" y="3864301"/>
            <a:ext cx="2397175" cy="2397175"/>
          </a:xfrm>
          <a:prstGeom prst="rect">
            <a:avLst/>
          </a:prstGeom>
          <a:noFill/>
          <a:ln>
            <a:noFill/>
          </a:ln>
        </p:spPr>
      </p:pic>
      <p:pic>
        <p:nvPicPr>
          <p:cNvPr id="193" name="Google Shape;193;p1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3D4760B4-944F-2F2A-1A61-4192CCCAA611}"/>
              </a:ext>
            </a:extLst>
          </p:cNvPr>
          <p:cNvPicPr>
            <a:picLocks noChangeAspect="1"/>
          </p:cNvPicPr>
          <p:nvPr/>
        </p:nvPicPr>
        <p:blipFill>
          <a:blip r:embed="rId6"/>
          <a:stretch>
            <a:fillRect/>
          </a:stretch>
        </p:blipFill>
        <p:spPr>
          <a:xfrm>
            <a:off x="8378378" y="164723"/>
            <a:ext cx="1217077" cy="12170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1"/>
          <p:cNvSpPr txBox="1"/>
          <p:nvPr/>
        </p:nvSpPr>
        <p:spPr>
          <a:xfrm>
            <a:off x="456236" y="434948"/>
            <a:ext cx="105156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a:solidFill>
                  <a:srgbClr val="0C0C0C"/>
                </a:solidFill>
                <a:latin typeface="Work Sans Medium"/>
                <a:ea typeface="Work Sans Medium"/>
                <a:cs typeface="Work Sans Medium"/>
                <a:sym typeface="Work Sans Medium"/>
              </a:rPr>
              <a:t>Alcance</a:t>
            </a:r>
            <a:endParaRPr/>
          </a:p>
        </p:txBody>
      </p:sp>
      <p:sp>
        <p:nvSpPr>
          <p:cNvPr id="201" name="Google Shape;201;p11"/>
          <p:cNvSpPr txBox="1"/>
          <p:nvPr/>
        </p:nvSpPr>
        <p:spPr>
          <a:xfrm>
            <a:off x="4012450" y="1882675"/>
            <a:ext cx="7292400" cy="1077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El sistema no envía los productos al cliente, el sistema es un intermediario entre el cliente y la empresa para que este pueda adquirir los productos de esta respectivamente. Los envíos son responsabilidad de </a:t>
            </a:r>
            <a:r>
              <a:rPr lang="es-MX" sz="1600" dirty="0" err="1">
                <a:solidFill>
                  <a:schemeClr val="dk1"/>
                </a:solidFill>
                <a:latin typeface="Work Sans Light"/>
                <a:ea typeface="Work Sans Light"/>
                <a:cs typeface="Work Sans Light"/>
                <a:sym typeface="Work Sans Light"/>
              </a:rPr>
              <a:t>Innovation</a:t>
            </a:r>
            <a:r>
              <a:rPr lang="es-MX" sz="1600" dirty="0">
                <a:solidFill>
                  <a:schemeClr val="dk1"/>
                </a:solidFill>
                <a:latin typeface="Work Sans Light"/>
                <a:ea typeface="Work Sans Light"/>
                <a:cs typeface="Work Sans Light"/>
                <a:sym typeface="Work Sans Light"/>
              </a:rPr>
              <a:t> </a:t>
            </a:r>
            <a:r>
              <a:rPr lang="es-MX" sz="1600" dirty="0" err="1">
                <a:solidFill>
                  <a:schemeClr val="dk1"/>
                </a:solidFill>
                <a:latin typeface="Work Sans Light"/>
                <a:ea typeface="Work Sans Light"/>
                <a:cs typeface="Work Sans Light"/>
                <a:sym typeface="Work Sans Light"/>
              </a:rPr>
              <a:t>Fusion</a:t>
            </a:r>
            <a:r>
              <a:rPr lang="es-MX" sz="1600" dirty="0">
                <a:solidFill>
                  <a:schemeClr val="dk1"/>
                </a:solidFill>
                <a:latin typeface="Work Sans Light"/>
                <a:ea typeface="Work Sans Light"/>
                <a:cs typeface="Work Sans Light"/>
                <a:sym typeface="Work Sans Light"/>
              </a:rPr>
              <a:t> y la empresa de envíos.</a:t>
            </a:r>
            <a:endParaRPr dirty="0"/>
          </a:p>
        </p:txBody>
      </p:sp>
      <p:pic>
        <p:nvPicPr>
          <p:cNvPr id="202" name="Google Shape;202;p11"/>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03" name="Google Shape;203;p11"/>
          <p:cNvPicPr preferRelativeResize="0"/>
          <p:nvPr/>
        </p:nvPicPr>
        <p:blipFill>
          <a:blip r:embed="rId4">
            <a:alphaModFix/>
          </a:blip>
          <a:stretch>
            <a:fillRect/>
          </a:stretch>
        </p:blipFill>
        <p:spPr>
          <a:xfrm>
            <a:off x="734050" y="1553263"/>
            <a:ext cx="1905000" cy="1905000"/>
          </a:xfrm>
          <a:prstGeom prst="rect">
            <a:avLst/>
          </a:prstGeom>
          <a:noFill/>
          <a:ln>
            <a:noFill/>
          </a:ln>
        </p:spPr>
      </p:pic>
      <p:sp>
        <p:nvSpPr>
          <p:cNvPr id="204" name="Google Shape;204;p11"/>
          <p:cNvSpPr txBox="1"/>
          <p:nvPr/>
        </p:nvSpPr>
        <p:spPr>
          <a:xfrm>
            <a:off x="827850" y="4275825"/>
            <a:ext cx="6837000" cy="1323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a:solidFill>
                  <a:schemeClr val="dk1"/>
                </a:solidFill>
                <a:latin typeface="Work Sans Light"/>
                <a:ea typeface="Work Sans Light"/>
                <a:cs typeface="Work Sans Light"/>
                <a:sym typeface="Work Sans Light"/>
              </a:rPr>
              <a:t>El aplicativo está siendo realizado bajo el patrón arquitectónico MVC (modelo vista controlador), usando como lenguaje de programación JAVA (JDK 21), Se usa React (React 19.1) como framework para el frontend del aplicativo, (SPRINGBOOT 3.5.5) , (</a:t>
            </a:r>
            <a:r>
              <a:rPr lang="es-MX" sz="1600" u="sng">
                <a:solidFill>
                  <a:schemeClr val="hlink"/>
                </a:solidFill>
                <a:latin typeface="Work Sans Light"/>
                <a:ea typeface="Work Sans Light"/>
                <a:cs typeface="Work Sans Light"/>
                <a:sym typeface="Work Sans Light"/>
                <a:hlinkClick r:id="rId5"/>
              </a:rPr>
              <a:t>NODE.JS</a:t>
            </a:r>
            <a:r>
              <a:rPr lang="es-MX" sz="1600">
                <a:solidFill>
                  <a:schemeClr val="dk1"/>
                </a:solidFill>
                <a:latin typeface="Work Sans Light"/>
                <a:ea typeface="Work Sans Light"/>
                <a:cs typeface="Work Sans Light"/>
                <a:sym typeface="Work Sans Light"/>
              </a:rPr>
              <a:t> 22.18.0) Y (NPM 10.9.3)</a:t>
            </a:r>
            <a:endParaRPr/>
          </a:p>
        </p:txBody>
      </p:sp>
      <p:pic>
        <p:nvPicPr>
          <p:cNvPr id="205" name="Google Shape;205;p11"/>
          <p:cNvPicPr preferRelativeResize="0"/>
          <p:nvPr/>
        </p:nvPicPr>
        <p:blipFill>
          <a:blip r:embed="rId6">
            <a:alphaModFix/>
          </a:blip>
          <a:stretch>
            <a:fillRect/>
          </a:stretch>
        </p:blipFill>
        <p:spPr>
          <a:xfrm>
            <a:off x="8189000" y="3794178"/>
            <a:ext cx="3472425" cy="2040600"/>
          </a:xfrm>
          <a:prstGeom prst="rect">
            <a:avLst/>
          </a:prstGeom>
          <a:noFill/>
          <a:ln>
            <a:noFill/>
          </a:ln>
        </p:spPr>
      </p:pic>
      <p:pic>
        <p:nvPicPr>
          <p:cNvPr id="206" name="Google Shape;206;p11"/>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899C0858-8D2E-F02C-C9FF-0DF32F2CC0AA}"/>
              </a:ext>
            </a:extLst>
          </p:cNvPr>
          <p:cNvPicPr>
            <a:picLocks noChangeAspect="1"/>
          </p:cNvPicPr>
          <p:nvPr/>
        </p:nvPicPr>
        <p:blipFill>
          <a:blip r:embed="rId7"/>
          <a:stretch>
            <a:fillRect/>
          </a:stretch>
        </p:blipFill>
        <p:spPr>
          <a:xfrm>
            <a:off x="8378378" y="164723"/>
            <a:ext cx="1217077" cy="121707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36393dac501_0_0"/>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dirty="0">
                <a:solidFill>
                  <a:schemeClr val="lt1"/>
                </a:solidFill>
                <a:latin typeface="Work Sans Medium"/>
                <a:ea typeface="Work Sans Medium"/>
                <a:cs typeface="Work Sans Medium"/>
                <a:sym typeface="Work Sans Medium"/>
              </a:rPr>
              <a:t>Modelo de calidad CMMI</a:t>
            </a:r>
            <a:endParaRPr dirty="0"/>
          </a:p>
        </p:txBody>
      </p:sp>
      <p:pic>
        <p:nvPicPr>
          <p:cNvPr id="142" name="Google Shape;142;g36393dac501_0_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43" name="Google Shape;143;g36393dac501_0_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FAE1EDB6-BB23-1473-62AE-4CE222232915}"/>
              </a:ext>
            </a:extLst>
          </p:cNvPr>
          <p:cNvPicPr>
            <a:picLocks noChangeAspect="1"/>
          </p:cNvPicPr>
          <p:nvPr/>
        </p:nvPicPr>
        <p:blipFill>
          <a:blip r:embed="rId4"/>
          <a:stretch>
            <a:fillRect/>
          </a:stretch>
        </p:blipFill>
        <p:spPr>
          <a:xfrm>
            <a:off x="8378378" y="164723"/>
            <a:ext cx="1217077" cy="1217077"/>
          </a:xfrm>
          <a:prstGeom prst="rect">
            <a:avLst/>
          </a:prstGeom>
        </p:spPr>
      </p:pic>
      <p:pic>
        <p:nvPicPr>
          <p:cNvPr id="4" name="Imagen 3">
            <a:hlinkClick r:id="rId5"/>
            <a:extLst>
              <a:ext uri="{FF2B5EF4-FFF2-40B4-BE49-F238E27FC236}">
                <a16:creationId xmlns:a16="http://schemas.microsoft.com/office/drawing/2014/main" id="{4F80EBA1-ADAF-3A7E-1404-D79A21E73FA7}"/>
              </a:ext>
            </a:extLst>
          </p:cNvPr>
          <p:cNvPicPr>
            <a:picLocks noChangeAspect="1"/>
          </p:cNvPicPr>
          <p:nvPr/>
        </p:nvPicPr>
        <p:blipFill>
          <a:blip r:embed="rId6"/>
          <a:stretch>
            <a:fillRect/>
          </a:stretch>
        </p:blipFill>
        <p:spPr>
          <a:xfrm>
            <a:off x="3121540" y="1490423"/>
            <a:ext cx="5948919" cy="5071630"/>
          </a:xfrm>
          <a:prstGeom prst="rect">
            <a:avLst/>
          </a:prstGeom>
        </p:spPr>
      </p:pic>
    </p:spTree>
    <p:extLst>
      <p:ext uri="{BB962C8B-B14F-4D97-AF65-F5344CB8AC3E}">
        <p14:creationId xmlns:p14="http://schemas.microsoft.com/office/powerpoint/2010/main" val="3303078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0"/>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dirty="0">
                <a:solidFill>
                  <a:schemeClr val="lt1"/>
                </a:solidFill>
                <a:latin typeface="Work Sans Medium"/>
                <a:ea typeface="Work Sans Medium"/>
                <a:cs typeface="Work Sans Medium"/>
                <a:sym typeface="Work Sans Medium"/>
              </a:rPr>
              <a:t>Diagrama de despliegue </a:t>
            </a:r>
            <a:endParaRPr dirty="0"/>
          </a:p>
        </p:txBody>
      </p:sp>
      <p:pic>
        <p:nvPicPr>
          <p:cNvPr id="189" name="Google Shape;189;p1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93" name="Google Shape;193;p1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3D4760B4-944F-2F2A-1A61-4192CCCAA611}"/>
              </a:ext>
            </a:extLst>
          </p:cNvPr>
          <p:cNvPicPr>
            <a:picLocks noChangeAspect="1"/>
          </p:cNvPicPr>
          <p:nvPr/>
        </p:nvPicPr>
        <p:blipFill>
          <a:blip r:embed="rId4"/>
          <a:stretch>
            <a:fillRect/>
          </a:stretch>
        </p:blipFill>
        <p:spPr>
          <a:xfrm>
            <a:off x="8378378" y="164723"/>
            <a:ext cx="1217077" cy="1217077"/>
          </a:xfrm>
          <a:prstGeom prst="rect">
            <a:avLst/>
          </a:prstGeom>
        </p:spPr>
      </p:pic>
      <p:pic>
        <p:nvPicPr>
          <p:cNvPr id="4" name="Imagen 3" descr="Diagrama, Esquemático&#10;&#10;El contenido generado por IA puede ser incorrecto.">
            <a:hlinkClick r:id="rId5"/>
            <a:extLst>
              <a:ext uri="{FF2B5EF4-FFF2-40B4-BE49-F238E27FC236}">
                <a16:creationId xmlns:a16="http://schemas.microsoft.com/office/drawing/2014/main" id="{5539D12B-9285-0A58-F7AE-7B07ACF3B023}"/>
              </a:ext>
            </a:extLst>
          </p:cNvPr>
          <p:cNvPicPr>
            <a:picLocks noChangeAspect="1"/>
          </p:cNvPicPr>
          <p:nvPr/>
        </p:nvPicPr>
        <p:blipFill>
          <a:blip r:embed="rId6"/>
          <a:stretch>
            <a:fillRect/>
          </a:stretch>
        </p:blipFill>
        <p:spPr>
          <a:xfrm>
            <a:off x="1462678" y="1677475"/>
            <a:ext cx="9266644" cy="4511311"/>
          </a:xfrm>
          <a:prstGeom prst="rect">
            <a:avLst/>
          </a:prstGeom>
        </p:spPr>
      </p:pic>
    </p:spTree>
    <p:extLst>
      <p:ext uri="{BB962C8B-B14F-4D97-AF65-F5344CB8AC3E}">
        <p14:creationId xmlns:p14="http://schemas.microsoft.com/office/powerpoint/2010/main" val="3034561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g36393dac501_4_0"/>
          <p:cNvSpPr txBox="1">
            <a:spLocks noGrp="1"/>
          </p:cNvSpPr>
          <p:nvPr>
            <p:ph type="title"/>
          </p:nvPr>
        </p:nvSpPr>
        <p:spPr>
          <a:xfrm>
            <a:off x="372353" y="21086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dirty="0">
                <a:solidFill>
                  <a:schemeClr val="lt1"/>
                </a:solidFill>
                <a:latin typeface="Work Sans Medium"/>
                <a:ea typeface="Work Sans Medium"/>
                <a:cs typeface="Work Sans Medium"/>
                <a:sym typeface="Work Sans Medium"/>
              </a:rPr>
              <a:t>Manual técnico e instalación </a:t>
            </a:r>
            <a:endParaRPr dirty="0"/>
          </a:p>
        </p:txBody>
      </p:sp>
      <p:pic>
        <p:nvPicPr>
          <p:cNvPr id="169" name="Google Shape;169;g36393dac501_4_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70" name="Google Shape;170;g36393dac501_4_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D2E8B193-DAFA-86A6-449C-054190DC5E91}"/>
              </a:ext>
            </a:extLst>
          </p:cNvPr>
          <p:cNvPicPr>
            <a:picLocks noChangeAspect="1"/>
          </p:cNvPicPr>
          <p:nvPr/>
        </p:nvPicPr>
        <p:blipFill>
          <a:blip r:embed="rId4"/>
          <a:stretch>
            <a:fillRect/>
          </a:stretch>
        </p:blipFill>
        <p:spPr>
          <a:xfrm>
            <a:off x="8611704" y="210861"/>
            <a:ext cx="983751" cy="983751"/>
          </a:xfrm>
          <a:prstGeom prst="rect">
            <a:avLst/>
          </a:prstGeom>
        </p:spPr>
      </p:pic>
      <p:pic>
        <p:nvPicPr>
          <p:cNvPr id="4" name="Imagen 3" descr="Interfaz de usuario gráfica, Texto, Aplicación, Correo electrónico&#10;&#10;El contenido generado por IA puede ser incorrecto.">
            <a:hlinkClick r:id="rId5"/>
            <a:extLst>
              <a:ext uri="{FF2B5EF4-FFF2-40B4-BE49-F238E27FC236}">
                <a16:creationId xmlns:a16="http://schemas.microsoft.com/office/drawing/2014/main" id="{94E6206E-F029-1A55-2EB5-A581CAD2B401}"/>
              </a:ext>
            </a:extLst>
          </p:cNvPr>
          <p:cNvPicPr>
            <a:picLocks noChangeAspect="1"/>
          </p:cNvPicPr>
          <p:nvPr/>
        </p:nvPicPr>
        <p:blipFill>
          <a:blip r:embed="rId6"/>
          <a:stretch>
            <a:fillRect/>
          </a:stretch>
        </p:blipFill>
        <p:spPr>
          <a:xfrm>
            <a:off x="2397206" y="1536561"/>
            <a:ext cx="7397587" cy="4781368"/>
          </a:xfrm>
          <a:prstGeom prst="rect">
            <a:avLst/>
          </a:prstGeom>
        </p:spPr>
      </p:pic>
    </p:spTree>
    <p:extLst>
      <p:ext uri="{BB962C8B-B14F-4D97-AF65-F5344CB8AC3E}">
        <p14:creationId xmlns:p14="http://schemas.microsoft.com/office/powerpoint/2010/main" val="3686933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0"/>
          <p:cNvSpPr txBox="1">
            <a:spLocks noGrp="1"/>
          </p:cNvSpPr>
          <p:nvPr>
            <p:ph type="title"/>
          </p:nvPr>
        </p:nvSpPr>
        <p:spPr>
          <a:xfrm>
            <a:off x="154100" y="1077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dirty="0">
                <a:solidFill>
                  <a:schemeClr val="lt1"/>
                </a:solidFill>
                <a:latin typeface="Work Sans Medium"/>
                <a:ea typeface="Work Sans Medium"/>
                <a:cs typeface="Work Sans Medium"/>
                <a:sym typeface="Work Sans Medium"/>
              </a:rPr>
              <a:t>Manual migración y respaldo</a:t>
            </a:r>
            <a:endParaRPr dirty="0"/>
          </a:p>
        </p:txBody>
      </p:sp>
      <p:pic>
        <p:nvPicPr>
          <p:cNvPr id="189" name="Google Shape;189;p1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93" name="Google Shape;193;p1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3D4760B4-944F-2F2A-1A61-4192CCCAA611}"/>
              </a:ext>
            </a:extLst>
          </p:cNvPr>
          <p:cNvPicPr>
            <a:picLocks noChangeAspect="1"/>
          </p:cNvPicPr>
          <p:nvPr/>
        </p:nvPicPr>
        <p:blipFill>
          <a:blip r:embed="rId4"/>
          <a:stretch>
            <a:fillRect/>
          </a:stretch>
        </p:blipFill>
        <p:spPr>
          <a:xfrm>
            <a:off x="8670744" y="319503"/>
            <a:ext cx="875109" cy="875109"/>
          </a:xfrm>
          <a:prstGeom prst="rect">
            <a:avLst/>
          </a:prstGeom>
        </p:spPr>
      </p:pic>
      <p:pic>
        <p:nvPicPr>
          <p:cNvPr id="4" name="Imagen 3" descr="Tabla&#10;&#10;El contenido generado por IA puede ser incorrecto.">
            <a:hlinkClick r:id="rId5"/>
            <a:extLst>
              <a:ext uri="{FF2B5EF4-FFF2-40B4-BE49-F238E27FC236}">
                <a16:creationId xmlns:a16="http://schemas.microsoft.com/office/drawing/2014/main" id="{3704C5FE-70A0-3545-802A-10DC3452A7B3}"/>
              </a:ext>
            </a:extLst>
          </p:cNvPr>
          <p:cNvPicPr>
            <a:picLocks noChangeAspect="1"/>
          </p:cNvPicPr>
          <p:nvPr/>
        </p:nvPicPr>
        <p:blipFill>
          <a:blip r:embed="rId6"/>
          <a:stretch>
            <a:fillRect/>
          </a:stretch>
        </p:blipFill>
        <p:spPr>
          <a:xfrm>
            <a:off x="3710275" y="1534270"/>
            <a:ext cx="4771449" cy="5323730"/>
          </a:xfrm>
          <a:prstGeom prst="rect">
            <a:avLst/>
          </a:prstGeom>
        </p:spPr>
      </p:pic>
    </p:spTree>
    <p:extLst>
      <p:ext uri="{BB962C8B-B14F-4D97-AF65-F5344CB8AC3E}">
        <p14:creationId xmlns:p14="http://schemas.microsoft.com/office/powerpoint/2010/main" val="2676233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g36393dac501_4_0"/>
          <p:cNvSpPr txBox="1">
            <a:spLocks noGrp="1"/>
          </p:cNvSpPr>
          <p:nvPr>
            <p:ph type="title"/>
          </p:nvPr>
        </p:nvSpPr>
        <p:spPr>
          <a:xfrm>
            <a:off x="372353" y="21086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dirty="0">
                <a:solidFill>
                  <a:schemeClr val="lt1"/>
                </a:solidFill>
                <a:latin typeface="Work Sans Medium"/>
                <a:ea typeface="Work Sans Medium"/>
                <a:cs typeface="Work Sans Medium"/>
                <a:sym typeface="Work Sans Medium"/>
              </a:rPr>
              <a:t>Manual de mantenimiento </a:t>
            </a:r>
            <a:endParaRPr dirty="0"/>
          </a:p>
        </p:txBody>
      </p:sp>
      <p:pic>
        <p:nvPicPr>
          <p:cNvPr id="169" name="Google Shape;169;g36393dac501_4_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70" name="Google Shape;170;g36393dac501_4_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D2E8B193-DAFA-86A6-449C-054190DC5E91}"/>
              </a:ext>
            </a:extLst>
          </p:cNvPr>
          <p:cNvPicPr>
            <a:picLocks noChangeAspect="1"/>
          </p:cNvPicPr>
          <p:nvPr/>
        </p:nvPicPr>
        <p:blipFill>
          <a:blip r:embed="rId4"/>
          <a:stretch>
            <a:fillRect/>
          </a:stretch>
        </p:blipFill>
        <p:spPr>
          <a:xfrm>
            <a:off x="8611704" y="210861"/>
            <a:ext cx="983751" cy="983751"/>
          </a:xfrm>
          <a:prstGeom prst="rect">
            <a:avLst/>
          </a:prstGeom>
        </p:spPr>
      </p:pic>
      <p:pic>
        <p:nvPicPr>
          <p:cNvPr id="4" name="Imagen 3" descr="Texto, Carta&#10;&#10;El contenido generado por IA puede ser incorrecto.">
            <a:hlinkClick r:id="rId5"/>
            <a:extLst>
              <a:ext uri="{FF2B5EF4-FFF2-40B4-BE49-F238E27FC236}">
                <a16:creationId xmlns:a16="http://schemas.microsoft.com/office/drawing/2014/main" id="{87D6FE0C-F928-083D-6E99-DEF3E304E5E7}"/>
              </a:ext>
            </a:extLst>
          </p:cNvPr>
          <p:cNvPicPr>
            <a:picLocks noChangeAspect="1"/>
          </p:cNvPicPr>
          <p:nvPr/>
        </p:nvPicPr>
        <p:blipFill>
          <a:blip r:embed="rId6"/>
          <a:srcRect l="526" t="6659" r="-526"/>
          <a:stretch/>
        </p:blipFill>
        <p:spPr>
          <a:xfrm>
            <a:off x="3596618" y="1536562"/>
            <a:ext cx="4654753" cy="5302388"/>
          </a:xfrm>
          <a:prstGeom prst="rect">
            <a:avLst/>
          </a:prstGeom>
        </p:spPr>
      </p:pic>
    </p:spTree>
    <p:extLst>
      <p:ext uri="{BB962C8B-B14F-4D97-AF65-F5344CB8AC3E}">
        <p14:creationId xmlns:p14="http://schemas.microsoft.com/office/powerpoint/2010/main" val="3246315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g36393dac501_4_0"/>
          <p:cNvSpPr txBox="1">
            <a:spLocks noGrp="1"/>
          </p:cNvSpPr>
          <p:nvPr>
            <p:ph type="title"/>
          </p:nvPr>
        </p:nvSpPr>
        <p:spPr>
          <a:xfrm>
            <a:off x="372353" y="21086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dirty="0">
                <a:solidFill>
                  <a:schemeClr val="lt1"/>
                </a:solidFill>
                <a:latin typeface="Work Sans Medium"/>
                <a:ea typeface="Work Sans Medium"/>
                <a:cs typeface="Work Sans Medium"/>
                <a:sym typeface="Work Sans Medium"/>
              </a:rPr>
              <a:t>Manual de capacitación  </a:t>
            </a:r>
            <a:endParaRPr dirty="0"/>
          </a:p>
        </p:txBody>
      </p:sp>
      <p:pic>
        <p:nvPicPr>
          <p:cNvPr id="169" name="Google Shape;169;g36393dac501_4_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70" name="Google Shape;170;g36393dac501_4_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D2E8B193-DAFA-86A6-449C-054190DC5E91}"/>
              </a:ext>
            </a:extLst>
          </p:cNvPr>
          <p:cNvPicPr>
            <a:picLocks noChangeAspect="1"/>
          </p:cNvPicPr>
          <p:nvPr/>
        </p:nvPicPr>
        <p:blipFill>
          <a:blip r:embed="rId4"/>
          <a:stretch>
            <a:fillRect/>
          </a:stretch>
        </p:blipFill>
        <p:spPr>
          <a:xfrm>
            <a:off x="8611704" y="210861"/>
            <a:ext cx="983751" cy="983751"/>
          </a:xfrm>
          <a:prstGeom prst="rect">
            <a:avLst/>
          </a:prstGeom>
        </p:spPr>
      </p:pic>
      <p:pic>
        <p:nvPicPr>
          <p:cNvPr id="4" name="Imagen 3" descr="Tabla&#10;&#10;El contenido generado por IA puede ser incorrecto.">
            <a:hlinkClick r:id="rId5"/>
            <a:extLst>
              <a:ext uri="{FF2B5EF4-FFF2-40B4-BE49-F238E27FC236}">
                <a16:creationId xmlns:a16="http://schemas.microsoft.com/office/drawing/2014/main" id="{D6EA0266-1CE3-D2CC-10C3-970E4237F059}"/>
              </a:ext>
            </a:extLst>
          </p:cNvPr>
          <p:cNvPicPr>
            <a:picLocks noChangeAspect="1"/>
          </p:cNvPicPr>
          <p:nvPr/>
        </p:nvPicPr>
        <p:blipFill>
          <a:blip r:embed="rId6"/>
          <a:stretch>
            <a:fillRect/>
          </a:stretch>
        </p:blipFill>
        <p:spPr>
          <a:xfrm>
            <a:off x="3036051" y="1536561"/>
            <a:ext cx="5575653" cy="4862553"/>
          </a:xfrm>
          <a:prstGeom prst="rect">
            <a:avLst/>
          </a:prstGeom>
        </p:spPr>
      </p:pic>
    </p:spTree>
    <p:extLst>
      <p:ext uri="{BB962C8B-B14F-4D97-AF65-F5344CB8AC3E}">
        <p14:creationId xmlns:p14="http://schemas.microsoft.com/office/powerpoint/2010/main" val="1633231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g36393dac501_4_0"/>
          <p:cNvSpPr txBox="1">
            <a:spLocks noGrp="1"/>
          </p:cNvSpPr>
          <p:nvPr>
            <p:ph type="title"/>
          </p:nvPr>
        </p:nvSpPr>
        <p:spPr>
          <a:xfrm>
            <a:off x="372353" y="21086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dirty="0">
                <a:solidFill>
                  <a:schemeClr val="lt1"/>
                </a:solidFill>
                <a:latin typeface="Work Sans Medium"/>
                <a:ea typeface="Work Sans Medium"/>
                <a:cs typeface="Work Sans Medium"/>
                <a:sym typeface="Work Sans Medium"/>
              </a:rPr>
              <a:t>Manual de usuario</a:t>
            </a:r>
            <a:endParaRPr dirty="0"/>
          </a:p>
        </p:txBody>
      </p:sp>
      <p:pic>
        <p:nvPicPr>
          <p:cNvPr id="169" name="Google Shape;169;g36393dac501_4_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170" name="Google Shape;170;g36393dac501_4_0"/>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D2E8B193-DAFA-86A6-449C-054190DC5E91}"/>
              </a:ext>
            </a:extLst>
          </p:cNvPr>
          <p:cNvPicPr>
            <a:picLocks noChangeAspect="1"/>
          </p:cNvPicPr>
          <p:nvPr/>
        </p:nvPicPr>
        <p:blipFill>
          <a:blip r:embed="rId4"/>
          <a:stretch>
            <a:fillRect/>
          </a:stretch>
        </p:blipFill>
        <p:spPr>
          <a:xfrm>
            <a:off x="8611704" y="210861"/>
            <a:ext cx="983751" cy="983751"/>
          </a:xfrm>
          <a:prstGeom prst="rect">
            <a:avLst/>
          </a:prstGeom>
        </p:spPr>
      </p:pic>
      <p:pic>
        <p:nvPicPr>
          <p:cNvPr id="4" name="Imagen 3" descr="Interfaz de usuario gráfica, Aplicación&#10;&#10;El contenido generado por IA puede ser incorrecto.">
            <a:hlinkClick r:id="rId5"/>
            <a:extLst>
              <a:ext uri="{FF2B5EF4-FFF2-40B4-BE49-F238E27FC236}">
                <a16:creationId xmlns:a16="http://schemas.microsoft.com/office/drawing/2014/main" id="{AA97C2B6-D978-5E53-F744-824B1C41A81E}"/>
              </a:ext>
            </a:extLst>
          </p:cNvPr>
          <p:cNvPicPr>
            <a:picLocks noChangeAspect="1"/>
          </p:cNvPicPr>
          <p:nvPr/>
        </p:nvPicPr>
        <p:blipFill>
          <a:blip r:embed="rId6"/>
          <a:stretch>
            <a:fillRect/>
          </a:stretch>
        </p:blipFill>
        <p:spPr>
          <a:xfrm>
            <a:off x="3995898" y="1536560"/>
            <a:ext cx="4531209" cy="5321439"/>
          </a:xfrm>
          <a:prstGeom prst="rect">
            <a:avLst/>
          </a:prstGeom>
        </p:spPr>
      </p:pic>
    </p:spTree>
    <p:extLst>
      <p:ext uri="{BB962C8B-B14F-4D97-AF65-F5344CB8AC3E}">
        <p14:creationId xmlns:p14="http://schemas.microsoft.com/office/powerpoint/2010/main" val="1992702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4"/>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Work Sans Medium"/>
              <a:buNone/>
            </a:pPr>
            <a:r>
              <a:rPr lang="es-MX" sz="3200">
                <a:solidFill>
                  <a:schemeClr val="lt1"/>
                </a:solidFill>
                <a:latin typeface="Work Sans Medium"/>
                <a:ea typeface="Work Sans Medium"/>
                <a:cs typeface="Work Sans Medium"/>
                <a:sym typeface="Work Sans Medium"/>
              </a:rPr>
              <a:t>Entregables Proyecto Formativo</a:t>
            </a:r>
            <a:br>
              <a:rPr lang="es-MX" sz="3200">
                <a:solidFill>
                  <a:schemeClr val="lt1"/>
                </a:solidFill>
                <a:latin typeface="Work Sans Medium"/>
                <a:ea typeface="Work Sans Medium"/>
                <a:cs typeface="Work Sans Medium"/>
                <a:sym typeface="Work Sans Medium"/>
              </a:rPr>
            </a:br>
            <a:r>
              <a:rPr lang="es-MX"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sp>
        <p:nvSpPr>
          <p:cNvPr id="215" name="Google Shape;215;p14"/>
          <p:cNvSpPr/>
          <p:nvPr/>
        </p:nvSpPr>
        <p:spPr>
          <a:xfrm>
            <a:off x="579652" y="1787235"/>
            <a:ext cx="972000" cy="456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14"/>
          <p:cNvSpPr txBox="1"/>
          <p:nvPr/>
        </p:nvSpPr>
        <p:spPr>
          <a:xfrm>
            <a:off x="456213" y="1926673"/>
            <a:ext cx="3854400" cy="41868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Char char="•"/>
            </a:pPr>
            <a:r>
              <a:rPr lang="es-MX" dirty="0">
                <a:solidFill>
                  <a:schemeClr val="dk1"/>
                </a:solidFill>
                <a:latin typeface="Work Sans Light"/>
                <a:ea typeface="Work Sans Light"/>
                <a:cs typeface="Work Sans Light"/>
                <a:sym typeface="Work Sans Light"/>
              </a:rPr>
              <a:t>Nombre proyecto - Objetivo general - Objetivos especí­ficos - Planteamiento del problema y pregunta problema - Alcance del proyecto - Justificación</a:t>
            </a:r>
            <a:endParaRPr dirty="0">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dirty="0">
                <a:solidFill>
                  <a:schemeClr val="dk1"/>
                </a:solidFill>
                <a:latin typeface="Work Sans Light"/>
                <a:ea typeface="Work Sans Light"/>
                <a:cs typeface="Work Sans Light"/>
                <a:sym typeface="Work Sans Light"/>
              </a:rPr>
              <a:t>BPMN del proceso de negocio, no del aplicativo a desarrollar)</a:t>
            </a:r>
            <a:endParaRPr dirty="0">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dirty="0">
                <a:solidFill>
                  <a:schemeClr val="dk1"/>
                </a:solidFill>
                <a:latin typeface="Work Sans Light"/>
                <a:ea typeface="Work Sans Light"/>
                <a:cs typeface="Work Sans Light"/>
                <a:sym typeface="Work Sans Light"/>
              </a:rPr>
              <a:t>Técnicas de recolección de información y análisis de resultados estadística descriptiva </a:t>
            </a:r>
            <a:endParaRPr dirty="0">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dirty="0">
                <a:solidFill>
                  <a:schemeClr val="dk1"/>
                </a:solidFill>
                <a:latin typeface="Work Sans Light"/>
                <a:ea typeface="Work Sans Light"/>
                <a:cs typeface="Work Sans Light"/>
                <a:sym typeface="Work Sans Light"/>
              </a:rPr>
              <a:t>Estándar IEEE </a:t>
            </a:r>
            <a:r>
              <a:rPr lang="es-MX" dirty="0" err="1">
                <a:solidFill>
                  <a:schemeClr val="dk1"/>
                </a:solidFill>
                <a:latin typeface="Work Sans Light"/>
                <a:ea typeface="Work Sans Light"/>
                <a:cs typeface="Work Sans Light"/>
                <a:sym typeface="Work Sans Light"/>
              </a:rPr>
              <a:t>Std</a:t>
            </a:r>
            <a:r>
              <a:rPr lang="es-MX" dirty="0">
                <a:solidFill>
                  <a:schemeClr val="dk1"/>
                </a:solidFill>
                <a:latin typeface="Work Sans Light"/>
                <a:ea typeface="Work Sans Light"/>
                <a:cs typeface="Work Sans Light"/>
                <a:sym typeface="Work Sans Light"/>
              </a:rPr>
              <a:t> 830-1998, IEEE 1233-1998, IEEE 29148:2018.</a:t>
            </a:r>
            <a:endParaRPr dirty="0">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dirty="0">
                <a:solidFill>
                  <a:schemeClr val="dk1"/>
                </a:solidFill>
                <a:latin typeface="Work Sans Light"/>
                <a:ea typeface="Work Sans Light"/>
                <a:cs typeface="Work Sans Light"/>
                <a:sym typeface="Work Sans Light"/>
              </a:rPr>
              <a:t>Diagrama de casos de uso y documentación de casos de uso (formato de casos de uso extendido).</a:t>
            </a:r>
            <a:endParaRPr dirty="0">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dirty="0">
                <a:solidFill>
                  <a:schemeClr val="dk1"/>
                </a:solidFill>
                <a:latin typeface="Work Sans Light"/>
                <a:ea typeface="Work Sans Light"/>
                <a:cs typeface="Work Sans Light"/>
                <a:sym typeface="Work Sans Light"/>
              </a:rPr>
              <a:t>Validación de requerimientos (Realización de un prototipo usando mockups o </a:t>
            </a:r>
            <a:r>
              <a:rPr lang="es-MX" dirty="0" err="1">
                <a:solidFill>
                  <a:schemeClr val="dk1"/>
                </a:solidFill>
                <a:latin typeface="Work Sans Light"/>
                <a:ea typeface="Work Sans Light"/>
                <a:cs typeface="Work Sans Light"/>
                <a:sym typeface="Work Sans Light"/>
              </a:rPr>
              <a:t>wireframes</a:t>
            </a:r>
            <a:r>
              <a:rPr lang="es-MX" dirty="0">
                <a:solidFill>
                  <a:schemeClr val="dk1"/>
                </a:solidFill>
                <a:latin typeface="Work Sans Light"/>
                <a:ea typeface="Work Sans Light"/>
                <a:cs typeface="Work Sans Light"/>
                <a:sym typeface="Work Sans Light"/>
              </a:rPr>
              <a:t>)</a:t>
            </a:r>
            <a:endParaRPr dirty="0">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dirty="0">
                <a:solidFill>
                  <a:schemeClr val="dk1"/>
                </a:solidFill>
                <a:latin typeface="Work Sans Light"/>
                <a:ea typeface="Work Sans Light"/>
                <a:cs typeface="Work Sans Light"/>
                <a:sym typeface="Work Sans Light"/>
              </a:rPr>
              <a:t>Fichas técnicas. </a:t>
            </a:r>
            <a:endParaRPr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dirty="0">
              <a:solidFill>
                <a:schemeClr val="dk1"/>
              </a:solidFill>
              <a:latin typeface="Work Sans Light"/>
              <a:ea typeface="Work Sans Light"/>
              <a:cs typeface="Work Sans Light"/>
              <a:sym typeface="Work Sans Light"/>
            </a:endParaRPr>
          </a:p>
        </p:txBody>
      </p:sp>
      <p:grpSp>
        <p:nvGrpSpPr>
          <p:cNvPr id="217" name="Google Shape;217;p14"/>
          <p:cNvGrpSpPr/>
          <p:nvPr/>
        </p:nvGrpSpPr>
        <p:grpSpPr>
          <a:xfrm>
            <a:off x="518475" y="1483910"/>
            <a:ext cx="3239100" cy="294480"/>
            <a:chOff x="126603" y="-1251822"/>
            <a:chExt cx="3239100" cy="2796582"/>
          </a:xfrm>
        </p:grpSpPr>
        <p:sp>
          <p:nvSpPr>
            <p:cNvPr id="218" name="Google Shape;218;p14"/>
            <p:cNvSpPr/>
            <p:nvPr/>
          </p:nvSpPr>
          <p:spPr>
            <a:xfrm>
              <a:off x="922388" y="1499160"/>
              <a:ext cx="972000" cy="456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 name="Google Shape;219;p14"/>
            <p:cNvSpPr txBox="1"/>
            <p:nvPr/>
          </p:nvSpPr>
          <p:spPr>
            <a:xfrm>
              <a:off x="126603" y="-1251822"/>
              <a:ext cx="3239100" cy="294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Segundo Trimestre</a:t>
              </a:r>
              <a:endParaRPr/>
            </a:p>
          </p:txBody>
        </p:sp>
      </p:grpSp>
      <p:grpSp>
        <p:nvGrpSpPr>
          <p:cNvPr id="220" name="Google Shape;220;p14"/>
          <p:cNvGrpSpPr/>
          <p:nvPr/>
        </p:nvGrpSpPr>
        <p:grpSpPr>
          <a:xfrm>
            <a:off x="5250780" y="1586425"/>
            <a:ext cx="3328015" cy="447313"/>
            <a:chOff x="781688" y="1395228"/>
            <a:chExt cx="3328015" cy="447313"/>
          </a:xfrm>
        </p:grpSpPr>
        <p:sp>
          <p:nvSpPr>
            <p:cNvPr id="221" name="Google Shape;221;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 name="Google Shape;222;p14"/>
            <p:cNvSpPr txBox="1"/>
            <p:nvPr/>
          </p:nvSpPr>
          <p:spPr>
            <a:xfrm>
              <a:off x="870603" y="1395228"/>
              <a:ext cx="3239100" cy="294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Tercer Trimestre</a:t>
              </a:r>
              <a:endParaRPr/>
            </a:p>
          </p:txBody>
        </p:sp>
      </p:grpSp>
      <p:sp>
        <p:nvSpPr>
          <p:cNvPr id="223" name="Google Shape;223;p14"/>
          <p:cNvSpPr txBox="1"/>
          <p:nvPr/>
        </p:nvSpPr>
        <p:spPr>
          <a:xfrm>
            <a:off x="5220433" y="2184131"/>
            <a:ext cx="3854400" cy="22473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Modelo relacional notación crows foot</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Normalización del modelo relacional identificando las 3FN</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En el proyecto se evidencia el diccionario de datos</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Diagrama de clases.</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Diagrama de distribución.</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Prototipo navegable del software (Html - CSS)</a:t>
            </a:r>
            <a:endParaRPr>
              <a:solidFill>
                <a:schemeClr val="dk1"/>
              </a:solidFill>
              <a:latin typeface="Work Sans Light"/>
              <a:ea typeface="Work Sans Light"/>
              <a:cs typeface="Work Sans Light"/>
              <a:sym typeface="Work Sans Light"/>
            </a:endParaRPr>
          </a:p>
          <a:p>
            <a:pPr marL="457200" marR="0" lvl="0" indent="0" algn="l" rtl="0">
              <a:spcBef>
                <a:spcPts val="0"/>
              </a:spcBef>
              <a:spcAft>
                <a:spcPts val="0"/>
              </a:spcAft>
              <a:buNone/>
            </a:pPr>
            <a:endParaRPr>
              <a:solidFill>
                <a:schemeClr val="dk1"/>
              </a:solidFill>
              <a:latin typeface="Work Sans Light"/>
              <a:ea typeface="Work Sans Light"/>
              <a:cs typeface="Work Sans Light"/>
              <a:sym typeface="Work Sans Light"/>
            </a:endParaRPr>
          </a:p>
        </p:txBody>
      </p:sp>
      <p:grpSp>
        <p:nvGrpSpPr>
          <p:cNvPr id="224" name="Google Shape;224;p14"/>
          <p:cNvGrpSpPr/>
          <p:nvPr/>
        </p:nvGrpSpPr>
        <p:grpSpPr>
          <a:xfrm>
            <a:off x="5155290" y="4318019"/>
            <a:ext cx="3379040" cy="463794"/>
            <a:chOff x="846638" y="-350472"/>
            <a:chExt cx="3379040" cy="463794"/>
          </a:xfrm>
        </p:grpSpPr>
        <p:sp>
          <p:nvSpPr>
            <p:cNvPr id="225" name="Google Shape;225;p14"/>
            <p:cNvSpPr/>
            <p:nvPr/>
          </p:nvSpPr>
          <p:spPr>
            <a:xfrm>
              <a:off x="846638" y="67722"/>
              <a:ext cx="972000" cy="456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14"/>
            <p:cNvSpPr txBox="1"/>
            <p:nvPr/>
          </p:nvSpPr>
          <p:spPr>
            <a:xfrm>
              <a:off x="986578" y="-350472"/>
              <a:ext cx="3239100" cy="294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Cuarto Trimestre</a:t>
              </a:r>
              <a:endParaRPr/>
            </a:p>
          </p:txBody>
        </p:sp>
      </p:grpSp>
      <p:sp>
        <p:nvSpPr>
          <p:cNvPr id="227" name="Google Shape;227;p14"/>
          <p:cNvSpPr txBox="1"/>
          <p:nvPr/>
        </p:nvSpPr>
        <p:spPr>
          <a:xfrm>
            <a:off x="5220430" y="4781825"/>
            <a:ext cx="4941900" cy="1385400"/>
          </a:xfrm>
          <a:prstGeom prst="rect">
            <a:avLst/>
          </a:prstGeom>
          <a:noFill/>
          <a:ln>
            <a:noFill/>
          </a:ln>
        </p:spPr>
        <p:txBody>
          <a:bodyPr spcFirstLastPara="1" wrap="square" lIns="91425" tIns="45700" rIns="91425" bIns="45700" anchor="t" anchorCtr="0">
            <a:spAutoFit/>
          </a:bodyPr>
          <a:lstStyle/>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la construcción de la base de datos usando sentencias DDL (SQL)</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Uso de la base de datos a través de sentencias DML (SQL),</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Base de Datos con encriptación.</a:t>
            </a:r>
            <a:endParaRPr>
              <a:solidFill>
                <a:schemeClr val="dk1"/>
              </a:solidFill>
              <a:latin typeface="Work Sans Light"/>
              <a:ea typeface="Work Sans Light"/>
              <a:cs typeface="Work Sans Light"/>
              <a:sym typeface="Work Sans Light"/>
            </a:endParaRPr>
          </a:p>
          <a:p>
            <a:pPr marL="457200" lvl="0" indent="-317500" algn="l" rtl="0">
              <a:spcBef>
                <a:spcPts val="0"/>
              </a:spcBef>
              <a:spcAft>
                <a:spcPts val="0"/>
              </a:spcAft>
              <a:buClr>
                <a:schemeClr val="dk1"/>
              </a:buClr>
              <a:buSzPts val="1400"/>
              <a:buChar char="•"/>
            </a:pPr>
            <a:r>
              <a:rPr lang="es-MX">
                <a:solidFill>
                  <a:schemeClr val="dk1"/>
                </a:solidFill>
                <a:latin typeface="Work Sans Light"/>
                <a:ea typeface="Work Sans Light"/>
                <a:cs typeface="Work Sans Light"/>
                <a:sym typeface="Work Sans Light"/>
              </a:rPr>
              <a:t>FrontEnd Funcional utilizando Framework </a:t>
            </a:r>
            <a:endParaRPr>
              <a:solidFill>
                <a:schemeClr val="dk1"/>
              </a:solidFill>
              <a:latin typeface="Work Sans Light"/>
              <a:ea typeface="Work Sans Light"/>
              <a:cs typeface="Work Sans Light"/>
              <a:sym typeface="Work Sans Light"/>
            </a:endParaRPr>
          </a:p>
        </p:txBody>
      </p:sp>
      <p:pic>
        <p:nvPicPr>
          <p:cNvPr id="228" name="Google Shape;228;p14"/>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65AA3F47-F50E-0FC9-4CE0-D77264A2FA99}"/>
              </a:ext>
            </a:extLst>
          </p:cNvPr>
          <p:cNvPicPr>
            <a:picLocks noChangeAspect="1"/>
          </p:cNvPicPr>
          <p:nvPr/>
        </p:nvPicPr>
        <p:blipFill>
          <a:blip r:embed="rId4"/>
          <a:stretch>
            <a:fillRect/>
          </a:stretch>
        </p:blipFill>
        <p:spPr>
          <a:xfrm>
            <a:off x="8378378" y="164723"/>
            <a:ext cx="1217077" cy="121707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48fab2c6ef_1_9"/>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Work Sans Medium"/>
              <a:buNone/>
            </a:pPr>
            <a:r>
              <a:rPr lang="es-MX" sz="3200">
                <a:solidFill>
                  <a:schemeClr val="lt1"/>
                </a:solidFill>
                <a:latin typeface="Work Sans Medium"/>
                <a:ea typeface="Work Sans Medium"/>
                <a:cs typeface="Work Sans Medium"/>
                <a:sym typeface="Work Sans Medium"/>
              </a:rPr>
              <a:t>Entregables Proyecto Formativo</a:t>
            </a:r>
            <a:br>
              <a:rPr lang="es-MX" sz="3200">
                <a:solidFill>
                  <a:schemeClr val="lt1"/>
                </a:solidFill>
                <a:latin typeface="Work Sans Medium"/>
                <a:ea typeface="Work Sans Medium"/>
                <a:cs typeface="Work Sans Medium"/>
                <a:sym typeface="Work Sans Medium"/>
              </a:rPr>
            </a:br>
            <a:r>
              <a:rPr lang="es-MX"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sp>
        <p:nvSpPr>
          <p:cNvPr id="237" name="Google Shape;237;g348fab2c6ef_1_9"/>
          <p:cNvSpPr/>
          <p:nvPr/>
        </p:nvSpPr>
        <p:spPr>
          <a:xfrm>
            <a:off x="747075" y="2226963"/>
            <a:ext cx="972000" cy="456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 name="Google Shape;238;g348fab2c6ef_1_9"/>
          <p:cNvSpPr txBox="1"/>
          <p:nvPr/>
        </p:nvSpPr>
        <p:spPr>
          <a:xfrm>
            <a:off x="587660" y="2416430"/>
            <a:ext cx="3854400" cy="2247300"/>
          </a:xfrm>
          <a:prstGeom prst="rect">
            <a:avLst/>
          </a:prstGeom>
          <a:noFill/>
          <a:ln>
            <a:noFill/>
          </a:ln>
        </p:spPr>
        <p:txBody>
          <a:bodyPr spcFirstLastPara="1" wrap="square" lIns="91425" tIns="45700" rIns="91425" bIns="45700" anchor="t" anchorCtr="0">
            <a:spAutoFit/>
          </a:bodyPr>
          <a:lstStyle/>
          <a:p>
            <a:pPr marL="457200" indent="-317500">
              <a:buClr>
                <a:schemeClr val="dk1"/>
              </a:buClr>
              <a:buSzPts val="1400"/>
              <a:buChar char="•"/>
            </a:pPr>
            <a:r>
              <a:rPr lang="es-MX" dirty="0">
                <a:solidFill>
                  <a:schemeClr val="dk1"/>
                </a:solidFill>
                <a:latin typeface="Work Sans Light"/>
                <a:sym typeface="Work Sans Light"/>
              </a:rPr>
              <a:t>Las API REST de la solución </a:t>
            </a:r>
            <a:r>
              <a:rPr lang="es-MX" dirty="0" err="1">
                <a:solidFill>
                  <a:schemeClr val="dk1"/>
                </a:solidFill>
                <a:latin typeface="Work Sans Light"/>
                <a:sym typeface="Work Sans Light"/>
              </a:rPr>
              <a:t>sotware</a:t>
            </a:r>
            <a:r>
              <a:rPr lang="es-MX" dirty="0">
                <a:solidFill>
                  <a:schemeClr val="dk1"/>
                </a:solidFill>
                <a:latin typeface="Work Sans Light"/>
                <a:sym typeface="Work Sans Light"/>
              </a:rPr>
              <a:t> incluye seguridad</a:t>
            </a:r>
            <a:endParaRPr dirty="0">
              <a:solidFill>
                <a:schemeClr val="dk1"/>
              </a:solidFill>
              <a:latin typeface="Work Sans Light"/>
              <a:sym typeface="Work Sans Light"/>
            </a:endParaRPr>
          </a:p>
          <a:p>
            <a:pPr marL="457200" indent="-317500">
              <a:buClr>
                <a:schemeClr val="dk1"/>
              </a:buClr>
              <a:buSzPts val="1400"/>
              <a:buFont typeface="Work Sans Light"/>
              <a:buChar char="•"/>
            </a:pPr>
            <a:r>
              <a:rPr lang="es-MX" dirty="0">
                <a:solidFill>
                  <a:schemeClr val="dk1"/>
                </a:solidFill>
                <a:latin typeface="Work Sans Light"/>
                <a:sym typeface="Work Sans Light"/>
              </a:rPr>
              <a:t>El </a:t>
            </a:r>
            <a:r>
              <a:rPr lang="es-MX" dirty="0" err="1">
                <a:solidFill>
                  <a:schemeClr val="dk1"/>
                </a:solidFill>
                <a:latin typeface="Work Sans Light"/>
                <a:sym typeface="Work Sans Light"/>
              </a:rPr>
              <a:t>front_end</a:t>
            </a:r>
            <a:r>
              <a:rPr lang="es-MX" dirty="0">
                <a:solidFill>
                  <a:schemeClr val="dk1"/>
                </a:solidFill>
                <a:latin typeface="Work Sans Light"/>
                <a:sym typeface="Work Sans Light"/>
              </a:rPr>
              <a:t> web de la solución software está hecha en Angular, Vue.js, </a:t>
            </a:r>
            <a:r>
              <a:rPr lang="es-MX" dirty="0" err="1">
                <a:solidFill>
                  <a:schemeClr val="dk1"/>
                </a:solidFill>
                <a:latin typeface="Work Sans Light"/>
                <a:sym typeface="Work Sans Light"/>
              </a:rPr>
              <a:t>React</a:t>
            </a:r>
            <a:r>
              <a:rPr lang="es-MX" dirty="0">
                <a:solidFill>
                  <a:schemeClr val="dk1"/>
                </a:solidFill>
                <a:latin typeface="Work Sans Light"/>
                <a:sym typeface="Work Sans Light"/>
              </a:rPr>
              <a:t> (u otro), consume la API REST y tiene un avance del 80%</a:t>
            </a:r>
            <a:endParaRPr dirty="0">
              <a:solidFill>
                <a:schemeClr val="dk1"/>
              </a:solidFill>
              <a:latin typeface="Work Sans Light"/>
              <a:sym typeface="Work Sans Light"/>
            </a:endParaRPr>
          </a:p>
          <a:p>
            <a:pPr marL="457200" indent="-317500">
              <a:buClr>
                <a:schemeClr val="dk1"/>
              </a:buClr>
              <a:buSzPts val="1400"/>
              <a:buFont typeface="Work Sans Light"/>
              <a:buChar char="•"/>
            </a:pPr>
            <a:r>
              <a:rPr lang="es-MX" dirty="0">
                <a:solidFill>
                  <a:schemeClr val="dk1"/>
                </a:solidFill>
                <a:latin typeface="Work Sans Light"/>
                <a:sym typeface="Work Sans Light"/>
              </a:rPr>
              <a:t>Las entregas del trimestre de la solución software se hacen a través de un Sistema de Control de Versiones (SCV)</a:t>
            </a:r>
            <a:endParaRPr dirty="0">
              <a:solidFill>
                <a:schemeClr val="dk1"/>
              </a:solidFill>
              <a:latin typeface="Work Sans Light"/>
              <a:sym typeface="Work Sans Light"/>
            </a:endParaRPr>
          </a:p>
        </p:txBody>
      </p:sp>
      <p:grpSp>
        <p:nvGrpSpPr>
          <p:cNvPr id="239" name="Google Shape;239;g348fab2c6ef_1_9"/>
          <p:cNvGrpSpPr/>
          <p:nvPr/>
        </p:nvGrpSpPr>
        <p:grpSpPr>
          <a:xfrm>
            <a:off x="747075" y="1982885"/>
            <a:ext cx="3239100" cy="294480"/>
            <a:chOff x="126603" y="-1251822"/>
            <a:chExt cx="3239100" cy="2796582"/>
          </a:xfrm>
        </p:grpSpPr>
        <p:sp>
          <p:nvSpPr>
            <p:cNvPr id="240" name="Google Shape;240;g348fab2c6ef_1_9"/>
            <p:cNvSpPr/>
            <p:nvPr/>
          </p:nvSpPr>
          <p:spPr>
            <a:xfrm>
              <a:off x="922388" y="1499160"/>
              <a:ext cx="972000" cy="456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 name="Google Shape;241;g348fab2c6ef_1_9"/>
            <p:cNvSpPr txBox="1"/>
            <p:nvPr/>
          </p:nvSpPr>
          <p:spPr>
            <a:xfrm>
              <a:off x="126603" y="-1251822"/>
              <a:ext cx="3239100" cy="294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dirty="0">
                  <a:solidFill>
                    <a:srgbClr val="38AA00"/>
                  </a:solidFill>
                  <a:latin typeface="Work Sans Light"/>
                  <a:ea typeface="Work Sans Light"/>
                  <a:cs typeface="Work Sans Light"/>
                  <a:sym typeface="Work Sans Light"/>
                </a:rPr>
                <a:t>Quinto Trimestre</a:t>
              </a:r>
              <a:endParaRPr dirty="0"/>
            </a:p>
          </p:txBody>
        </p:sp>
      </p:grpSp>
      <p:pic>
        <p:nvPicPr>
          <p:cNvPr id="242" name="Google Shape;242;g348fab2c6ef_1_9"/>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9008A25D-5C91-E9FE-F04A-9C7810FAB64E}"/>
              </a:ext>
            </a:extLst>
          </p:cNvPr>
          <p:cNvPicPr>
            <a:picLocks noChangeAspect="1"/>
          </p:cNvPicPr>
          <p:nvPr/>
        </p:nvPicPr>
        <p:blipFill>
          <a:blip r:embed="rId4"/>
          <a:stretch>
            <a:fillRect/>
          </a:stretch>
        </p:blipFill>
        <p:spPr>
          <a:xfrm>
            <a:off x="8563436" y="351912"/>
            <a:ext cx="875110" cy="842700"/>
          </a:xfrm>
          <a:prstGeom prst="rect">
            <a:avLst/>
          </a:prstGeom>
        </p:spPr>
      </p:pic>
      <p:sp>
        <p:nvSpPr>
          <p:cNvPr id="6" name="CuadroTexto 5">
            <a:extLst>
              <a:ext uri="{FF2B5EF4-FFF2-40B4-BE49-F238E27FC236}">
                <a16:creationId xmlns:a16="http://schemas.microsoft.com/office/drawing/2014/main" id="{CD85D1E6-E211-0B52-B7D8-9F9FE56BCCAE}"/>
              </a:ext>
            </a:extLst>
          </p:cNvPr>
          <p:cNvSpPr txBox="1"/>
          <p:nvPr/>
        </p:nvSpPr>
        <p:spPr>
          <a:xfrm>
            <a:off x="6989615" y="1843090"/>
            <a:ext cx="2644242" cy="341632"/>
          </a:xfrm>
          <a:prstGeom prst="rect">
            <a:avLst/>
          </a:prstGeom>
          <a:noFill/>
        </p:spPr>
        <p:txBody>
          <a:bodyPr wrap="square">
            <a:sp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dirty="0">
                <a:solidFill>
                  <a:srgbClr val="38AA00"/>
                </a:solidFill>
                <a:latin typeface="Work Sans Light"/>
                <a:ea typeface="Work Sans Light"/>
                <a:cs typeface="Work Sans Light"/>
                <a:sym typeface="Work Sans Light"/>
              </a:rPr>
              <a:t>sexto Trimestre</a:t>
            </a:r>
            <a:endParaRPr lang="es-MX" sz="1800" dirty="0"/>
          </a:p>
        </p:txBody>
      </p:sp>
      <p:sp>
        <p:nvSpPr>
          <p:cNvPr id="10" name="CuadroTexto 9">
            <a:extLst>
              <a:ext uri="{FF2B5EF4-FFF2-40B4-BE49-F238E27FC236}">
                <a16:creationId xmlns:a16="http://schemas.microsoft.com/office/drawing/2014/main" id="{3BF70FE7-F168-FECA-0D2D-D05D962ABB8D}"/>
              </a:ext>
            </a:extLst>
          </p:cNvPr>
          <p:cNvSpPr txBox="1"/>
          <p:nvPr/>
        </p:nvSpPr>
        <p:spPr>
          <a:xfrm>
            <a:off x="5978079" y="2427415"/>
            <a:ext cx="5170714" cy="3539430"/>
          </a:xfrm>
          <a:prstGeom prst="rect">
            <a:avLst/>
          </a:prstGeom>
          <a:noFill/>
        </p:spPr>
        <p:txBody>
          <a:bodyPr wrap="square">
            <a:spAutoFit/>
          </a:bodyPr>
          <a:lstStyle/>
          <a:p>
            <a:pPr marL="457200" lvl="0" indent="-317500" algn="l" rtl="0">
              <a:spcBef>
                <a:spcPts val="0"/>
              </a:spcBef>
              <a:spcAft>
                <a:spcPts val="0"/>
              </a:spcAft>
              <a:buClr>
                <a:schemeClr val="dk1"/>
              </a:buClr>
              <a:buSzPts val="1400"/>
              <a:buChar char="•"/>
            </a:pPr>
            <a:r>
              <a:rPr lang="es-CO" dirty="0">
                <a:solidFill>
                  <a:srgbClr val="212529"/>
                </a:solidFill>
                <a:latin typeface="Work Sans Light" pitchFamily="2" charset="0"/>
              </a:rPr>
              <a:t>En el proyecto se evidencia el desarrollo de la codificación al 100%, no solo demostrar que está terminado, si no que muestre los módulos completos funcionando (CRUD, reportes, </a:t>
            </a:r>
            <a:r>
              <a:rPr lang="es-CO" dirty="0" err="1">
                <a:solidFill>
                  <a:srgbClr val="212529"/>
                </a:solidFill>
                <a:latin typeface="Work Sans Light" pitchFamily="2" charset="0"/>
              </a:rPr>
              <a:t>login</a:t>
            </a:r>
            <a:r>
              <a:rPr lang="es-CO" dirty="0">
                <a:solidFill>
                  <a:srgbClr val="212529"/>
                </a:solidFill>
                <a:latin typeface="Work Sans Light" pitchFamily="2" charset="0"/>
              </a:rPr>
              <a:t>, roles).</a:t>
            </a:r>
          </a:p>
          <a:p>
            <a:pPr marL="457200" lvl="0" indent="-317500" algn="l" rtl="0">
              <a:spcBef>
                <a:spcPts val="0"/>
              </a:spcBef>
              <a:spcAft>
                <a:spcPts val="0"/>
              </a:spcAft>
              <a:buClr>
                <a:schemeClr val="dk1"/>
              </a:buClr>
              <a:buSzPts val="1400"/>
              <a:buChar char="•"/>
            </a:pPr>
            <a:r>
              <a:rPr lang="es-CO" dirty="0">
                <a:solidFill>
                  <a:srgbClr val="212529"/>
                </a:solidFill>
                <a:latin typeface="Work Sans Light" pitchFamily="2" charset="0"/>
              </a:rPr>
              <a:t>En el proyecto se evidencia el consumo de la API </a:t>
            </a:r>
            <a:r>
              <a:rPr lang="es-CO" dirty="0" err="1">
                <a:solidFill>
                  <a:srgbClr val="212529"/>
                </a:solidFill>
                <a:latin typeface="Work Sans Light" pitchFamily="2" charset="0"/>
              </a:rPr>
              <a:t>Rest</a:t>
            </a:r>
            <a:r>
              <a:rPr lang="es-CO" dirty="0">
                <a:solidFill>
                  <a:srgbClr val="212529"/>
                </a:solidFill>
                <a:latin typeface="Work Sans Light" pitchFamily="2" charset="0"/>
              </a:rPr>
              <a:t> con aplicaciones móviles. Hacer el consumo real de la API en Android o iOS usando </a:t>
            </a:r>
            <a:r>
              <a:rPr lang="es-CO" dirty="0" err="1">
                <a:solidFill>
                  <a:srgbClr val="212529"/>
                </a:solidFill>
                <a:latin typeface="Work Sans Light" pitchFamily="2" charset="0"/>
              </a:rPr>
              <a:t>React</a:t>
            </a:r>
            <a:r>
              <a:rPr lang="es-CO" dirty="0">
                <a:solidFill>
                  <a:srgbClr val="212529"/>
                </a:solidFill>
                <a:latin typeface="Work Sans Light" pitchFamily="2" charset="0"/>
              </a:rPr>
              <a:t> Native, </a:t>
            </a:r>
            <a:r>
              <a:rPr lang="es-CO" dirty="0" err="1">
                <a:solidFill>
                  <a:srgbClr val="212529"/>
                </a:solidFill>
                <a:latin typeface="Work Sans Light" pitchFamily="2" charset="0"/>
              </a:rPr>
              <a:t>Ionic</a:t>
            </a:r>
            <a:r>
              <a:rPr lang="es-CO" dirty="0">
                <a:solidFill>
                  <a:srgbClr val="212529"/>
                </a:solidFill>
                <a:latin typeface="Work Sans Light" pitchFamily="2" charset="0"/>
              </a:rPr>
              <a:t>, </a:t>
            </a:r>
            <a:r>
              <a:rPr lang="es-CO" dirty="0" err="1">
                <a:solidFill>
                  <a:srgbClr val="212529"/>
                </a:solidFill>
                <a:latin typeface="Work Sans Light" pitchFamily="2" charset="0"/>
              </a:rPr>
              <a:t>Flutter</a:t>
            </a:r>
            <a:r>
              <a:rPr lang="es-CO" dirty="0">
                <a:solidFill>
                  <a:srgbClr val="212529"/>
                </a:solidFill>
                <a:latin typeface="Work Sans Light" pitchFamily="2" charset="0"/>
              </a:rPr>
              <a:t>, Android Studio (Java o </a:t>
            </a:r>
            <a:r>
              <a:rPr lang="es-CO" dirty="0" err="1">
                <a:solidFill>
                  <a:srgbClr val="212529"/>
                </a:solidFill>
                <a:latin typeface="Work Sans Light" pitchFamily="2" charset="0"/>
              </a:rPr>
              <a:t>Kotlin</a:t>
            </a:r>
            <a:r>
              <a:rPr lang="es-CO" dirty="0">
                <a:solidFill>
                  <a:srgbClr val="212529"/>
                </a:solidFill>
                <a:latin typeface="Work Sans Light" pitchFamily="2" charset="0"/>
              </a:rPr>
              <a:t>).</a:t>
            </a:r>
          </a:p>
          <a:p>
            <a:pPr marL="457200" lvl="0" indent="-317500" algn="l" rtl="0">
              <a:spcBef>
                <a:spcPts val="0"/>
              </a:spcBef>
              <a:spcAft>
                <a:spcPts val="0"/>
              </a:spcAft>
              <a:buClr>
                <a:schemeClr val="dk1"/>
              </a:buClr>
              <a:buSzPts val="1400"/>
              <a:buChar char="•"/>
            </a:pPr>
            <a:r>
              <a:rPr lang="es-CO" dirty="0">
                <a:solidFill>
                  <a:srgbClr val="212529"/>
                </a:solidFill>
                <a:latin typeface="Work Sans Light" pitchFamily="2" charset="0"/>
              </a:rPr>
              <a:t>En el proyecto se evidencia la implementación de la API REST documentada (</a:t>
            </a:r>
            <a:r>
              <a:rPr lang="es-CO" dirty="0" err="1">
                <a:solidFill>
                  <a:srgbClr val="212529"/>
                </a:solidFill>
                <a:latin typeface="Work Sans Light" pitchFamily="2" charset="0"/>
              </a:rPr>
              <a:t>Swagger</a:t>
            </a:r>
            <a:r>
              <a:rPr lang="es-CO" dirty="0">
                <a:solidFill>
                  <a:srgbClr val="212529"/>
                </a:solidFill>
                <a:latin typeface="Work Sans Light" pitchFamily="2" charset="0"/>
              </a:rPr>
              <a:t> u otra herramienta).</a:t>
            </a:r>
          </a:p>
          <a:p>
            <a:pPr marL="457200" lvl="0" indent="-317500" algn="l" rtl="0">
              <a:spcBef>
                <a:spcPts val="0"/>
              </a:spcBef>
              <a:spcAft>
                <a:spcPts val="0"/>
              </a:spcAft>
              <a:buClr>
                <a:schemeClr val="dk1"/>
              </a:buClr>
              <a:buSzPts val="1400"/>
              <a:buChar char="•"/>
            </a:pPr>
            <a:r>
              <a:rPr lang="es-CO" dirty="0">
                <a:solidFill>
                  <a:srgbClr val="212529"/>
                </a:solidFill>
                <a:latin typeface="Work Sans Light" pitchFamily="2" charset="0"/>
              </a:rPr>
              <a:t>En el proyecto móvil se evidencia la aplicación de una metodología ágil. (Historias de Usuario, roles, </a:t>
            </a:r>
            <a:r>
              <a:rPr lang="es-CO" dirty="0" err="1">
                <a:solidFill>
                  <a:srgbClr val="212529"/>
                </a:solidFill>
                <a:latin typeface="Work Sans Light" pitchFamily="2" charset="0"/>
              </a:rPr>
              <a:t>sprints</a:t>
            </a:r>
            <a:r>
              <a:rPr lang="es-CO" dirty="0">
                <a:solidFill>
                  <a:srgbClr val="212529"/>
                </a:solidFill>
                <a:latin typeface="Work Sans Light" pitchFamily="2" charset="0"/>
              </a:rPr>
              <a:t>, Backlog, </a:t>
            </a:r>
            <a:r>
              <a:rPr lang="es-CO" dirty="0" err="1">
                <a:solidFill>
                  <a:srgbClr val="212529"/>
                </a:solidFill>
                <a:latin typeface="Work Sans Light" pitchFamily="2" charset="0"/>
              </a:rPr>
              <a:t>etc</a:t>
            </a:r>
            <a:r>
              <a:rPr lang="es-CO" dirty="0">
                <a:solidFill>
                  <a:srgbClr val="212529"/>
                </a:solidFill>
                <a:latin typeface="Work Sans Light" pitchFamily="2" charset="0"/>
              </a:rPr>
              <a:t>)</a:t>
            </a:r>
          </a:p>
          <a:p>
            <a:pPr marL="457200" lvl="0" indent="-317500" algn="l" rtl="0">
              <a:spcBef>
                <a:spcPts val="0"/>
              </a:spcBef>
              <a:spcAft>
                <a:spcPts val="0"/>
              </a:spcAft>
              <a:buClr>
                <a:schemeClr val="dk1"/>
              </a:buClr>
              <a:buSzPts val="1400"/>
              <a:buChar char="•"/>
            </a:pPr>
            <a:r>
              <a:rPr lang="es-CO" dirty="0">
                <a:solidFill>
                  <a:srgbClr val="212529"/>
                </a:solidFill>
                <a:latin typeface="Work Sans Light" pitchFamily="2" charset="0"/>
                <a:sym typeface="Work Sans Light"/>
              </a:rPr>
              <a:t>En el proyecto se evidencia el uso de sistemas de control de versiones que demuestre capturas del repositorio, historial de </a:t>
            </a:r>
            <a:r>
              <a:rPr lang="es-CO" dirty="0" err="1">
                <a:solidFill>
                  <a:srgbClr val="212529"/>
                </a:solidFill>
                <a:latin typeface="Work Sans Light" pitchFamily="2" charset="0"/>
                <a:sym typeface="Work Sans Light"/>
              </a:rPr>
              <a:t>commits</a:t>
            </a:r>
            <a:r>
              <a:rPr lang="es-CO" dirty="0">
                <a:solidFill>
                  <a:srgbClr val="212529"/>
                </a:solidFill>
                <a:latin typeface="Work Sans Light" pitchFamily="2" charset="0"/>
                <a:sym typeface="Work Sans Light"/>
              </a:rPr>
              <a:t> y ramas.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48fab2c6ef_1_9"/>
          <p:cNvSpPr txBox="1">
            <a:spLocks noGrp="1"/>
          </p:cNvSpPr>
          <p:nvPr>
            <p:ph type="title"/>
          </p:nvPr>
        </p:nvSpPr>
        <p:spPr>
          <a:xfrm>
            <a:off x="456236" y="11048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Work Sans Medium"/>
              <a:buNone/>
            </a:pPr>
            <a:r>
              <a:rPr lang="es-MX" sz="3200">
                <a:solidFill>
                  <a:schemeClr val="lt1"/>
                </a:solidFill>
                <a:latin typeface="Work Sans Medium"/>
                <a:ea typeface="Work Sans Medium"/>
                <a:cs typeface="Work Sans Medium"/>
                <a:sym typeface="Work Sans Medium"/>
              </a:rPr>
              <a:t>Entregables Proyecto Formativo</a:t>
            </a:r>
            <a:br>
              <a:rPr lang="es-MX" sz="3200">
                <a:solidFill>
                  <a:schemeClr val="lt1"/>
                </a:solidFill>
                <a:latin typeface="Work Sans Medium"/>
                <a:ea typeface="Work Sans Medium"/>
                <a:cs typeface="Work Sans Medium"/>
                <a:sym typeface="Work Sans Medium"/>
              </a:rPr>
            </a:br>
            <a:r>
              <a:rPr lang="es-MX"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pic>
        <p:nvPicPr>
          <p:cNvPr id="242" name="Google Shape;242;g348fab2c6ef_1_9"/>
          <p:cNvPicPr preferRelativeResize="0"/>
          <p:nvPr/>
        </p:nvPicPr>
        <p:blipFill>
          <a:blip r:embed="rId3">
            <a:alphaModFix/>
          </a:blip>
          <a:stretch>
            <a:fillRect/>
          </a:stretch>
        </p:blipFill>
        <p:spPr>
          <a:xfrm>
            <a:off x="9846091" y="351912"/>
            <a:ext cx="875109" cy="842700"/>
          </a:xfrm>
          <a:prstGeom prst="rect">
            <a:avLst/>
          </a:prstGeom>
          <a:noFill/>
          <a:ln>
            <a:noFill/>
          </a:ln>
        </p:spPr>
      </p:pic>
      <p:pic>
        <p:nvPicPr>
          <p:cNvPr id="2" name="Imagen 1">
            <a:extLst>
              <a:ext uri="{FF2B5EF4-FFF2-40B4-BE49-F238E27FC236}">
                <a16:creationId xmlns:a16="http://schemas.microsoft.com/office/drawing/2014/main" id="{9008A25D-5C91-E9FE-F04A-9C7810FAB64E}"/>
              </a:ext>
            </a:extLst>
          </p:cNvPr>
          <p:cNvPicPr>
            <a:picLocks noChangeAspect="1"/>
          </p:cNvPicPr>
          <p:nvPr/>
        </p:nvPicPr>
        <p:blipFill>
          <a:blip r:embed="rId4"/>
          <a:stretch>
            <a:fillRect/>
          </a:stretch>
        </p:blipFill>
        <p:spPr>
          <a:xfrm>
            <a:off x="8563436" y="351912"/>
            <a:ext cx="875110" cy="842700"/>
          </a:xfrm>
          <a:prstGeom prst="rect">
            <a:avLst/>
          </a:prstGeom>
        </p:spPr>
      </p:pic>
      <p:sp>
        <p:nvSpPr>
          <p:cNvPr id="6" name="CuadroTexto 5">
            <a:extLst>
              <a:ext uri="{FF2B5EF4-FFF2-40B4-BE49-F238E27FC236}">
                <a16:creationId xmlns:a16="http://schemas.microsoft.com/office/drawing/2014/main" id="{CD85D1E6-E211-0B52-B7D8-9F9FE56BCCAE}"/>
              </a:ext>
            </a:extLst>
          </p:cNvPr>
          <p:cNvSpPr txBox="1"/>
          <p:nvPr/>
        </p:nvSpPr>
        <p:spPr>
          <a:xfrm>
            <a:off x="1176643" y="1742171"/>
            <a:ext cx="2644242" cy="341632"/>
          </a:xfrm>
          <a:prstGeom prst="rect">
            <a:avLst/>
          </a:prstGeom>
          <a:noFill/>
        </p:spPr>
        <p:txBody>
          <a:bodyPr wrap="square">
            <a:sp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dirty="0" err="1">
                <a:solidFill>
                  <a:srgbClr val="38AA00"/>
                </a:solidFill>
                <a:latin typeface="Work Sans Light"/>
                <a:ea typeface="Work Sans Light"/>
                <a:cs typeface="Work Sans Light"/>
                <a:sym typeface="Work Sans Light"/>
              </a:rPr>
              <a:t>septimo</a:t>
            </a:r>
            <a:r>
              <a:rPr lang="es-MX" sz="1800" b="1" dirty="0">
                <a:solidFill>
                  <a:srgbClr val="38AA00"/>
                </a:solidFill>
                <a:latin typeface="Work Sans Light"/>
                <a:ea typeface="Work Sans Light"/>
                <a:cs typeface="Work Sans Light"/>
                <a:sym typeface="Work Sans Light"/>
              </a:rPr>
              <a:t> Trimestre</a:t>
            </a:r>
            <a:endParaRPr lang="es-MX" sz="1800" dirty="0"/>
          </a:p>
        </p:txBody>
      </p:sp>
      <p:sp>
        <p:nvSpPr>
          <p:cNvPr id="10" name="CuadroTexto 9">
            <a:extLst>
              <a:ext uri="{FF2B5EF4-FFF2-40B4-BE49-F238E27FC236}">
                <a16:creationId xmlns:a16="http://schemas.microsoft.com/office/drawing/2014/main" id="{3BF70FE7-F168-FECA-0D2D-D05D962ABB8D}"/>
              </a:ext>
            </a:extLst>
          </p:cNvPr>
          <p:cNvSpPr txBox="1"/>
          <p:nvPr/>
        </p:nvSpPr>
        <p:spPr>
          <a:xfrm>
            <a:off x="783774" y="2291821"/>
            <a:ext cx="4855026" cy="3970318"/>
          </a:xfrm>
          <a:prstGeom prst="rect">
            <a:avLst/>
          </a:prstGeom>
          <a:noFill/>
        </p:spPr>
        <p:txBody>
          <a:bodyPr wrap="square">
            <a:spAutoFit/>
          </a:bodyPr>
          <a:lstStyle/>
          <a:p>
            <a:pPr marL="425450" lvl="0" indent="-285750" algn="l" rtl="0">
              <a:spcBef>
                <a:spcPts val="0"/>
              </a:spcBef>
              <a:spcAft>
                <a:spcPts val="0"/>
              </a:spcAft>
              <a:buClr>
                <a:schemeClr val="dk1"/>
              </a:buClr>
              <a:buSzPts val="1400"/>
              <a:buFont typeface="Arial" panose="020B0604020202020204" pitchFamily="34" charset="0"/>
              <a:buChar char="•"/>
            </a:pPr>
            <a:r>
              <a:rPr lang="es-CO" dirty="0">
                <a:solidFill>
                  <a:srgbClr val="212529"/>
                </a:solidFill>
                <a:latin typeface="Work Sans Light" pitchFamily="2" charset="0"/>
              </a:rPr>
              <a:t>En el proyecto se evidencia que se haya usado alguna técnica de pruebas de software. Pruebas funcionales: cada requerimiento probado (</a:t>
            </a:r>
            <a:r>
              <a:rPr lang="es-CO" dirty="0" err="1">
                <a:solidFill>
                  <a:srgbClr val="212529"/>
                </a:solidFill>
                <a:latin typeface="Work Sans Light" pitchFamily="2" charset="0"/>
              </a:rPr>
              <a:t>login</a:t>
            </a:r>
            <a:r>
              <a:rPr lang="es-CO" dirty="0">
                <a:solidFill>
                  <a:srgbClr val="212529"/>
                </a:solidFill>
                <a:latin typeface="Work Sans Light" pitchFamily="2" charset="0"/>
              </a:rPr>
              <a:t>, CRUD, reportes). Pruebas de integración: interacción entre módulos o API + Front-</a:t>
            </a:r>
            <a:r>
              <a:rPr lang="es-CO" dirty="0" err="1">
                <a:solidFill>
                  <a:srgbClr val="212529"/>
                </a:solidFill>
                <a:latin typeface="Work Sans Light" pitchFamily="2" charset="0"/>
              </a:rPr>
              <a:t>End</a:t>
            </a:r>
            <a:r>
              <a:rPr lang="es-CO" dirty="0">
                <a:solidFill>
                  <a:srgbClr val="212529"/>
                </a:solidFill>
                <a:latin typeface="Work Sans Light" pitchFamily="2" charset="0"/>
              </a:rPr>
              <a:t> Pruebas de caja negra: entradas y salidas esperadas. Pruebas de rendimiento (opcional): </a:t>
            </a:r>
            <a:r>
              <a:rPr lang="es-CO" dirty="0" err="1">
                <a:solidFill>
                  <a:srgbClr val="212529"/>
                </a:solidFill>
                <a:latin typeface="Work Sans Light" pitchFamily="2" charset="0"/>
              </a:rPr>
              <a:t>JMeter</a:t>
            </a:r>
            <a:r>
              <a:rPr lang="es-CO" dirty="0">
                <a:solidFill>
                  <a:srgbClr val="212529"/>
                </a:solidFill>
                <a:latin typeface="Work Sans Light" pitchFamily="2" charset="0"/>
              </a:rPr>
              <a:t> o </a:t>
            </a:r>
            <a:r>
              <a:rPr lang="es-CO" dirty="0" err="1">
                <a:solidFill>
                  <a:srgbClr val="212529"/>
                </a:solidFill>
                <a:latin typeface="Work Sans Light" pitchFamily="2" charset="0"/>
              </a:rPr>
              <a:t>Postman</a:t>
            </a:r>
            <a:r>
              <a:rPr lang="es-CO" dirty="0">
                <a:solidFill>
                  <a:srgbClr val="212529"/>
                </a:solidFill>
                <a:latin typeface="Work Sans Light" pitchFamily="2" charset="0"/>
              </a:rPr>
              <a:t> con múltiples </a:t>
            </a:r>
            <a:r>
              <a:rPr lang="es-CO" dirty="0" err="1">
                <a:solidFill>
                  <a:srgbClr val="212529"/>
                </a:solidFill>
                <a:latin typeface="Work Sans Light" pitchFamily="2" charset="0"/>
              </a:rPr>
              <a:t>requests</a:t>
            </a:r>
            <a:r>
              <a:rPr lang="es-CO" dirty="0">
                <a:solidFill>
                  <a:srgbClr val="212529"/>
                </a:solidFill>
                <a:latin typeface="Work Sans Light" pitchFamily="2" charset="0"/>
              </a:rPr>
              <a:t>. Entregadas en una matriz de pruebas con Id, Caso de Entrada, Salida Esperada y Resultado</a:t>
            </a:r>
          </a:p>
          <a:p>
            <a:pPr marL="425450" lvl="0" indent="-285750" algn="l" rtl="0">
              <a:spcBef>
                <a:spcPts val="0"/>
              </a:spcBef>
              <a:spcAft>
                <a:spcPts val="0"/>
              </a:spcAft>
              <a:buClr>
                <a:schemeClr val="dk1"/>
              </a:buClr>
              <a:buSzPts val="1400"/>
              <a:buFont typeface="Arial" panose="020B0604020202020204" pitchFamily="34" charset="0"/>
              <a:buChar char="•"/>
            </a:pPr>
            <a:r>
              <a:rPr lang="es-CO" dirty="0">
                <a:solidFill>
                  <a:srgbClr val="212529"/>
                </a:solidFill>
                <a:latin typeface="Work Sans Light" pitchFamily="2" charset="0"/>
              </a:rPr>
              <a:t>En el proyecto se evidencia un plan de instalación, plan de respaldo, plan de migración y capacitación</a:t>
            </a:r>
          </a:p>
          <a:p>
            <a:pPr marL="425450" lvl="0" indent="-285750" algn="l" rtl="0">
              <a:spcBef>
                <a:spcPts val="0"/>
              </a:spcBef>
              <a:spcAft>
                <a:spcPts val="0"/>
              </a:spcAft>
              <a:buClr>
                <a:schemeClr val="dk1"/>
              </a:buClr>
              <a:buSzPts val="1400"/>
              <a:buFont typeface="Arial" panose="020B0604020202020204" pitchFamily="34" charset="0"/>
              <a:buChar char="•"/>
            </a:pPr>
            <a:r>
              <a:rPr lang="es-CO" dirty="0">
                <a:solidFill>
                  <a:srgbClr val="212529"/>
                </a:solidFill>
                <a:latin typeface="Work Sans Light" pitchFamily="2" charset="0"/>
              </a:rPr>
              <a:t>En el proyecto se evidencia algún modelo de calidad el cual se puede utilizar un marco reconocido como la ISO/IEC 25010 (Calidad de software: Usabilidad, Mantenibilidad, Seguridad, Rendimiento), CMMI si aplica o pruebas de calidad con criterios de calidad definidos.</a:t>
            </a:r>
          </a:p>
        </p:txBody>
      </p:sp>
      <p:sp>
        <p:nvSpPr>
          <p:cNvPr id="4" name="CuadroTexto 3">
            <a:extLst>
              <a:ext uri="{FF2B5EF4-FFF2-40B4-BE49-F238E27FC236}">
                <a16:creationId xmlns:a16="http://schemas.microsoft.com/office/drawing/2014/main" id="{C935DFC3-49F8-9563-6332-2F3722A76B31}"/>
              </a:ext>
            </a:extLst>
          </p:cNvPr>
          <p:cNvSpPr txBox="1"/>
          <p:nvPr/>
        </p:nvSpPr>
        <p:spPr>
          <a:xfrm>
            <a:off x="6313714" y="2291821"/>
            <a:ext cx="4960263" cy="2462213"/>
          </a:xfrm>
          <a:prstGeom prst="rect">
            <a:avLst/>
          </a:prstGeom>
          <a:noFill/>
        </p:spPr>
        <p:txBody>
          <a:bodyPr wrap="square">
            <a:spAutoFit/>
          </a:bodyPr>
          <a:lstStyle/>
          <a:p>
            <a:pPr marL="425450" lvl="0" indent="-285750" algn="l" rtl="0">
              <a:spcBef>
                <a:spcPts val="0"/>
              </a:spcBef>
              <a:spcAft>
                <a:spcPts val="0"/>
              </a:spcAft>
              <a:buClr>
                <a:schemeClr val="dk1"/>
              </a:buClr>
              <a:buSzPts val="1400"/>
              <a:buFont typeface="Arial" panose="020B0604020202020204" pitchFamily="34" charset="0"/>
              <a:buChar char="•"/>
            </a:pPr>
            <a:r>
              <a:rPr lang="es-CO" dirty="0">
                <a:solidFill>
                  <a:srgbClr val="212529"/>
                </a:solidFill>
                <a:latin typeface="Work Sans Light" pitchFamily="2" charset="0"/>
              </a:rPr>
              <a:t>En el proyecto se evidencian manuales de instalación, técnico y de usuario, cada uno de estos entregados en documentos separados (PDF/Word) con imágenes y pasos numerados.</a:t>
            </a:r>
          </a:p>
          <a:p>
            <a:pPr marL="425450" lvl="0" indent="-285750" algn="l" rtl="0">
              <a:spcBef>
                <a:spcPts val="0"/>
              </a:spcBef>
              <a:spcAft>
                <a:spcPts val="0"/>
              </a:spcAft>
              <a:buClr>
                <a:schemeClr val="dk1"/>
              </a:buClr>
              <a:buSzPts val="1400"/>
              <a:buFont typeface="Arial" panose="020B0604020202020204" pitchFamily="34" charset="0"/>
              <a:buChar char="•"/>
            </a:pPr>
            <a:r>
              <a:rPr lang="es-CO" dirty="0">
                <a:solidFill>
                  <a:srgbClr val="212529"/>
                </a:solidFill>
                <a:latin typeface="Work Sans Light" pitchFamily="2" charset="0"/>
              </a:rPr>
              <a:t>En el proyecto se evidencia el despliegue del aplicativo según el diseño de la arquitectura en UML (Diagrama de despliegue o Diagrama de arquitectura de nube).</a:t>
            </a:r>
          </a:p>
          <a:p>
            <a:pPr marL="425450" lvl="0" indent="-285750" algn="l" rtl="0">
              <a:spcBef>
                <a:spcPts val="0"/>
              </a:spcBef>
              <a:spcAft>
                <a:spcPts val="0"/>
              </a:spcAft>
              <a:buClr>
                <a:schemeClr val="dk1"/>
              </a:buClr>
              <a:buSzPts val="1400"/>
              <a:buFont typeface="Arial" panose="020B0604020202020204" pitchFamily="34" charset="0"/>
              <a:buChar char="•"/>
            </a:pPr>
            <a:r>
              <a:rPr lang="es-CO" dirty="0">
                <a:solidFill>
                  <a:srgbClr val="212529"/>
                </a:solidFill>
                <a:latin typeface="Work Sans Light" pitchFamily="2" charset="0"/>
              </a:rPr>
              <a:t>En el proyecto se evidencia el uso de sistemas de control de versiones que demuestre capturas del repositorio, historial de </a:t>
            </a:r>
            <a:r>
              <a:rPr lang="es-CO" dirty="0" err="1">
                <a:solidFill>
                  <a:srgbClr val="212529"/>
                </a:solidFill>
                <a:latin typeface="Work Sans Light" pitchFamily="2" charset="0"/>
              </a:rPr>
              <a:t>commits</a:t>
            </a:r>
            <a:r>
              <a:rPr lang="es-CO" dirty="0">
                <a:solidFill>
                  <a:srgbClr val="212529"/>
                </a:solidFill>
                <a:latin typeface="Work Sans Light" pitchFamily="2" charset="0"/>
              </a:rPr>
              <a:t> y ramas.</a:t>
            </a:r>
            <a:endParaRPr lang="es-CO" dirty="0">
              <a:solidFill>
                <a:srgbClr val="212529"/>
              </a:solidFill>
              <a:latin typeface="Work Sans Light" pitchFamily="2" charset="0"/>
              <a:sym typeface="Work Sans Light"/>
            </a:endParaRPr>
          </a:p>
        </p:txBody>
      </p:sp>
    </p:spTree>
    <p:extLst>
      <p:ext uri="{BB962C8B-B14F-4D97-AF65-F5344CB8AC3E}">
        <p14:creationId xmlns:p14="http://schemas.microsoft.com/office/powerpoint/2010/main" val="3172966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15" descr="Imagen que contiene Interfaz de usuario gráfica&#10;&#10;Descripción generada automáticamente"/>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1531</TotalTime>
  <Words>2168</Words>
  <Application>Microsoft Office PowerPoint</Application>
  <PresentationFormat>Panorámica</PresentationFormat>
  <Paragraphs>134</Paragraphs>
  <Slides>25</Slides>
  <Notes>25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25</vt:i4>
      </vt:variant>
    </vt:vector>
  </HeadingPairs>
  <TitlesOfParts>
    <vt:vector size="31" baseType="lpstr">
      <vt:lpstr>Calibri</vt:lpstr>
      <vt:lpstr>Work Sans Light</vt:lpstr>
      <vt:lpstr>Work Sans</vt:lpstr>
      <vt:lpstr>Arial</vt:lpstr>
      <vt:lpstr>Work Sans Medium</vt:lpstr>
      <vt:lpstr>Tema de Office</vt:lpstr>
      <vt:lpstr>Presentación de PowerPoint</vt:lpstr>
      <vt:lpstr>Presentación de PowerPoint</vt:lpstr>
      <vt:lpstr>Presentación de PowerPoint</vt:lpstr>
      <vt:lpstr>Presentación de PowerPoint</vt:lpstr>
      <vt:lpstr>Presentación de PowerPoint</vt:lpstr>
      <vt:lpstr>Problema</vt:lpstr>
      <vt:lpstr>Problema</vt:lpstr>
      <vt:lpstr>Presentación de PowerPoint</vt:lpstr>
      <vt:lpstr>Presentación de PowerPoint</vt:lpstr>
      <vt:lpstr>Presentación de PowerPoint</vt:lpstr>
      <vt:lpstr>Justificación</vt:lpstr>
      <vt:lpstr>Presentación de PowerPoint</vt:lpstr>
      <vt:lpstr>Alcance</vt:lpstr>
      <vt:lpstr>Presentación de PowerPoint</vt:lpstr>
      <vt:lpstr>Modelo de calidad CMMI</vt:lpstr>
      <vt:lpstr>Diagrama de despliegue </vt:lpstr>
      <vt:lpstr>Manual técnico e instalación </vt:lpstr>
      <vt:lpstr>Manual migración y respaldo</vt:lpstr>
      <vt:lpstr>Manual de mantenimiento </vt:lpstr>
      <vt:lpstr>Manual de capacitación  </vt:lpstr>
      <vt:lpstr>Manual de usuario</vt:lpstr>
      <vt:lpstr>Entregables Proyecto Formativo por Trimestre</vt:lpstr>
      <vt:lpstr>Entregables Proyecto Formativo por Trimestre</vt:lpstr>
      <vt:lpstr>Entregables Proyecto Formativo por Trimestre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Daniela Lorena Bohorquez Diaz</cp:lastModifiedBy>
  <cp:revision>13</cp:revision>
  <dcterms:created xsi:type="dcterms:W3CDTF">2020-10-01T23:51:28Z</dcterms:created>
  <dcterms:modified xsi:type="dcterms:W3CDTF">2026-03-27T11:31:40Z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