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71" r:id="rId8"/>
    <p:sldId id="262" r:id="rId9"/>
    <p:sldId id="263" r:id="rId10"/>
    <p:sldId id="264" r:id="rId11"/>
    <p:sldId id="265" r:id="rId12"/>
    <p:sldId id="266" r:id="rId13"/>
    <p:sldId id="267" r:id="rId14"/>
    <p:sldId id="268" r:id="rId15"/>
    <p:sldId id="269" r:id="rId16"/>
    <p:sldId id="270" r:id="rId17"/>
  </p:sldIdLst>
  <p:sldSz cx="12192000" cy="6858000"/>
  <p:notesSz cx="6858000" cy="9144000"/>
  <p:embeddedFontLst>
    <p:embeddedFont>
      <p:font typeface="Work Sans" pitchFamily="2" charset="0"/>
      <p:regular r:id="rId19"/>
      <p:bold r:id="rId20"/>
      <p:italic r:id="rId21"/>
      <p:boldItalic r:id="rId22"/>
    </p:embeddedFont>
    <p:embeddedFont>
      <p:font typeface="Work Sans Light" pitchFamily="2" charset="0"/>
      <p:regular r:id="rId23"/>
      <p:bold r:id="rId24"/>
      <p:italic r:id="rId25"/>
      <p:boldItalic r:id="rId26"/>
    </p:embeddedFont>
    <p:embeddedFont>
      <p:font typeface="Work Sans Medium" pitchFamily="2" charset="0"/>
      <p:regular r:id="rId27"/>
      <p:bold r:id="rId28"/>
      <p:italic r:id="rId29"/>
      <p:boldItalic r:id="rId3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7" roundtripDataSignature="AMtx7mgGeO/vHCTEi/MJf6RnpC6vp81Q4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10B6C16-105A-48B9-B28C-AD33A7352A04}">
  <a:tblStyle styleId="{410B6C16-105A-48B9-B28C-AD33A7352A04}"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353" autoAdjust="0"/>
    <p:restoredTop sz="94660"/>
  </p:normalViewPr>
  <p:slideViewPr>
    <p:cSldViewPr snapToGrid="0">
      <p:cViewPr>
        <p:scale>
          <a:sx n="100" d="100"/>
          <a:sy n="100" d="100"/>
        </p:scale>
        <p:origin x="72" y="-12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font" Target="fonts/font8.fntdata"/><Relationship Id="rId39"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3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font" Target="fonts/font11.fntdata"/><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37" Type="http://customschemas.google.com/relationships/presentationmetadata" Target="metadata"/><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font" Target="fonts/font10.fntdata"/><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font" Target="fonts/font12.fntdata"/><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s-MX"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8" name="Google Shape;98;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9" name="Google Shape;99;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MX"/>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6" name="Google Shape;106;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363988e4161_0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g363988e4161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63988e4161_0_2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 name="Google Shape;123;g363988e4161_0_2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0" name="Google Shape;130;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6393dac501_0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8" name="Google Shape;138;g36393dac501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a:extLst>
            <a:ext uri="{FF2B5EF4-FFF2-40B4-BE49-F238E27FC236}">
              <a16:creationId xmlns:a16="http://schemas.microsoft.com/office/drawing/2014/main" id="{11578A74-2E8D-07F9-8FF1-2A364FB4D3EC}"/>
            </a:ext>
          </a:extLst>
        </p:cNvPr>
        <p:cNvGrpSpPr/>
        <p:nvPr/>
      </p:nvGrpSpPr>
      <p:grpSpPr>
        <a:xfrm>
          <a:off x="0" y="0"/>
          <a:ext cx="0" cy="0"/>
          <a:chOff x="0" y="0"/>
          <a:chExt cx="0" cy="0"/>
        </a:xfrm>
      </p:grpSpPr>
      <p:sp>
        <p:nvSpPr>
          <p:cNvPr id="137" name="Google Shape;137;g36393dac501_0_0:notes">
            <a:extLst>
              <a:ext uri="{FF2B5EF4-FFF2-40B4-BE49-F238E27FC236}">
                <a16:creationId xmlns:a16="http://schemas.microsoft.com/office/drawing/2014/main" id="{498A3966-A0A3-5A12-807B-B17F11A03EF0}"/>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8" name="Google Shape;138;g36393dac501_0_0:notes">
            <a:extLst>
              <a:ext uri="{FF2B5EF4-FFF2-40B4-BE49-F238E27FC236}">
                <a16:creationId xmlns:a16="http://schemas.microsoft.com/office/drawing/2014/main" id="{BED9EEDE-097B-A380-8383-AC915D5D40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231573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6393dac501_3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7" name="Google Shape;147;g36393dac501_3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g36393dac501_6_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6" name="Google Shape;156;g36393dac501_6_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36393dac501_4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5" name="Google Shape;165;g36393dac501_4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5" name="Google Shape;175;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p1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5" name="Google Shape;185;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p1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8" name="Google Shape;198;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1" name="Google Shape;211;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2" name="Google Shape;212;p1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MX"/>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348fab2c6ef_1_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3" name="Google Shape;233;g348fab2c6ef_1_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4" name="Google Shape;234;g348fab2c6ef_1_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MX"/>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1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Diapositiva de título">
  <p:cSld name="1_Diapositiva de título">
    <p:spTree>
      <p:nvGrpSpPr>
        <p:cNvPr id="1" name="Shape 15"/>
        <p:cNvGrpSpPr/>
        <p:nvPr/>
      </p:nvGrpSpPr>
      <p:grpSpPr>
        <a:xfrm>
          <a:off x="0" y="0"/>
          <a:ext cx="0" cy="0"/>
          <a:chOff x="0" y="0"/>
          <a:chExt cx="0" cy="0"/>
        </a:xfrm>
      </p:grpSpPr>
      <p:pic>
        <p:nvPicPr>
          <p:cNvPr id="16" name="Google Shape;16;p17" descr="Interfaz de usuario gráfica, Texto, Aplicación&#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Encabezado de sección">
  <p:cSld name="1_Encabezado de sección">
    <p:spTree>
      <p:nvGrpSpPr>
        <p:cNvPr id="1" name="Shape 17"/>
        <p:cNvGrpSpPr/>
        <p:nvPr/>
      </p:nvGrpSpPr>
      <p:grpSpPr>
        <a:xfrm>
          <a:off x="0" y="0"/>
          <a:ext cx="0" cy="0"/>
          <a:chOff x="0" y="0"/>
          <a:chExt cx="0" cy="0"/>
        </a:xfrm>
      </p:grpSpPr>
      <p:pic>
        <p:nvPicPr>
          <p:cNvPr id="18" name="Google Shape;18;p18"/>
          <p:cNvPicPr preferRelativeResize="0"/>
          <p:nvPr/>
        </p:nvPicPr>
        <p:blipFill rotWithShape="1">
          <a:blip r:embed="rId2">
            <a:alphaModFix/>
          </a:blip>
          <a:srcRect/>
          <a:stretch/>
        </p:blipFill>
        <p:spPr>
          <a:xfrm>
            <a:off x="11027833" y="317431"/>
            <a:ext cx="811391" cy="790587"/>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_Encabezado de sección">
  <p:cSld name="2_Encabezado de sección">
    <p:spTree>
      <p:nvGrpSpPr>
        <p:cNvPr id="1" name="Shape 19"/>
        <p:cNvGrpSpPr/>
        <p:nvPr/>
      </p:nvGrpSpPr>
      <p:grpSpPr>
        <a:xfrm>
          <a:off x="0" y="0"/>
          <a:ext cx="0" cy="0"/>
          <a:chOff x="0" y="0"/>
          <a:chExt cx="0" cy="0"/>
        </a:xfrm>
      </p:grpSpPr>
      <p:pic>
        <p:nvPicPr>
          <p:cNvPr id="20" name="Google Shape;20;p19" descr="Patrón de fondo&#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pic>
        <p:nvPicPr>
          <p:cNvPr id="21" name="Google Shape;21;p19"/>
          <p:cNvPicPr preferRelativeResize="0"/>
          <p:nvPr/>
        </p:nvPicPr>
        <p:blipFill rotWithShape="1">
          <a:blip r:embed="rId3">
            <a:alphaModFix/>
          </a:blip>
          <a:srcRect/>
          <a:stretch/>
        </p:blipFill>
        <p:spPr>
          <a:xfrm>
            <a:off x="11054859" y="303050"/>
            <a:ext cx="855785" cy="83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iseño personalizado">
  <p:cSld name="Diseño personalizado">
    <p:bg>
      <p:bgPr>
        <a:blipFill>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 name="Google Shape;24;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En blanco" type="blank">
  <p:cSld name="BLANK">
    <p:spTree>
      <p:nvGrpSpPr>
        <p:cNvPr id="1" name="Shape 27"/>
        <p:cNvGrpSpPr/>
        <p:nvPr/>
      </p:nvGrpSpPr>
      <p:grpSpPr>
        <a:xfrm>
          <a:off x="0" y="0"/>
          <a:ext cx="0" cy="0"/>
          <a:chOff x="0" y="0"/>
          <a:chExt cx="0" cy="0"/>
        </a:xfrm>
      </p:grpSpPr>
      <p:sp>
        <p:nvSpPr>
          <p:cNvPr id="28" name="Google Shape;2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31"/>
        <p:cNvGrpSpPr/>
        <p:nvPr/>
      </p:nvGrpSpPr>
      <p:grpSpPr>
        <a:xfrm>
          <a:off x="0" y="0"/>
          <a:ext cx="0" cy="0"/>
          <a:chOff x="0" y="0"/>
          <a:chExt cx="0" cy="0"/>
        </a:xfrm>
      </p:grpSpPr>
      <p:sp>
        <p:nvSpPr>
          <p:cNvPr id="32" name="Google Shape;32;p2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2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34" name="Google Shape;34;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ítulo y objetos" type="obj">
  <p:cSld name="OBJECT">
    <p:spTree>
      <p:nvGrpSpPr>
        <p:cNvPr id="1" name="Shape 37"/>
        <p:cNvGrpSpPr/>
        <p:nvPr/>
      </p:nvGrpSpPr>
      <p:grpSpPr>
        <a:xfrm>
          <a:off x="0" y="0"/>
          <a:ext cx="0" cy="0"/>
          <a:chOff x="0" y="0"/>
          <a:chExt cx="0" cy="0"/>
        </a:xfrm>
      </p:grpSpPr>
      <p:sp>
        <p:nvSpPr>
          <p:cNvPr id="38" name="Google Shape;3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Encabezado de sección" type="secHead">
  <p:cSld name="SECTION_HEADER">
    <p:spTree>
      <p:nvGrpSpPr>
        <p:cNvPr id="1" name="Shape 43"/>
        <p:cNvGrpSpPr/>
        <p:nvPr/>
      </p:nvGrpSpPr>
      <p:grpSpPr>
        <a:xfrm>
          <a:off x="0" y="0"/>
          <a:ext cx="0" cy="0"/>
          <a:chOff x="0" y="0"/>
          <a:chExt cx="0" cy="0"/>
        </a:xfrm>
      </p:grpSpPr>
      <p:sp>
        <p:nvSpPr>
          <p:cNvPr id="44" name="Google Shape;4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 name="Google Shape;4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46" name="Google Shape;4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Dos objetos" type="twoObj">
  <p:cSld name="TWO_OBJECTS">
    <p:spTree>
      <p:nvGrpSpPr>
        <p:cNvPr id="1" name="Shape 49"/>
        <p:cNvGrpSpPr/>
        <p:nvPr/>
      </p:nvGrpSpPr>
      <p:grpSpPr>
        <a:xfrm>
          <a:off x="0" y="0"/>
          <a:ext cx="0" cy="0"/>
          <a:chOff x="0" y="0"/>
          <a:chExt cx="0" cy="0"/>
        </a:xfrm>
      </p:grpSpPr>
      <p:sp>
        <p:nvSpPr>
          <p:cNvPr id="50" name="Google Shape;5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2" name="Google Shape;5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4" name="Google Shape;5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56"/>
        <p:cNvGrpSpPr/>
        <p:nvPr/>
      </p:nvGrpSpPr>
      <p:grpSpPr>
        <a:xfrm>
          <a:off x="0" y="0"/>
          <a:ext cx="0" cy="0"/>
          <a:chOff x="0" y="0"/>
          <a:chExt cx="0" cy="0"/>
        </a:xfrm>
      </p:grpSpPr>
      <p:sp>
        <p:nvSpPr>
          <p:cNvPr id="57" name="Google Shape;5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8" name="Google Shape;5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9" name="Google Shape;5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0" name="Google Shape;6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61" name="Google Shape;6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2" name="Google Shape;6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65"/>
        <p:cNvGrpSpPr/>
        <p:nvPr/>
      </p:nvGrpSpPr>
      <p:grpSpPr>
        <a:xfrm>
          <a:off x="0" y="0"/>
          <a:ext cx="0" cy="0"/>
          <a:chOff x="0" y="0"/>
          <a:chExt cx="0" cy="0"/>
        </a:xfrm>
      </p:grpSpPr>
      <p:sp>
        <p:nvSpPr>
          <p:cNvPr id="66" name="Google Shape;6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8" name="Google Shape;6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9" name="Google Shape;6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ontenido con título" type="objTx">
  <p:cSld name="OBJECT_WITH_CAPTION_TEXT">
    <p:spTree>
      <p:nvGrpSpPr>
        <p:cNvPr id="1" name="Shape 70"/>
        <p:cNvGrpSpPr/>
        <p:nvPr/>
      </p:nvGrpSpPr>
      <p:grpSpPr>
        <a:xfrm>
          <a:off x="0" y="0"/>
          <a:ext cx="0" cy="0"/>
          <a:chOff x="0" y="0"/>
          <a:chExt cx="0" cy="0"/>
        </a:xfrm>
      </p:grpSpPr>
      <p:sp>
        <p:nvSpPr>
          <p:cNvPr id="71" name="Google Shape;71;p28"/>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2" name="Google Shape;72;p28"/>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73" name="Google Shape;73;p28"/>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4" name="Google Shape;74;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5" name="Google Shape;75;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77"/>
        <p:cNvGrpSpPr/>
        <p:nvPr/>
      </p:nvGrpSpPr>
      <p:grpSpPr>
        <a:xfrm>
          <a:off x="0" y="0"/>
          <a:ext cx="0" cy="0"/>
          <a:chOff x="0" y="0"/>
          <a:chExt cx="0" cy="0"/>
        </a:xfrm>
      </p:grpSpPr>
      <p:sp>
        <p:nvSpPr>
          <p:cNvPr id="78" name="Google Shape;78;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9" name="Google Shape;79;p29"/>
          <p:cNvSpPr>
            <a:spLocks noGrp="1"/>
          </p:cNvSpPr>
          <p:nvPr>
            <p:ph type="pic" idx="2"/>
          </p:nvPr>
        </p:nvSpPr>
        <p:spPr>
          <a:xfrm>
            <a:off x="5183188" y="987425"/>
            <a:ext cx="6172200" cy="4873625"/>
          </a:xfrm>
          <a:prstGeom prst="rect">
            <a:avLst/>
          </a:prstGeom>
          <a:noFill/>
          <a:ln>
            <a:noFill/>
          </a:ln>
        </p:spPr>
      </p:sp>
      <p:sp>
        <p:nvSpPr>
          <p:cNvPr id="80" name="Google Shape;80;p29"/>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81" name="Google Shape;81;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84"/>
        <p:cNvGrpSpPr/>
        <p:nvPr/>
      </p:nvGrpSpPr>
      <p:grpSpPr>
        <a:xfrm>
          <a:off x="0" y="0"/>
          <a:ext cx="0" cy="0"/>
          <a:chOff x="0" y="0"/>
          <a:chExt cx="0" cy="0"/>
        </a:xfrm>
      </p:grpSpPr>
      <p:sp>
        <p:nvSpPr>
          <p:cNvPr id="85" name="Google Shape;85;p3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6" name="Google Shape;86;p30"/>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7" name="Google Shape;87;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8" name="Google Shape;88;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9" name="Google Shape;89;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90"/>
        <p:cNvGrpSpPr/>
        <p:nvPr/>
      </p:nvGrpSpPr>
      <p:grpSpPr>
        <a:xfrm>
          <a:off x="0" y="0"/>
          <a:ext cx="0" cy="0"/>
          <a:chOff x="0" y="0"/>
          <a:chExt cx="0" cy="0"/>
        </a:xfrm>
      </p:grpSpPr>
      <p:sp>
        <p:nvSpPr>
          <p:cNvPr id="91" name="Google Shape;91;p31"/>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2" name="Google Shape;92;p31"/>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3" name="Google Shape;93;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4" name="Google Shape;94;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11.png"/><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hyperlink" Target="https://forms.gle/mygN8hwspY6cPo2K6" TargetMode="External"/><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hyperlink" Target="https://docs.google.com/document/d/1k89GukGZqF4sdMDzXDMdkwlsAVQvETv5/edit" TargetMode="External"/><Relationship Id="rId5" Type="http://schemas.openxmlformats.org/officeDocument/2006/relationships/hyperlink" Target="https://docs.google.com/document/d/19fb_yMSavdpKgo4-iXuHDx7MvqHGwpOrQmrW8WEoYcM/edit?tab=t.0" TargetMode="External"/><Relationship Id="rId4" Type="http://schemas.openxmlformats.org/officeDocument/2006/relationships/hyperlink" Target="https://docs.google.com/document/d/1hUNuXN74zkWklU7JHV1C2Eg7h8_buByc/edit?usp=sharing&amp;ouid=110984401584463252056&amp;rtpof=true&amp;sd=true"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image" Target="../media/image7.png"/><Relationship Id="rId5" Type="http://schemas.openxmlformats.org/officeDocument/2006/relationships/image" Target="../media/image18.png"/><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20.png"/><Relationship Id="rId5" Type="http://schemas.openxmlformats.org/officeDocument/2006/relationships/hyperlink" Target="http://node.js" TargetMode="Externa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
          <p:cNvSpPr txBox="1"/>
          <p:nvPr/>
        </p:nvSpPr>
        <p:spPr>
          <a:xfrm>
            <a:off x="927400" y="2854475"/>
            <a:ext cx="5198100" cy="6156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endParaRPr sz="3400" b="1">
              <a:solidFill>
                <a:srgbClr val="0C0C0C"/>
              </a:solidFill>
              <a:latin typeface="Work Sans"/>
              <a:ea typeface="Work Sans"/>
              <a:cs typeface="Work Sans"/>
              <a:sym typeface="Work Sans"/>
            </a:endParaRPr>
          </a:p>
        </p:txBody>
      </p:sp>
      <p:pic>
        <p:nvPicPr>
          <p:cNvPr id="102" name="Google Shape;102;p1"/>
          <p:cNvPicPr preferRelativeResize="0"/>
          <p:nvPr/>
        </p:nvPicPr>
        <p:blipFill>
          <a:blip r:embed="rId3">
            <a:alphaModFix/>
          </a:blip>
          <a:stretch>
            <a:fillRect/>
          </a:stretch>
        </p:blipFill>
        <p:spPr>
          <a:xfrm>
            <a:off x="8573749" y="2185900"/>
            <a:ext cx="2626000" cy="2662575"/>
          </a:xfrm>
          <a:prstGeom prst="rect">
            <a:avLst/>
          </a:prstGeom>
          <a:noFill/>
          <a:ln>
            <a:noFill/>
          </a:ln>
        </p:spPr>
      </p:pic>
      <p:pic>
        <p:nvPicPr>
          <p:cNvPr id="3" name="Imagen 2">
            <a:extLst>
              <a:ext uri="{FF2B5EF4-FFF2-40B4-BE49-F238E27FC236}">
                <a16:creationId xmlns:a16="http://schemas.microsoft.com/office/drawing/2014/main" id="{98EBC749-0B0E-2CC5-825D-2EBAD87A3D7A}"/>
              </a:ext>
            </a:extLst>
          </p:cNvPr>
          <p:cNvPicPr>
            <a:picLocks noChangeAspect="1"/>
          </p:cNvPicPr>
          <p:nvPr/>
        </p:nvPicPr>
        <p:blipFill>
          <a:blip r:embed="rId4"/>
          <a:stretch>
            <a:fillRect/>
          </a:stretch>
        </p:blipFill>
        <p:spPr>
          <a:xfrm>
            <a:off x="4974279" y="2247108"/>
            <a:ext cx="2445934" cy="244593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7"/>
        <p:cNvGrpSpPr/>
        <p:nvPr/>
      </p:nvGrpSpPr>
      <p:grpSpPr>
        <a:xfrm>
          <a:off x="0" y="0"/>
          <a:ext cx="0" cy="0"/>
          <a:chOff x="0" y="0"/>
          <a:chExt cx="0" cy="0"/>
        </a:xfrm>
      </p:grpSpPr>
      <p:sp>
        <p:nvSpPr>
          <p:cNvPr id="108" name="Google Shape;108;p2"/>
          <p:cNvSpPr txBox="1"/>
          <p:nvPr/>
        </p:nvSpPr>
        <p:spPr>
          <a:xfrm>
            <a:off x="2092050" y="1450608"/>
            <a:ext cx="8007900" cy="1200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MX" sz="7200" dirty="0" err="1">
                <a:solidFill>
                  <a:schemeClr val="lt1"/>
                </a:solidFill>
                <a:latin typeface="Work Sans Light"/>
                <a:sym typeface="Work Sans Light"/>
              </a:rPr>
              <a:t>Zéfiro</a:t>
            </a:r>
            <a:endParaRPr dirty="0"/>
          </a:p>
        </p:txBody>
      </p:sp>
      <p:cxnSp>
        <p:nvCxnSpPr>
          <p:cNvPr id="109" name="Google Shape;109;p2"/>
          <p:cNvCxnSpPr/>
          <p:nvPr/>
        </p:nvCxnSpPr>
        <p:spPr>
          <a:xfrm>
            <a:off x="5227899" y="3321934"/>
            <a:ext cx="1736203" cy="0"/>
          </a:xfrm>
          <a:prstGeom prst="straightConnector1">
            <a:avLst/>
          </a:prstGeom>
          <a:noFill/>
          <a:ln w="9525" cap="flat" cmpd="sng">
            <a:solidFill>
              <a:schemeClr val="lt1"/>
            </a:solidFill>
            <a:prstDash val="solid"/>
            <a:miter lim="800000"/>
            <a:headEnd type="none" w="sm" len="sm"/>
            <a:tailEnd type="none" w="sm" len="sm"/>
          </a:ln>
        </p:spPr>
      </p:cxnSp>
      <p:sp>
        <p:nvSpPr>
          <p:cNvPr id="110" name="Google Shape;110;p2"/>
          <p:cNvSpPr txBox="1"/>
          <p:nvPr/>
        </p:nvSpPr>
        <p:spPr>
          <a:xfrm>
            <a:off x="4168816" y="3463724"/>
            <a:ext cx="3854400" cy="1077300"/>
          </a:xfrm>
          <a:prstGeom prst="rect">
            <a:avLst/>
          </a:prstGeom>
          <a:noFill/>
          <a:ln>
            <a:noFill/>
          </a:ln>
        </p:spPr>
        <p:txBody>
          <a:bodyPr spcFirstLastPara="1" wrap="square" lIns="91425" tIns="45700" rIns="91425" bIns="45700" anchor="t" anchorCtr="0">
            <a:spAutoFit/>
          </a:bodyPr>
          <a:lstStyle/>
          <a:p>
            <a:pPr marL="0" marR="0" lvl="0" indent="457200" algn="l" rtl="0">
              <a:spcBef>
                <a:spcPts val="0"/>
              </a:spcBef>
              <a:spcAft>
                <a:spcPts val="0"/>
              </a:spcAft>
              <a:buNone/>
            </a:pPr>
            <a:r>
              <a:rPr lang="es-MX" sz="1600">
                <a:solidFill>
                  <a:schemeClr val="lt1"/>
                </a:solidFill>
                <a:latin typeface="Work Sans Light"/>
                <a:ea typeface="Work Sans Light"/>
                <a:cs typeface="Work Sans Light"/>
                <a:sym typeface="Work Sans Light"/>
              </a:rPr>
              <a:t>Bohorquez Diaz Daniela Lorena</a:t>
            </a:r>
            <a:endParaRPr sz="1600">
              <a:solidFill>
                <a:schemeClr val="lt1"/>
              </a:solidFill>
              <a:latin typeface="Work Sans Light"/>
              <a:ea typeface="Work Sans Light"/>
              <a:cs typeface="Work Sans Light"/>
              <a:sym typeface="Work Sans Light"/>
            </a:endParaRPr>
          </a:p>
          <a:p>
            <a:pPr marL="0" lvl="0" indent="0" algn="ctr" rtl="0">
              <a:spcBef>
                <a:spcPts val="0"/>
              </a:spcBef>
              <a:spcAft>
                <a:spcPts val="0"/>
              </a:spcAft>
              <a:buClr>
                <a:schemeClr val="dk1"/>
              </a:buClr>
              <a:buFont typeface="Arial"/>
              <a:buNone/>
            </a:pPr>
            <a:r>
              <a:rPr lang="es-MX" sz="1600">
                <a:solidFill>
                  <a:schemeClr val="lt1"/>
                </a:solidFill>
                <a:latin typeface="Work Sans Light"/>
                <a:ea typeface="Work Sans Light"/>
                <a:cs typeface="Work Sans Light"/>
                <a:sym typeface="Work Sans Light"/>
              </a:rPr>
              <a:t>Carvajal Bonilla Jhonatan</a:t>
            </a:r>
            <a:endParaRPr sz="1600">
              <a:solidFill>
                <a:schemeClr val="lt1"/>
              </a:solidFill>
              <a:latin typeface="Work Sans Light"/>
              <a:ea typeface="Work Sans Light"/>
              <a:cs typeface="Work Sans Light"/>
              <a:sym typeface="Work Sans Light"/>
            </a:endParaRPr>
          </a:p>
          <a:p>
            <a:pPr marL="0" marR="0" lvl="0" indent="0" algn="ctr" rtl="0">
              <a:spcBef>
                <a:spcPts val="0"/>
              </a:spcBef>
              <a:spcAft>
                <a:spcPts val="0"/>
              </a:spcAft>
              <a:buNone/>
            </a:pPr>
            <a:r>
              <a:rPr lang="es-MX" sz="1600">
                <a:solidFill>
                  <a:schemeClr val="lt1"/>
                </a:solidFill>
                <a:latin typeface="Work Sans Light"/>
                <a:ea typeface="Work Sans Light"/>
                <a:cs typeface="Work Sans Light"/>
                <a:sym typeface="Work Sans Light"/>
              </a:rPr>
              <a:t>Morcillo Quiroga Katherin</a:t>
            </a:r>
            <a:endParaRPr sz="2400">
              <a:solidFill>
                <a:schemeClr val="lt1"/>
              </a:solidFill>
              <a:latin typeface="Work Sans Light"/>
              <a:ea typeface="Work Sans Light"/>
              <a:cs typeface="Work Sans Light"/>
              <a:sym typeface="Work Sans Light"/>
            </a:endParaRPr>
          </a:p>
          <a:p>
            <a:pPr marL="0" marR="0" lvl="0" indent="0" algn="ctr" rtl="0">
              <a:spcBef>
                <a:spcPts val="0"/>
              </a:spcBef>
              <a:spcAft>
                <a:spcPts val="0"/>
              </a:spcAft>
              <a:buNone/>
            </a:pPr>
            <a:r>
              <a:rPr lang="es-MX" sz="1600">
                <a:solidFill>
                  <a:schemeClr val="lt1"/>
                </a:solidFill>
                <a:latin typeface="Work Sans Light"/>
                <a:ea typeface="Work Sans Light"/>
                <a:cs typeface="Work Sans Light"/>
                <a:sym typeface="Work Sans Light"/>
              </a:rPr>
              <a:t>Rachen Cardenas Brayan Santiago</a:t>
            </a:r>
            <a:endParaRPr sz="1600">
              <a:solidFill>
                <a:schemeClr val="lt1"/>
              </a:solidFill>
              <a:latin typeface="Work Sans Light"/>
              <a:ea typeface="Work Sans Light"/>
              <a:cs typeface="Work Sans Light"/>
              <a:sym typeface="Work Sans Light"/>
            </a:endParaRPr>
          </a:p>
        </p:txBody>
      </p:sp>
      <p:sp>
        <p:nvSpPr>
          <p:cNvPr id="111" name="Google Shape;111;p2"/>
          <p:cNvSpPr txBox="1"/>
          <p:nvPr/>
        </p:nvSpPr>
        <p:spPr>
          <a:xfrm>
            <a:off x="1068888" y="5279998"/>
            <a:ext cx="10054224" cy="107721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Servicio Nacional de Aprendizaje –SENA, Centro de Electricidad Electrónica y Telecomunicaciones</a:t>
            </a:r>
            <a:endParaRPr/>
          </a:p>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Tecnólogo en Análisis y Desarrollo de Software</a:t>
            </a:r>
            <a:endParaRPr/>
          </a:p>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Instructor Albeiro Ramos</a:t>
            </a:r>
            <a:endParaRPr/>
          </a:p>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Bogotá, 30 de Julio de 2025</a:t>
            </a:r>
            <a:endParaRPr sz="1600" b="1">
              <a:solidFill>
                <a:schemeClr val="lt1"/>
              </a:solidFill>
              <a:latin typeface="Work Sans Light"/>
              <a:ea typeface="Work Sans Light"/>
              <a:cs typeface="Work Sans Light"/>
              <a:sym typeface="Work Sans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5"/>
        <p:cNvGrpSpPr/>
        <p:nvPr/>
      </p:nvGrpSpPr>
      <p:grpSpPr>
        <a:xfrm>
          <a:off x="0" y="0"/>
          <a:ext cx="0" cy="0"/>
          <a:chOff x="0" y="0"/>
          <a:chExt cx="0" cy="0"/>
        </a:xfrm>
      </p:grpSpPr>
      <p:sp>
        <p:nvSpPr>
          <p:cNvPr id="116" name="Google Shape;116;g363988e4161_0_0"/>
          <p:cNvSpPr/>
          <p:nvPr/>
        </p:nvSpPr>
        <p:spPr>
          <a:xfrm>
            <a:off x="498593" y="494977"/>
            <a:ext cx="29400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17" name="Google Shape;117;g363988e4161_0_0"/>
          <p:cNvSpPr txBox="1"/>
          <p:nvPr/>
        </p:nvSpPr>
        <p:spPr>
          <a:xfrm>
            <a:off x="498595" y="273824"/>
            <a:ext cx="35148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600"/>
              <a:buFont typeface="Work Sans Light"/>
              <a:buNone/>
            </a:pPr>
            <a:r>
              <a:rPr lang="es-MX" sz="3600">
                <a:solidFill>
                  <a:srgbClr val="38AA00"/>
                </a:solidFill>
                <a:latin typeface="Work Sans Light"/>
                <a:ea typeface="Work Sans Light"/>
                <a:cs typeface="Work Sans Light"/>
                <a:sym typeface="Work Sans Light"/>
              </a:rPr>
              <a:t>Introducción</a:t>
            </a:r>
            <a:endParaRPr/>
          </a:p>
        </p:txBody>
      </p:sp>
      <p:sp>
        <p:nvSpPr>
          <p:cNvPr id="118" name="Google Shape;118;g363988e4161_0_0"/>
          <p:cNvSpPr txBox="1"/>
          <p:nvPr/>
        </p:nvSpPr>
        <p:spPr>
          <a:xfrm>
            <a:off x="413900" y="1014125"/>
            <a:ext cx="7197600" cy="5695200"/>
          </a:xfrm>
          <a:prstGeom prst="rect">
            <a:avLst/>
          </a:prstGeom>
          <a:noFill/>
          <a:ln>
            <a:noFill/>
          </a:ln>
        </p:spPr>
        <p:txBody>
          <a:bodyPr spcFirstLastPara="1" wrap="square" lIns="91425" tIns="45700" rIns="91425" bIns="45700" anchor="t" anchorCtr="0">
            <a:spAutoFit/>
          </a:bodyPr>
          <a:lstStyle/>
          <a:p>
            <a:pPr marL="0" marR="0" lvl="0" indent="0" algn="just" rtl="0">
              <a:lnSpc>
                <a:spcPct val="115000"/>
              </a:lnSpc>
              <a:spcBef>
                <a:spcPts val="1200"/>
              </a:spcBef>
              <a:spcAft>
                <a:spcPts val="0"/>
              </a:spcAft>
              <a:buNone/>
            </a:pPr>
            <a:r>
              <a:rPr lang="es-MX" sz="1600">
                <a:solidFill>
                  <a:schemeClr val="dk1"/>
                </a:solidFill>
                <a:latin typeface="Work Sans Light"/>
                <a:ea typeface="Work Sans Light"/>
                <a:cs typeface="Work Sans Light"/>
                <a:sym typeface="Work Sans Light"/>
              </a:rPr>
              <a:t>Innovation Fusion opera en los sectores industrial y comercial, fabricando y vendiendo calzado y bolsos. Su modelo de negocio se basa en replicar las últimas tendencias de moda. Actualmente, la gestión de pedidos, compras y ventas se realiza de forma manual, lo que genera grandes desafíos para su crecimiento y competitividad en el mercado actual.</a:t>
            </a:r>
            <a:endParaRPr sz="1100">
              <a:solidFill>
                <a:schemeClr val="dk1"/>
              </a:solidFill>
            </a:endParaRPr>
          </a:p>
          <a:p>
            <a:pPr marL="0" marR="0" lvl="0" indent="0" algn="l" rtl="0">
              <a:lnSpc>
                <a:spcPct val="100000"/>
              </a:lnSpc>
              <a:spcBef>
                <a:spcPts val="1200"/>
              </a:spcBef>
              <a:spcAft>
                <a:spcPts val="0"/>
              </a:spcAft>
              <a:buNone/>
            </a:pPr>
            <a:r>
              <a:rPr lang="es-MX" sz="1600" b="1">
                <a:solidFill>
                  <a:schemeClr val="dk1"/>
                </a:solidFill>
                <a:latin typeface="Work Sans"/>
                <a:ea typeface="Work Sans"/>
                <a:cs typeface="Work Sans"/>
                <a:sym typeface="Work Sans"/>
              </a:rPr>
              <a:t>Problemática Central:</a:t>
            </a:r>
            <a:endParaRPr sz="1600" b="1">
              <a:solidFill>
                <a:schemeClr val="dk1"/>
              </a:solidFill>
              <a:latin typeface="Work Sans"/>
              <a:ea typeface="Work Sans"/>
              <a:cs typeface="Work Sans"/>
              <a:sym typeface="Work Sans"/>
            </a:endParaRPr>
          </a:p>
          <a:p>
            <a:pPr marL="0" lvl="0" indent="0" algn="just" rtl="0">
              <a:lnSpc>
                <a:spcPct val="115000"/>
              </a:lnSpc>
              <a:spcBef>
                <a:spcPts val="1200"/>
              </a:spcBef>
              <a:spcAft>
                <a:spcPts val="0"/>
              </a:spcAft>
              <a:buSzPts val="1100"/>
              <a:buNone/>
            </a:pPr>
            <a:r>
              <a:rPr lang="es-MX" sz="1600">
                <a:solidFill>
                  <a:schemeClr val="dk1"/>
                </a:solidFill>
                <a:latin typeface="Work Sans Light"/>
                <a:ea typeface="Work Sans Light"/>
                <a:cs typeface="Work Sans Light"/>
                <a:sym typeface="Work Sans Light"/>
              </a:rPr>
              <a:t>La principal dificultad de Innovation Fusion es la falta de una plataforma digital. Esto limita severamente su visibilidad y capacidad para atraer nuevos clientes, poniéndola en desventaja. El manejo manual de sus procesos operativos clave crea ineficiencias que dificultan enormemente la escalabilidad del negocio.</a:t>
            </a:r>
            <a:endParaRPr sz="1600">
              <a:solidFill>
                <a:schemeClr val="dk1"/>
              </a:solidFill>
              <a:latin typeface="Work Sans Light"/>
              <a:ea typeface="Work Sans Light"/>
              <a:cs typeface="Work Sans Light"/>
              <a:sym typeface="Work Sans Light"/>
            </a:endParaRPr>
          </a:p>
          <a:p>
            <a:pPr marL="0" marR="0" lvl="0" indent="0" algn="l" rtl="0">
              <a:lnSpc>
                <a:spcPct val="100000"/>
              </a:lnSpc>
              <a:spcBef>
                <a:spcPts val="1200"/>
              </a:spcBef>
              <a:spcAft>
                <a:spcPts val="0"/>
              </a:spcAft>
              <a:buNone/>
            </a:pPr>
            <a:r>
              <a:rPr lang="es-MX" sz="1600" b="1">
                <a:solidFill>
                  <a:schemeClr val="dk1"/>
                </a:solidFill>
                <a:latin typeface="Work Sans"/>
                <a:ea typeface="Work Sans"/>
                <a:cs typeface="Work Sans"/>
                <a:sym typeface="Work Sans"/>
              </a:rPr>
              <a:t>Objetivos del Proyecto:</a:t>
            </a:r>
            <a:endParaRPr sz="1600" b="1">
              <a:solidFill>
                <a:schemeClr val="dk1"/>
              </a:solidFill>
              <a:latin typeface="Work Sans"/>
              <a:ea typeface="Work Sans"/>
              <a:cs typeface="Work Sans"/>
              <a:sym typeface="Work Sans"/>
            </a:endParaRPr>
          </a:p>
          <a:p>
            <a:pPr marL="0" marR="0" lvl="0" indent="0" algn="just" rtl="0">
              <a:lnSpc>
                <a:spcPct val="115000"/>
              </a:lnSpc>
              <a:spcBef>
                <a:spcPts val="1200"/>
              </a:spcBef>
              <a:spcAft>
                <a:spcPts val="1200"/>
              </a:spcAft>
              <a:buNone/>
            </a:pPr>
            <a:r>
              <a:rPr lang="es-MX" sz="1600">
                <a:solidFill>
                  <a:schemeClr val="dk1"/>
                </a:solidFill>
                <a:latin typeface="Work Sans Light"/>
                <a:ea typeface="Work Sans Light"/>
                <a:cs typeface="Work Sans Light"/>
                <a:sym typeface="Work Sans Light"/>
              </a:rPr>
              <a:t>El objetivo general es desarrollar e implementar un Sistema de Información Web para Innovation Fusion. Este sistema facilitará la compra de calzado y bolsos de forma segura y eficiente. Los objetivos específicos incluyen gestionar usuarios, el catálogo de productos, el carrito de compras, los pagos, las promociones, las reseñas y la administración de descuentos.</a:t>
            </a:r>
            <a:endParaRPr sz="1600">
              <a:solidFill>
                <a:schemeClr val="dk1"/>
              </a:solidFill>
              <a:latin typeface="Work Sans Light"/>
              <a:ea typeface="Work Sans Light"/>
              <a:cs typeface="Work Sans Light"/>
              <a:sym typeface="Work Sans Light"/>
            </a:endParaRPr>
          </a:p>
        </p:txBody>
      </p:sp>
      <p:pic>
        <p:nvPicPr>
          <p:cNvPr id="119" name="Google Shape;119;g363988e4161_0_0"/>
          <p:cNvPicPr preferRelativeResize="0"/>
          <p:nvPr/>
        </p:nvPicPr>
        <p:blipFill>
          <a:blip r:embed="rId4">
            <a:alphaModFix/>
          </a:blip>
          <a:stretch>
            <a:fillRect/>
          </a:stretch>
        </p:blipFill>
        <p:spPr>
          <a:xfrm>
            <a:off x="7897404" y="0"/>
            <a:ext cx="4294595" cy="6858000"/>
          </a:xfrm>
          <a:prstGeom prst="rect">
            <a:avLst/>
          </a:prstGeom>
          <a:noFill/>
          <a:ln>
            <a:noFill/>
          </a:ln>
        </p:spPr>
      </p:pic>
      <p:pic>
        <p:nvPicPr>
          <p:cNvPr id="120" name="Google Shape;120;g363988e4161_0_0"/>
          <p:cNvPicPr preferRelativeResize="0"/>
          <p:nvPr/>
        </p:nvPicPr>
        <p:blipFill>
          <a:blip r:embed="rId5">
            <a:alphaModFix/>
          </a:blip>
          <a:stretch>
            <a:fillRect/>
          </a:stretch>
        </p:blipFill>
        <p:spPr>
          <a:xfrm>
            <a:off x="7912585" y="0"/>
            <a:ext cx="4264231" cy="68580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24"/>
        <p:cNvGrpSpPr/>
        <p:nvPr/>
      </p:nvGrpSpPr>
      <p:grpSpPr>
        <a:xfrm>
          <a:off x="0" y="0"/>
          <a:ext cx="0" cy="0"/>
          <a:chOff x="0" y="0"/>
          <a:chExt cx="0" cy="0"/>
        </a:xfrm>
      </p:grpSpPr>
      <p:sp>
        <p:nvSpPr>
          <p:cNvPr id="125" name="Google Shape;125;g363988e4161_0_24"/>
          <p:cNvSpPr/>
          <p:nvPr/>
        </p:nvSpPr>
        <p:spPr>
          <a:xfrm>
            <a:off x="1786193" y="549352"/>
            <a:ext cx="29400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26" name="Google Shape;126;g363988e4161_0_24"/>
          <p:cNvSpPr txBox="1"/>
          <p:nvPr/>
        </p:nvSpPr>
        <p:spPr>
          <a:xfrm>
            <a:off x="1786195" y="219949"/>
            <a:ext cx="35148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600"/>
              <a:buFont typeface="Work Sans Light"/>
              <a:buNone/>
            </a:pPr>
            <a:r>
              <a:rPr lang="es-MX" sz="3600">
                <a:solidFill>
                  <a:srgbClr val="38AA00"/>
                </a:solidFill>
                <a:latin typeface="Work Sans Light"/>
                <a:ea typeface="Work Sans Light"/>
                <a:cs typeface="Work Sans Light"/>
                <a:sym typeface="Work Sans Light"/>
              </a:rPr>
              <a:t>Introducción</a:t>
            </a:r>
            <a:endParaRPr/>
          </a:p>
        </p:txBody>
      </p:sp>
      <p:sp>
        <p:nvSpPr>
          <p:cNvPr id="127" name="Google Shape;127;g363988e4161_0_24"/>
          <p:cNvSpPr txBox="1"/>
          <p:nvPr/>
        </p:nvSpPr>
        <p:spPr>
          <a:xfrm>
            <a:off x="1786200" y="896450"/>
            <a:ext cx="8619600" cy="5657400"/>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1200"/>
              </a:spcBef>
              <a:spcAft>
                <a:spcPts val="0"/>
              </a:spcAft>
              <a:buNone/>
            </a:pPr>
            <a:r>
              <a:rPr lang="es-MX" sz="1600" b="1" dirty="0">
                <a:solidFill>
                  <a:schemeClr val="dk1"/>
                </a:solidFill>
                <a:latin typeface="Work Sans"/>
                <a:ea typeface="Work Sans"/>
                <a:cs typeface="Work Sans"/>
                <a:sym typeface="Work Sans"/>
              </a:rPr>
              <a:t>Justificación del Proyecto</a:t>
            </a:r>
            <a:endParaRPr sz="1600" b="1" dirty="0">
              <a:solidFill>
                <a:schemeClr val="dk1"/>
              </a:solidFill>
              <a:latin typeface="Work Sans"/>
              <a:ea typeface="Work Sans"/>
              <a:cs typeface="Work Sans"/>
              <a:sym typeface="Work Sans"/>
            </a:endParaRPr>
          </a:p>
          <a:p>
            <a:pPr marL="0" marR="0" lvl="0" indent="0" algn="just" rtl="0">
              <a:lnSpc>
                <a:spcPct val="115000"/>
              </a:lnSpc>
              <a:spcBef>
                <a:spcPts val="1200"/>
              </a:spcBef>
              <a:spcAft>
                <a:spcPts val="0"/>
              </a:spcAft>
              <a:buNone/>
            </a:pPr>
            <a:r>
              <a:rPr lang="es-MX" sz="1600" dirty="0">
                <a:solidFill>
                  <a:schemeClr val="dk1"/>
                </a:solidFill>
                <a:latin typeface="Work Sans Light"/>
                <a:ea typeface="Work Sans Light"/>
                <a:cs typeface="Work Sans Light"/>
                <a:sym typeface="Work Sans Light"/>
              </a:rPr>
              <a:t>Este proyecto es crucial porque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necesita modernizarse y digitalizar sus operaciones. Esto aumentará su visibilidad en el mercado, mejorará la eficiencia de sus procesos manuales y ofrecerá una experiencia de compra superior y moderna. La digitalización es esencial para su crecimiento y competitividad.</a:t>
            </a:r>
            <a:endParaRPr sz="1600" dirty="0">
              <a:solidFill>
                <a:schemeClr val="dk1"/>
              </a:solidFill>
              <a:latin typeface="Work Sans Light"/>
              <a:ea typeface="Work Sans Light"/>
              <a:cs typeface="Work Sans Light"/>
              <a:sym typeface="Work Sans Light"/>
            </a:endParaRPr>
          </a:p>
          <a:p>
            <a:pPr marL="0" marR="0" lvl="0" indent="0" algn="l" rtl="0">
              <a:lnSpc>
                <a:spcPct val="115000"/>
              </a:lnSpc>
              <a:spcBef>
                <a:spcPts val="1200"/>
              </a:spcBef>
              <a:spcAft>
                <a:spcPts val="0"/>
              </a:spcAft>
              <a:buNone/>
            </a:pPr>
            <a:r>
              <a:rPr lang="es-MX" sz="1600" b="1" dirty="0">
                <a:solidFill>
                  <a:schemeClr val="dk1"/>
                </a:solidFill>
                <a:latin typeface="Work Sans"/>
                <a:ea typeface="Work Sans"/>
                <a:cs typeface="Work Sans"/>
                <a:sym typeface="Work Sans"/>
              </a:rPr>
              <a:t>Alcance del Proyecto</a:t>
            </a:r>
            <a:endParaRPr sz="1600" b="1" dirty="0">
              <a:solidFill>
                <a:schemeClr val="dk1"/>
              </a:solidFill>
              <a:latin typeface="Work Sans"/>
              <a:ea typeface="Work Sans"/>
              <a:cs typeface="Work Sans"/>
              <a:sym typeface="Work Sans"/>
            </a:endParaRPr>
          </a:p>
          <a:p>
            <a:pPr marL="0" marR="0" lvl="0" indent="0" algn="just" rtl="0">
              <a:lnSpc>
                <a:spcPct val="115000"/>
              </a:lnSpc>
              <a:spcBef>
                <a:spcPts val="1200"/>
              </a:spcBef>
              <a:spcAft>
                <a:spcPts val="0"/>
              </a:spcAft>
              <a:buNone/>
            </a:pPr>
            <a:r>
              <a:rPr lang="es-MX" sz="1600" dirty="0">
                <a:solidFill>
                  <a:schemeClr val="dk1"/>
                </a:solidFill>
                <a:latin typeface="Work Sans Light"/>
                <a:ea typeface="Work Sans Light"/>
                <a:cs typeface="Work Sans Light"/>
                <a:sym typeface="Work Sans Light"/>
              </a:rPr>
              <a:t>El sistema abarcará el desarrollo de una aplicación web integral. Incluirá funcionalidades de comercio electrónico y administración completa de usuarios (clientes y administradores). Un proceso de compra automatizado, administración de inventario, implementación de promociones y generación de reportes para análisis de datos.</a:t>
            </a:r>
            <a:endParaRPr sz="1600" dirty="0">
              <a:solidFill>
                <a:schemeClr val="dk1"/>
              </a:solidFill>
              <a:latin typeface="Work Sans Light"/>
              <a:ea typeface="Work Sans Light"/>
              <a:cs typeface="Work Sans Light"/>
              <a:sym typeface="Work Sans Light"/>
            </a:endParaRPr>
          </a:p>
          <a:p>
            <a:pPr marL="0" marR="0" lvl="0" indent="0" algn="l" rtl="0">
              <a:lnSpc>
                <a:spcPct val="115000"/>
              </a:lnSpc>
              <a:spcBef>
                <a:spcPts val="1200"/>
              </a:spcBef>
              <a:spcAft>
                <a:spcPts val="0"/>
              </a:spcAft>
              <a:buNone/>
            </a:pPr>
            <a:r>
              <a:rPr lang="es-MX" sz="1700" b="1" dirty="0">
                <a:solidFill>
                  <a:schemeClr val="dk1"/>
                </a:solidFill>
              </a:rPr>
              <a:t> </a:t>
            </a:r>
            <a:r>
              <a:rPr lang="es-MX" sz="1600" b="1" dirty="0">
                <a:solidFill>
                  <a:schemeClr val="dk1"/>
                </a:solidFill>
                <a:latin typeface="Work Sans"/>
                <a:ea typeface="Work Sans"/>
                <a:cs typeface="Work Sans"/>
                <a:sym typeface="Work Sans"/>
              </a:rPr>
              <a:t>Delimitación del Proyecto</a:t>
            </a:r>
            <a:endParaRPr sz="1600" b="1" dirty="0">
              <a:solidFill>
                <a:schemeClr val="dk1"/>
              </a:solidFill>
              <a:latin typeface="Work Sans"/>
              <a:ea typeface="Work Sans"/>
              <a:cs typeface="Work Sans"/>
              <a:sym typeface="Work Sans"/>
            </a:endParaRPr>
          </a:p>
          <a:p>
            <a:pPr marL="0" marR="0" lvl="0" indent="0" algn="just" rtl="0">
              <a:lnSpc>
                <a:spcPct val="115000"/>
              </a:lnSpc>
              <a:spcBef>
                <a:spcPts val="1200"/>
              </a:spcBef>
              <a:spcAft>
                <a:spcPts val="1200"/>
              </a:spcAft>
              <a:buNone/>
            </a:pPr>
            <a:r>
              <a:rPr lang="es-MX" sz="1600" dirty="0">
                <a:solidFill>
                  <a:schemeClr val="dk1"/>
                </a:solidFill>
                <a:latin typeface="Work Sans Light"/>
                <a:ea typeface="Work Sans Light"/>
                <a:cs typeface="Work Sans Light"/>
                <a:sym typeface="Work Sans Light"/>
              </a:rPr>
              <a:t>El sistema se centrará en la interfaz web para la interacción con clientes y la gestión administrativa de ventas e inventario. No automatizará procesos físicos de manufactura (corte, cosido, pegado) ni la subcontratación de modelaje. La logística de envíos y devoluciones se gestionará a nivel de sistema, pero la operación física seguirá a cargo de terceros.</a:t>
            </a:r>
            <a:endParaRPr sz="1600" dirty="0">
              <a:solidFill>
                <a:schemeClr val="dk1"/>
              </a:solidFill>
              <a:latin typeface="Work Sans Light"/>
              <a:ea typeface="Work Sans Light"/>
              <a:cs typeface="Work Sans Light"/>
              <a:sym typeface="Work Sans Ligh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31"/>
        <p:cNvGrpSpPr/>
        <p:nvPr/>
      </p:nvGrpSpPr>
      <p:grpSpPr>
        <a:xfrm>
          <a:off x="0" y="0"/>
          <a:ext cx="0" cy="0"/>
          <a:chOff x="0" y="0"/>
          <a:chExt cx="0" cy="0"/>
        </a:xfrm>
      </p:grpSpPr>
      <p:sp>
        <p:nvSpPr>
          <p:cNvPr id="132" name="Google Shape;132;p4"/>
          <p:cNvSpPr txBox="1"/>
          <p:nvPr/>
        </p:nvSpPr>
        <p:spPr>
          <a:xfrm>
            <a:off x="456236" y="416689"/>
            <a:ext cx="10515600" cy="741563"/>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chemeClr val="lt1"/>
              </a:buClr>
              <a:buSzPts val="4400"/>
              <a:buFont typeface="Work Sans Medium"/>
              <a:buNone/>
            </a:pPr>
            <a:r>
              <a:rPr lang="es-MX" sz="4400">
                <a:solidFill>
                  <a:schemeClr val="lt1"/>
                </a:solidFill>
                <a:latin typeface="Work Sans Medium"/>
                <a:ea typeface="Work Sans Medium"/>
                <a:cs typeface="Work Sans Medium"/>
                <a:sym typeface="Work Sans Medium"/>
              </a:rPr>
              <a:t>Nombre del Proyecto</a:t>
            </a:r>
            <a:endParaRPr/>
          </a:p>
        </p:txBody>
      </p:sp>
      <p:sp>
        <p:nvSpPr>
          <p:cNvPr id="133" name="Google Shape;133;p4"/>
          <p:cNvSpPr txBox="1"/>
          <p:nvPr/>
        </p:nvSpPr>
        <p:spPr>
          <a:xfrm>
            <a:off x="6653014" y="2489547"/>
            <a:ext cx="4547400" cy="3540300"/>
          </a:xfrm>
          <a:prstGeom prst="rect">
            <a:avLst/>
          </a:prstGeom>
          <a:noFill/>
          <a:ln>
            <a:noFill/>
          </a:ln>
        </p:spPr>
        <p:txBody>
          <a:bodyPr spcFirstLastPara="1" wrap="square" lIns="91425" tIns="45700" rIns="91425" bIns="45700" anchor="t" anchorCtr="0">
            <a:spAutoFit/>
          </a:bodyPr>
          <a:lstStyle/>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Problema</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Objetivos</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Justificación</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Alcance</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Delimitación</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Entregables Trimestre</a:t>
            </a:r>
            <a:endParaRPr/>
          </a:p>
        </p:txBody>
      </p:sp>
      <p:pic>
        <p:nvPicPr>
          <p:cNvPr id="134" name="Google Shape;134;p4"/>
          <p:cNvPicPr preferRelativeResize="0"/>
          <p:nvPr/>
        </p:nvPicPr>
        <p:blipFill>
          <a:blip r:embed="rId4">
            <a:alphaModFix/>
          </a:blip>
          <a:stretch>
            <a:fillRect/>
          </a:stretch>
        </p:blipFill>
        <p:spPr>
          <a:xfrm>
            <a:off x="3573672" y="2820965"/>
            <a:ext cx="2251475" cy="2168075"/>
          </a:xfrm>
          <a:prstGeom prst="rect">
            <a:avLst/>
          </a:prstGeom>
          <a:noFill/>
          <a:ln>
            <a:noFill/>
          </a:ln>
        </p:spPr>
      </p:pic>
      <p:pic>
        <p:nvPicPr>
          <p:cNvPr id="2" name="Imagen 1">
            <a:extLst>
              <a:ext uri="{FF2B5EF4-FFF2-40B4-BE49-F238E27FC236}">
                <a16:creationId xmlns:a16="http://schemas.microsoft.com/office/drawing/2014/main" id="{7B5FBCF8-7ED3-B2CC-C930-7371119F4BA7}"/>
              </a:ext>
            </a:extLst>
          </p:cNvPr>
          <p:cNvPicPr>
            <a:picLocks noChangeAspect="1"/>
          </p:cNvPicPr>
          <p:nvPr/>
        </p:nvPicPr>
        <p:blipFill>
          <a:blip r:embed="rId5"/>
          <a:stretch>
            <a:fillRect/>
          </a:stretch>
        </p:blipFill>
        <p:spPr>
          <a:xfrm>
            <a:off x="713805" y="2682035"/>
            <a:ext cx="2445934" cy="244593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g36393dac501_0_0"/>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Problema</a:t>
            </a:r>
            <a:endParaRPr/>
          </a:p>
        </p:txBody>
      </p:sp>
      <p:sp>
        <p:nvSpPr>
          <p:cNvPr id="141" name="Google Shape;141;g36393dac501_0_0"/>
          <p:cNvSpPr txBox="1"/>
          <p:nvPr/>
        </p:nvSpPr>
        <p:spPr>
          <a:xfrm>
            <a:off x="372353" y="1667521"/>
            <a:ext cx="11447400" cy="501671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es una empresa ubicada en Bogotá dedicada a la fabricación y venta de calzado y bolsos. Su modelo de negocio se basa en el proceso de la manufactura de los insumos, el proceso de la comercialización del producto, y el proceso de la facturación manual</a:t>
            </a: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Clr>
                <a:schemeClr val="dk1"/>
              </a:buClr>
              <a:buSzPts val="1600"/>
              <a:buFont typeface="Arial"/>
              <a:buNone/>
            </a:pPr>
            <a:r>
              <a:rPr lang="es-MX" sz="1600" dirty="0">
                <a:solidFill>
                  <a:schemeClr val="dk1"/>
                </a:solidFill>
                <a:latin typeface="Work Sans Light"/>
                <a:ea typeface="Work Sans Light"/>
                <a:cs typeface="Work Sans Light"/>
                <a:sym typeface="Work Sans Light"/>
              </a:rPr>
              <a:t>Se utilizaron técnicas de recolección de datos como lo fueron: la encuesta, la entrevista, el análisis de la competencia. En la encuesta se enfocó a posibles clientes de la empresa(</a:t>
            </a:r>
            <a:r>
              <a:rPr lang="es-MX" sz="1600" u="sng" dirty="0">
                <a:solidFill>
                  <a:schemeClr val="hlink"/>
                </a:solidFill>
                <a:latin typeface="Work Sans"/>
                <a:ea typeface="Work Sans"/>
                <a:cs typeface="Work Sans"/>
                <a:sym typeface="Work Sans"/>
                <a:hlinkClick r:id="rId3"/>
              </a:rPr>
              <a:t>link verla encuesta</a:t>
            </a:r>
            <a:r>
              <a:rPr lang="es-MX" sz="1600" dirty="0">
                <a:solidFill>
                  <a:schemeClr val="dk1"/>
                </a:solidFill>
                <a:latin typeface="Work Sans Light"/>
                <a:ea typeface="Work Sans Light"/>
                <a:cs typeface="Work Sans Light"/>
                <a:sym typeface="Work Sans Light"/>
              </a:rPr>
              <a:t>), se realizó una entrevista, donde se enfocó al gerente de la empresa (</a:t>
            </a:r>
            <a:r>
              <a:rPr lang="es-MX" sz="1600" u="sng" dirty="0">
                <a:solidFill>
                  <a:schemeClr val="hlink"/>
                </a:solidFill>
                <a:latin typeface="Work Sans Light"/>
                <a:ea typeface="Work Sans Light"/>
                <a:cs typeface="Work Sans Light"/>
                <a:sym typeface="Work Sans Light"/>
                <a:hlinkClick r:id="rId4"/>
              </a:rPr>
              <a:t>link de la entrevista</a:t>
            </a:r>
            <a:r>
              <a:rPr lang="es-MX" sz="1600" dirty="0">
                <a:solidFill>
                  <a:schemeClr val="dk1"/>
                </a:solidFill>
                <a:latin typeface="Work Sans Light"/>
                <a:ea typeface="Work Sans Light"/>
                <a:cs typeface="Work Sans Light"/>
                <a:sym typeface="Work Sans Light"/>
              </a:rPr>
              <a:t>)y un análisis de la competencia (</a:t>
            </a:r>
            <a:r>
              <a:rPr lang="es-MX" sz="1600" u="sng" dirty="0">
                <a:solidFill>
                  <a:schemeClr val="hlink"/>
                </a:solidFill>
                <a:latin typeface="Work Sans Light"/>
                <a:ea typeface="Work Sans Light"/>
                <a:cs typeface="Work Sans Light"/>
                <a:sym typeface="Work Sans Light"/>
                <a:hlinkClick r:id="rId5"/>
              </a:rPr>
              <a:t>link de competencia</a:t>
            </a:r>
            <a:r>
              <a:rPr lang="es-MX" sz="1600" dirty="0">
                <a:solidFill>
                  <a:schemeClr val="dk1"/>
                </a:solidFill>
                <a:latin typeface="Work Sans Light"/>
                <a:ea typeface="Work Sans Light"/>
                <a:cs typeface="Work Sans Light"/>
                <a:sym typeface="Work Sans Light"/>
              </a:rPr>
              <a:t>).Se realizaron las conclusiones con: (</a:t>
            </a:r>
            <a:r>
              <a:rPr lang="es-MX" sz="1600" u="sng" dirty="0">
                <a:solidFill>
                  <a:schemeClr val="hlink"/>
                </a:solidFill>
                <a:latin typeface="Work Sans Light"/>
                <a:ea typeface="Work Sans Light"/>
                <a:cs typeface="Work Sans Light"/>
                <a:sym typeface="Work Sans Light"/>
                <a:hlinkClick r:id="rId6"/>
              </a:rPr>
              <a:t>link de los resultados</a:t>
            </a:r>
            <a:r>
              <a:rPr lang="es-MX" sz="1600" dirty="0">
                <a:solidFill>
                  <a:schemeClr val="dk1"/>
                </a:solidFill>
                <a:latin typeface="Work Sans Light"/>
                <a:ea typeface="Work Sans Light"/>
                <a:cs typeface="Work Sans Light"/>
                <a:sym typeface="Work Sans Light"/>
              </a:rPr>
              <a:t>):</a:t>
            </a:r>
            <a:endParaRPr sz="1600" dirty="0">
              <a:solidFill>
                <a:schemeClr val="dk1"/>
              </a:solidFill>
              <a:latin typeface="Work Sans Light"/>
              <a:ea typeface="Work Sans Light"/>
              <a:cs typeface="Work Sans Light"/>
              <a:sym typeface="Work Sans Light"/>
            </a:endParaRPr>
          </a:p>
          <a:p>
            <a:pPr marL="0" marR="0" lvl="0" indent="0" algn="l" rtl="0">
              <a:lnSpc>
                <a:spcPct val="100000"/>
              </a:lnSpc>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Clr>
                <a:schemeClr val="dk1"/>
              </a:buClr>
              <a:buSzPts val="1100"/>
              <a:buFont typeface="Arial"/>
              <a:buNone/>
            </a:pPr>
            <a:r>
              <a:rPr lang="es-MX" sz="1600" dirty="0">
                <a:solidFill>
                  <a:schemeClr val="dk1"/>
                </a:solidFill>
                <a:latin typeface="Work Sans Light"/>
                <a:ea typeface="Work Sans Light"/>
                <a:cs typeface="Work Sans Light"/>
                <a:sym typeface="Work Sans Light"/>
              </a:rPr>
              <a:t>Teniendo en cuenta la recolección de información y los procesos de la empresa, las necesidades encontradas es el alcance de clientes y la automatización de las facturación </a:t>
            </a: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Clr>
                <a:schemeClr val="dk1"/>
              </a:buClr>
              <a:buSzPts val="1100"/>
              <a:buFont typeface="Arial"/>
              <a:buNone/>
            </a:pP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Clr>
                <a:schemeClr val="dk1"/>
              </a:buClr>
              <a:buSzPts val="1100"/>
              <a:buFont typeface="Arial"/>
              <a:buNone/>
            </a:pPr>
            <a:r>
              <a:rPr lang="es-MX" sz="1600" dirty="0">
                <a:solidFill>
                  <a:schemeClr val="dk1"/>
                </a:solidFill>
                <a:latin typeface="Work Sans Light"/>
                <a:ea typeface="Work Sans Light"/>
                <a:cs typeface="Work Sans Light"/>
                <a:sym typeface="Work Sans Light"/>
              </a:rPr>
              <a:t>proceso:</a:t>
            </a:r>
          </a:p>
          <a:p>
            <a:pPr marL="0" lvl="0" indent="0" algn="l" rtl="0">
              <a:spcBef>
                <a:spcPts val="0"/>
              </a:spcBef>
              <a:spcAft>
                <a:spcPts val="0"/>
              </a:spcAft>
              <a:buClr>
                <a:schemeClr val="dk1"/>
              </a:buClr>
              <a:buSzPts val="1100"/>
              <a:buFont typeface="Arial"/>
              <a:buNone/>
            </a:pPr>
            <a:endParaRPr sz="1600" dirty="0">
              <a:solidFill>
                <a:schemeClr val="dk1"/>
              </a:solidFill>
              <a:latin typeface="Work Sans Light"/>
              <a:ea typeface="Work Sans Light"/>
              <a:cs typeface="Work Sans Light"/>
              <a:sym typeface="Work Sans Light"/>
            </a:endParaRPr>
          </a:p>
          <a:p>
            <a:pPr marL="457200" marR="0" lvl="0" indent="-330200" algn="l" rtl="0">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El procesos venta e inventario: el proceso del inventario consiste en registrar en un cuaderno en donde se registran los pedidos por clientes, en el cual se detallan: estilos, colores, tallas.</a:t>
            </a:r>
            <a:endParaRPr sz="1600" dirty="0">
              <a:solidFill>
                <a:schemeClr val="dk1"/>
              </a:solidFill>
              <a:latin typeface="Work Sans Light"/>
              <a:ea typeface="Work Sans Light"/>
              <a:cs typeface="Work Sans Light"/>
              <a:sym typeface="Work Sans Light"/>
            </a:endParaRPr>
          </a:p>
          <a:p>
            <a:pPr marL="457200" marR="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En el proceso de venta, se registra en un cuaderno de facturas, el total de la venta y el saldo pendiente, con el fin de saber los gastos de insumo y el saldo queda a favor. De esta manera, se concluye que es necesaria una optimización de los procesos de inventario y venta.</a:t>
            </a: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Clr>
                <a:schemeClr val="dk1"/>
              </a:buClr>
              <a:buSzPts val="1600"/>
              <a:buFont typeface="Arial"/>
              <a:buNone/>
            </a:pPr>
            <a:endParaRPr sz="1600" dirty="0">
              <a:solidFill>
                <a:schemeClr val="dk1"/>
              </a:solidFill>
              <a:latin typeface="Work Sans Light"/>
              <a:ea typeface="Work Sans Light"/>
              <a:cs typeface="Work Sans Light"/>
              <a:sym typeface="Work Sans Light"/>
            </a:endParaRPr>
          </a:p>
        </p:txBody>
      </p:sp>
      <p:pic>
        <p:nvPicPr>
          <p:cNvPr id="142" name="Google Shape;142;g36393dac501_0_0"/>
          <p:cNvPicPr preferRelativeResize="0"/>
          <p:nvPr/>
        </p:nvPicPr>
        <p:blipFill>
          <a:blip r:embed="rId7">
            <a:alphaModFix/>
          </a:blip>
          <a:stretch>
            <a:fillRect/>
          </a:stretch>
        </p:blipFill>
        <p:spPr>
          <a:xfrm>
            <a:off x="9846091" y="351912"/>
            <a:ext cx="875109" cy="842700"/>
          </a:xfrm>
          <a:prstGeom prst="rect">
            <a:avLst/>
          </a:prstGeom>
          <a:noFill/>
          <a:ln>
            <a:noFill/>
          </a:ln>
        </p:spPr>
      </p:pic>
      <p:pic>
        <p:nvPicPr>
          <p:cNvPr id="143" name="Google Shape;143;g36393dac501_0_0"/>
          <p:cNvPicPr preferRelativeResize="0"/>
          <p:nvPr/>
        </p:nvPicPr>
        <p:blipFill>
          <a:blip r:embed="rId7">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FAE1EDB6-BB23-1473-62AE-4CE222232915}"/>
              </a:ext>
            </a:extLst>
          </p:cNvPr>
          <p:cNvPicPr>
            <a:picLocks noChangeAspect="1"/>
          </p:cNvPicPr>
          <p:nvPr/>
        </p:nvPicPr>
        <p:blipFill>
          <a:blip r:embed="rId8"/>
          <a:stretch>
            <a:fillRect/>
          </a:stretch>
        </p:blipFill>
        <p:spPr>
          <a:xfrm>
            <a:off x="8378378" y="164723"/>
            <a:ext cx="1217077" cy="1217077"/>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9">
          <a:extLst>
            <a:ext uri="{FF2B5EF4-FFF2-40B4-BE49-F238E27FC236}">
              <a16:creationId xmlns:a16="http://schemas.microsoft.com/office/drawing/2014/main" id="{7E2257B7-B879-7BF2-1AA3-A1130E6FA51E}"/>
            </a:ext>
          </a:extLst>
        </p:cNvPr>
        <p:cNvGrpSpPr/>
        <p:nvPr/>
      </p:nvGrpSpPr>
      <p:grpSpPr>
        <a:xfrm>
          <a:off x="0" y="0"/>
          <a:ext cx="0" cy="0"/>
          <a:chOff x="0" y="0"/>
          <a:chExt cx="0" cy="0"/>
        </a:xfrm>
      </p:grpSpPr>
      <p:sp>
        <p:nvSpPr>
          <p:cNvPr id="140" name="Google Shape;140;g36393dac501_0_0">
            <a:extLst>
              <a:ext uri="{FF2B5EF4-FFF2-40B4-BE49-F238E27FC236}">
                <a16:creationId xmlns:a16="http://schemas.microsoft.com/office/drawing/2014/main" id="{1B78450E-7AE0-AF8C-E667-06ADE65C60D5}"/>
              </a:ext>
            </a:extLst>
          </p:cNvPr>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Problema</a:t>
            </a:r>
            <a:endParaRPr/>
          </a:p>
        </p:txBody>
      </p:sp>
      <p:sp>
        <p:nvSpPr>
          <p:cNvPr id="141" name="Google Shape;141;g36393dac501_0_0">
            <a:extLst>
              <a:ext uri="{FF2B5EF4-FFF2-40B4-BE49-F238E27FC236}">
                <a16:creationId xmlns:a16="http://schemas.microsoft.com/office/drawing/2014/main" id="{E9AD4244-DB38-2F2E-D20C-1B90C402A021}"/>
              </a:ext>
            </a:extLst>
          </p:cNvPr>
          <p:cNvSpPr txBox="1"/>
          <p:nvPr/>
        </p:nvSpPr>
        <p:spPr>
          <a:xfrm>
            <a:off x="372353" y="1667521"/>
            <a:ext cx="11447400" cy="1815841"/>
          </a:xfrm>
          <a:prstGeom prst="rect">
            <a:avLst/>
          </a:prstGeom>
          <a:noFill/>
          <a:ln>
            <a:noFill/>
          </a:ln>
        </p:spPr>
        <p:txBody>
          <a:bodyPr spcFirstLastPara="1" wrap="square" lIns="91425" tIns="45700" rIns="91425" bIns="45700" anchor="t" anchorCtr="0">
            <a:spAutoFit/>
          </a:bodyPr>
          <a:lstStyle/>
          <a:p>
            <a:pPr marL="457200" lvl="0" indent="-330200">
              <a:buClr>
                <a:schemeClr val="dk1"/>
              </a:buClr>
              <a:buSzPts val="1600"/>
              <a:buFont typeface="Work Sans Light"/>
              <a:buChar char="●"/>
            </a:pPr>
            <a:r>
              <a:rPr lang="es-ES" sz="1600" dirty="0">
                <a:solidFill>
                  <a:schemeClr val="dk1"/>
                </a:solidFill>
                <a:latin typeface="Work Sans Light"/>
                <a:ea typeface="Work Sans Light"/>
                <a:cs typeface="Work Sans Light"/>
                <a:sym typeface="Work Sans Light"/>
              </a:rPr>
              <a:t>El proceso de pagos: el proceso de pagos se realiza mediante un pago en efectivo, una transferencia bancaria o una transferencia de </a:t>
            </a:r>
            <a:r>
              <a:rPr lang="es-ES" sz="1600" dirty="0" err="1">
                <a:solidFill>
                  <a:schemeClr val="dk1"/>
                </a:solidFill>
                <a:latin typeface="Work Sans Light"/>
                <a:ea typeface="Work Sans Light"/>
                <a:cs typeface="Work Sans Light"/>
                <a:sym typeface="Work Sans Light"/>
              </a:rPr>
              <a:t>neobancos</a:t>
            </a:r>
            <a:r>
              <a:rPr lang="es-ES" sz="1600" dirty="0">
                <a:solidFill>
                  <a:schemeClr val="dk1"/>
                </a:solidFill>
                <a:latin typeface="Work Sans Light"/>
                <a:ea typeface="Work Sans Light"/>
                <a:cs typeface="Work Sans Light"/>
                <a:sym typeface="Work Sans Light"/>
              </a:rPr>
              <a:t> (</a:t>
            </a:r>
            <a:r>
              <a:rPr lang="es-ES" sz="1600" dirty="0" err="1">
                <a:solidFill>
                  <a:schemeClr val="dk1"/>
                </a:solidFill>
                <a:latin typeface="Work Sans Light"/>
                <a:ea typeface="Work Sans Light"/>
                <a:cs typeface="Work Sans Light"/>
                <a:sym typeface="Work Sans Light"/>
              </a:rPr>
              <a:t>nequi</a:t>
            </a:r>
            <a:r>
              <a:rPr lang="es-ES" sz="1600" dirty="0">
                <a:solidFill>
                  <a:schemeClr val="dk1"/>
                </a:solidFill>
                <a:latin typeface="Work Sans Light"/>
                <a:ea typeface="Work Sans Light"/>
                <a:cs typeface="Work Sans Light"/>
                <a:sym typeface="Work Sans Light"/>
              </a:rPr>
              <a:t> o </a:t>
            </a:r>
            <a:r>
              <a:rPr lang="es-ES" sz="1600" dirty="0" err="1">
                <a:solidFill>
                  <a:schemeClr val="dk1"/>
                </a:solidFill>
                <a:latin typeface="Work Sans Light"/>
                <a:ea typeface="Work Sans Light"/>
                <a:cs typeface="Work Sans Light"/>
                <a:sym typeface="Work Sans Light"/>
              </a:rPr>
              <a:t>daviplata</a:t>
            </a:r>
            <a:r>
              <a:rPr lang="es-ES" sz="1600" dirty="0">
                <a:solidFill>
                  <a:schemeClr val="dk1"/>
                </a:solidFill>
                <a:latin typeface="Work Sans Light"/>
                <a:ea typeface="Work Sans Light"/>
                <a:cs typeface="Work Sans Light"/>
                <a:sym typeface="Work Sans Light"/>
              </a:rPr>
              <a:t>). Aunque el método funciona, se concluye que es necesaria una optimización para lograr un mayor control e integración con los demás procesos.</a:t>
            </a:r>
          </a:p>
          <a:p>
            <a:pPr marL="457200" lvl="0" indent="-330200">
              <a:buClr>
                <a:schemeClr val="dk1"/>
              </a:buClr>
              <a:buSzPts val="1600"/>
              <a:buFont typeface="Work Sans Light"/>
              <a:buChar char="●"/>
            </a:pPr>
            <a:endParaRPr lang="es-ES" sz="1600" dirty="0">
              <a:solidFill>
                <a:schemeClr val="dk1"/>
              </a:solidFill>
              <a:latin typeface="Work Sans Light"/>
              <a:ea typeface="Work Sans Light"/>
              <a:cs typeface="Work Sans Light"/>
              <a:sym typeface="Work Sans Light"/>
            </a:endParaRPr>
          </a:p>
          <a:p>
            <a:pPr marL="457200" marR="0" lvl="0" indent="-330200" algn="l" rtl="0">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El proceso de promociones y descuentos: el proceso de promociones y descuentos consiste en dar un descuento por la compra de un producto de un calzado y un bolso se le da una rebaja de un porcentaje del total de la compra al cliente</a:t>
            </a:r>
            <a:endParaRPr sz="1600" dirty="0">
              <a:solidFill>
                <a:schemeClr val="dk1"/>
              </a:solidFill>
              <a:latin typeface="Work Sans Light"/>
              <a:ea typeface="Work Sans Light"/>
              <a:cs typeface="Work Sans Light"/>
              <a:sym typeface="Work Sans Light"/>
            </a:endParaRPr>
          </a:p>
        </p:txBody>
      </p:sp>
      <p:pic>
        <p:nvPicPr>
          <p:cNvPr id="142" name="Google Shape;142;g36393dac501_0_0">
            <a:extLst>
              <a:ext uri="{FF2B5EF4-FFF2-40B4-BE49-F238E27FC236}">
                <a16:creationId xmlns:a16="http://schemas.microsoft.com/office/drawing/2014/main" id="{77528107-6AF9-0DCF-DB02-3072A001BE3A}"/>
              </a:ext>
            </a:extLst>
          </p:cNvPr>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43" name="Google Shape;143;g36393dac501_0_0">
            <a:extLst>
              <a:ext uri="{FF2B5EF4-FFF2-40B4-BE49-F238E27FC236}">
                <a16:creationId xmlns:a16="http://schemas.microsoft.com/office/drawing/2014/main" id="{A4C9270D-39D3-8A07-66CF-88628E3663F3}"/>
              </a:ext>
            </a:extLst>
          </p:cNvPr>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B981FEA9-ACFE-A46A-334E-C641A7660B58}"/>
              </a:ext>
            </a:extLst>
          </p:cNvPr>
          <p:cNvPicPr>
            <a:picLocks noChangeAspect="1"/>
          </p:cNvPicPr>
          <p:nvPr/>
        </p:nvPicPr>
        <p:blipFill>
          <a:blip r:embed="rId4"/>
          <a:stretch>
            <a:fillRect/>
          </a:stretch>
        </p:blipFill>
        <p:spPr>
          <a:xfrm>
            <a:off x="8378378" y="164723"/>
            <a:ext cx="1217077" cy="1217077"/>
          </a:xfrm>
          <a:prstGeom prst="rect">
            <a:avLst/>
          </a:prstGeom>
        </p:spPr>
      </p:pic>
    </p:spTree>
    <p:extLst>
      <p:ext uri="{BB962C8B-B14F-4D97-AF65-F5344CB8AC3E}">
        <p14:creationId xmlns:p14="http://schemas.microsoft.com/office/powerpoint/2010/main" val="3424747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g36393dac501_3_0"/>
          <p:cNvSpPr/>
          <p:nvPr/>
        </p:nvSpPr>
        <p:spPr>
          <a:xfrm>
            <a:off x="1314043" y="1369915"/>
            <a:ext cx="35274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50" name="Google Shape;150;g36393dac501_3_0"/>
          <p:cNvSpPr txBox="1"/>
          <p:nvPr/>
        </p:nvSpPr>
        <p:spPr>
          <a:xfrm>
            <a:off x="1039259" y="1040536"/>
            <a:ext cx="4077000" cy="676500"/>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rgbClr val="38AA00"/>
              </a:buClr>
              <a:buSzPts val="3200"/>
              <a:buFont typeface="Work Sans Light"/>
              <a:buNone/>
            </a:pPr>
            <a:r>
              <a:rPr lang="es-MX" sz="3200">
                <a:solidFill>
                  <a:srgbClr val="38AA00"/>
                </a:solidFill>
                <a:latin typeface="Work Sans Light"/>
                <a:ea typeface="Work Sans Light"/>
                <a:cs typeface="Work Sans Light"/>
                <a:sym typeface="Work Sans Light"/>
              </a:rPr>
              <a:t>Objetivo General</a:t>
            </a:r>
            <a:endParaRPr/>
          </a:p>
        </p:txBody>
      </p:sp>
      <p:sp>
        <p:nvSpPr>
          <p:cNvPr id="151" name="Google Shape;151;g36393dac501_3_0"/>
          <p:cNvSpPr txBox="1"/>
          <p:nvPr/>
        </p:nvSpPr>
        <p:spPr>
          <a:xfrm>
            <a:off x="1247943" y="2700940"/>
            <a:ext cx="5043000" cy="1815841"/>
          </a:xfrm>
          <a:prstGeom prst="rect">
            <a:avLst/>
          </a:prstGeom>
          <a:noFill/>
          <a:ln>
            <a:noFill/>
          </a:ln>
        </p:spPr>
        <p:txBody>
          <a:bodyPr spcFirstLastPara="1" wrap="square" lIns="91425" tIns="45700" rIns="91425" bIns="45700" anchor="t" anchorCtr="0">
            <a:spAutoFit/>
          </a:bodyPr>
          <a:lstStyle/>
          <a:p>
            <a:pPr marL="0" marR="0" lvl="0" indent="0" algn="just" rtl="0">
              <a:lnSpc>
                <a:spcPct val="100000"/>
              </a:lnSpc>
              <a:spcBef>
                <a:spcPts val="0"/>
              </a:spcBef>
              <a:spcAft>
                <a:spcPts val="0"/>
              </a:spcAft>
              <a:buNone/>
            </a:pPr>
            <a:r>
              <a:rPr lang="es-MX" sz="1600" dirty="0">
                <a:solidFill>
                  <a:schemeClr val="dk1"/>
                </a:solidFill>
                <a:latin typeface="Work Sans Light"/>
                <a:ea typeface="Work Sans Light"/>
                <a:cs typeface="Work Sans Light"/>
                <a:sym typeface="Work Sans Light"/>
              </a:rPr>
              <a:t>Desarrollar e implementar un Sistema de Información Web </a:t>
            </a:r>
            <a:r>
              <a:rPr lang="es-MX" sz="1500" dirty="0" err="1">
                <a:solidFill>
                  <a:srgbClr val="0C0C0C"/>
                </a:solidFill>
                <a:latin typeface="Work Sans Light"/>
                <a:ea typeface="Work Sans Light"/>
                <a:cs typeface="Work Sans Light"/>
                <a:sym typeface="Work Sans Light"/>
              </a:rPr>
              <a:t>Zéfiro</a:t>
            </a:r>
            <a:r>
              <a:rPr lang="es-MX" sz="1600" dirty="0">
                <a:solidFill>
                  <a:schemeClr val="dk1"/>
                </a:solidFill>
                <a:latin typeface="Work Sans Light"/>
                <a:ea typeface="Work Sans Light"/>
                <a:cs typeface="Work Sans Light"/>
                <a:sym typeface="Work Sans Light"/>
              </a:rPr>
              <a:t> para la gestión de productos, pedidos y promociones de la empresa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permitiendo a los usuarios navegar, seleccionar y adquirir productos de calzado y bolsos de forma intuitiva, segura y eficiente.</a:t>
            </a:r>
            <a:endParaRPr sz="1100" dirty="0">
              <a:solidFill>
                <a:schemeClr val="dk1"/>
              </a:solidFill>
            </a:endParaRPr>
          </a:p>
        </p:txBody>
      </p:sp>
      <p:pic>
        <p:nvPicPr>
          <p:cNvPr id="152" name="Google Shape;152;g36393dac501_3_0"/>
          <p:cNvPicPr preferRelativeResize="0"/>
          <p:nvPr/>
        </p:nvPicPr>
        <p:blipFill>
          <a:blip r:embed="rId3">
            <a:alphaModFix/>
          </a:blip>
          <a:stretch>
            <a:fillRect/>
          </a:stretch>
        </p:blipFill>
        <p:spPr>
          <a:xfrm>
            <a:off x="7214050" y="85125"/>
            <a:ext cx="5720524" cy="7153426"/>
          </a:xfrm>
          <a:prstGeom prst="rect">
            <a:avLst/>
          </a:prstGeom>
          <a:noFill/>
          <a:ln>
            <a:noFill/>
          </a:ln>
        </p:spPr>
      </p:pic>
      <p:pic>
        <p:nvPicPr>
          <p:cNvPr id="153" name="Google Shape;153;g36393dac501_3_0"/>
          <p:cNvPicPr preferRelativeResize="0"/>
          <p:nvPr/>
        </p:nvPicPr>
        <p:blipFill>
          <a:blip r:embed="rId4">
            <a:alphaModFix/>
          </a:blip>
          <a:stretch>
            <a:fillRect/>
          </a:stretch>
        </p:blipFill>
        <p:spPr>
          <a:xfrm>
            <a:off x="7214050" y="0"/>
            <a:ext cx="5720525" cy="70850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g36393dac501_6_2"/>
          <p:cNvSpPr/>
          <p:nvPr/>
        </p:nvSpPr>
        <p:spPr>
          <a:xfrm>
            <a:off x="614446" y="587655"/>
            <a:ext cx="41661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59" name="Google Shape;159;g36393dac501_6_2"/>
          <p:cNvSpPr txBox="1"/>
          <p:nvPr/>
        </p:nvSpPr>
        <p:spPr>
          <a:xfrm>
            <a:off x="614455" y="323178"/>
            <a:ext cx="40770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200"/>
              <a:buFont typeface="Work Sans Light"/>
              <a:buNone/>
            </a:pPr>
            <a:r>
              <a:rPr lang="es-MX" sz="3200">
                <a:solidFill>
                  <a:srgbClr val="38AA00"/>
                </a:solidFill>
                <a:latin typeface="Work Sans Light"/>
                <a:ea typeface="Work Sans Light"/>
                <a:cs typeface="Work Sans Light"/>
                <a:sym typeface="Work Sans Light"/>
              </a:rPr>
              <a:t>Objetivo Específicos</a:t>
            </a:r>
            <a:endParaRPr/>
          </a:p>
        </p:txBody>
      </p:sp>
      <p:sp>
        <p:nvSpPr>
          <p:cNvPr id="160" name="Google Shape;160;g36393dac501_6_2"/>
          <p:cNvSpPr txBox="1"/>
          <p:nvPr/>
        </p:nvSpPr>
        <p:spPr>
          <a:xfrm>
            <a:off x="151515" y="999678"/>
            <a:ext cx="6947700" cy="575538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endParaRPr lang="es-CO" sz="1600" dirty="0">
              <a:solidFill>
                <a:schemeClr val="dk1"/>
              </a:solidFill>
              <a:latin typeface="Work Sans Light"/>
              <a:ea typeface="Work Sans Light"/>
              <a:cs typeface="Work Sans Light"/>
              <a:sym typeface="Work Sans Light"/>
            </a:endParaRPr>
          </a:p>
          <a:p>
            <a:pPr marL="285750" indent="-285750">
              <a:buClr>
                <a:schemeClr val="dk1"/>
              </a:buClr>
              <a:buSzPts val="1600"/>
              <a:buFont typeface="Work Sans Light"/>
              <a:buChar char="•"/>
            </a:pPr>
            <a:r>
              <a:rPr lang="es-MX" sz="1600" dirty="0">
                <a:solidFill>
                  <a:schemeClr val="dk1"/>
                </a:solidFill>
                <a:latin typeface="Work Sans Light"/>
              </a:rPr>
              <a:t>Gestionar usuarios mediante registro, inicio de sesión y recuperación de contraseña, garantizando acceso seguro y controlado.</a:t>
            </a:r>
          </a:p>
          <a:p>
            <a:pPr>
              <a:buClr>
                <a:schemeClr val="dk1"/>
              </a:buClr>
              <a:buSzPts val="1600"/>
            </a:pPr>
            <a:endParaRPr lang="es-MX" sz="1600" dirty="0">
              <a:solidFill>
                <a:schemeClr val="dk1"/>
              </a:solidFill>
              <a:latin typeface="Work Sans Light"/>
              <a:sym typeface="Work Sans Light"/>
            </a:endParaRPr>
          </a:p>
          <a:p>
            <a:pPr marL="285750" marR="0" lvl="0" indent="-285750" algn="l" rtl="0">
              <a:lnSpc>
                <a:spcPct val="100000"/>
              </a:lnSpc>
              <a:spcBef>
                <a:spcPts val="0"/>
              </a:spcBef>
              <a:spcAft>
                <a:spcPts val="0"/>
              </a:spcAft>
              <a:buClr>
                <a:schemeClr val="dk1"/>
              </a:buClr>
              <a:buSzPts val="1600"/>
              <a:buFont typeface="Work Sans Light"/>
              <a:buChar char="•"/>
            </a:pPr>
            <a:r>
              <a:rPr lang="es-MX" sz="1600" dirty="0">
                <a:solidFill>
                  <a:schemeClr val="dk1"/>
                </a:solidFill>
                <a:latin typeface="Work Sans Light"/>
              </a:rPr>
              <a:t>Gestionar los</a:t>
            </a:r>
            <a:r>
              <a:rPr lang="es-MX" sz="1600" dirty="0">
                <a:solidFill>
                  <a:schemeClr val="dk1"/>
                </a:solidFill>
                <a:latin typeface="Work Sans Light"/>
                <a:sym typeface="Work Sans Light"/>
              </a:rPr>
              <a:t> productos mediante registro, edición, consulta y eliminación, asegurando un control eficiente del inventario y del catálogo.</a:t>
            </a:r>
          </a:p>
          <a:p>
            <a:pPr marR="0" lvl="0" algn="l" rtl="0">
              <a:lnSpc>
                <a:spcPct val="100000"/>
              </a:lnSpc>
              <a:spcBef>
                <a:spcPts val="0"/>
              </a:spcBef>
              <a:spcAft>
                <a:spcPts val="0"/>
              </a:spcAft>
              <a:buClr>
                <a:schemeClr val="dk1"/>
              </a:buClr>
              <a:buSzPts val="1600"/>
            </a:pPr>
            <a:endParaRPr lang="es-MX" sz="1600" dirty="0">
              <a:solidFill>
                <a:schemeClr val="dk1"/>
              </a:solidFill>
              <a:latin typeface="Work Sans Light"/>
              <a:ea typeface="Work Sans Light"/>
              <a:cs typeface="Work Sans Light"/>
              <a:sym typeface="Work Sans Light"/>
            </a:endParaRPr>
          </a:p>
          <a:p>
            <a:pPr marL="285750" marR="0" lvl="0" indent="-285750" algn="l" rtl="0">
              <a:lnSpc>
                <a:spcPct val="100000"/>
              </a:lnSpc>
              <a:spcBef>
                <a:spcPts val="0"/>
              </a:spcBef>
              <a:spcAft>
                <a:spcPts val="0"/>
              </a:spcAft>
              <a:buClr>
                <a:schemeClr val="dk1"/>
              </a:buClr>
              <a:buSzPts val="1600"/>
              <a:buFont typeface="Work Sans Light"/>
              <a:buChar char="•"/>
            </a:pPr>
            <a:r>
              <a:rPr lang="es-MX" sz="1600" dirty="0">
                <a:solidFill>
                  <a:schemeClr val="dk1"/>
                </a:solidFill>
                <a:latin typeface="Work Sans Light"/>
              </a:rPr>
              <a:t>Gestionar las </a:t>
            </a:r>
            <a:r>
              <a:rPr lang="es-MX" sz="1600" dirty="0">
                <a:solidFill>
                  <a:schemeClr val="dk1"/>
                </a:solidFill>
                <a:latin typeface="Work Sans Light"/>
                <a:ea typeface="Work Sans Light"/>
                <a:cs typeface="Work Sans Light"/>
                <a:sym typeface="Work Sans Light"/>
              </a:rPr>
              <a:t>ventas de los productos a través de la generación de tickets y seguimiento de pedidos, optimizando el proceso comercial y la trazabilidad.</a:t>
            </a:r>
          </a:p>
          <a:p>
            <a:pPr marL="285750" marR="0" lvl="0" indent="-285750" algn="l" rtl="0">
              <a:lnSpc>
                <a:spcPct val="100000"/>
              </a:lnSpc>
              <a:spcBef>
                <a:spcPts val="0"/>
              </a:spcBef>
              <a:spcAft>
                <a:spcPts val="0"/>
              </a:spcAft>
              <a:buClr>
                <a:schemeClr val="dk1"/>
              </a:buClr>
              <a:buSzPts val="1600"/>
              <a:buFont typeface="Work Sans Light"/>
              <a:buChar char="•"/>
            </a:pPr>
            <a:endParaRPr lang="es-MX" sz="1600" dirty="0">
              <a:solidFill>
                <a:schemeClr val="dk1"/>
              </a:solidFill>
              <a:latin typeface="Work Sans Light"/>
              <a:ea typeface="Work Sans Light"/>
              <a:cs typeface="Work Sans Light"/>
              <a:sym typeface="Work Sans Light"/>
            </a:endParaRPr>
          </a:p>
          <a:p>
            <a:pPr marL="285750" marR="0" lvl="0" indent="-285750" algn="l" rtl="0">
              <a:lnSpc>
                <a:spcPct val="100000"/>
              </a:lnSpc>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Gestionar métodos de pago en las ventas de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garantizando transacciones seguras y una experiencia de compra eficiente.</a:t>
            </a:r>
            <a:br>
              <a:rPr lang="es-MX" sz="1600" dirty="0">
                <a:solidFill>
                  <a:schemeClr val="dk1"/>
                </a:solidFill>
                <a:latin typeface="Work Sans Light"/>
                <a:ea typeface="Work Sans Light"/>
                <a:cs typeface="Work Sans Light"/>
                <a:sym typeface="Work Sans Light"/>
              </a:rPr>
            </a:br>
            <a:endParaRPr lang="es-MX" sz="1600" dirty="0">
              <a:solidFill>
                <a:schemeClr val="dk1"/>
              </a:solidFill>
              <a:latin typeface="Work Sans Light"/>
              <a:ea typeface="Work Sans Light"/>
              <a:cs typeface="Work Sans Light"/>
              <a:sym typeface="Work Sans Light"/>
            </a:endParaRPr>
          </a:p>
          <a:p>
            <a:pPr marL="285750" marR="0" lvl="0" indent="-285750" algn="l" rtl="0">
              <a:lnSpc>
                <a:spcPct val="100000"/>
              </a:lnSpc>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Gestionar las promociones de la empresa, facilitando su administración por el personal e incentivando las compras de los clientes.</a:t>
            </a:r>
          </a:p>
          <a:p>
            <a:pPr marL="285750" marR="0" lvl="0" indent="-285750" algn="l" rtl="0">
              <a:lnSpc>
                <a:spcPct val="100000"/>
              </a:lnSpc>
              <a:spcBef>
                <a:spcPts val="0"/>
              </a:spcBef>
              <a:spcAft>
                <a:spcPts val="0"/>
              </a:spcAft>
              <a:buClr>
                <a:schemeClr val="dk1"/>
              </a:buClr>
              <a:buSzPts val="1600"/>
              <a:buFont typeface="Work Sans Light"/>
              <a:buChar char="•"/>
            </a:pPr>
            <a:endParaRPr lang="es-MX" sz="1600" dirty="0">
              <a:solidFill>
                <a:schemeClr val="dk1"/>
              </a:solidFill>
              <a:latin typeface="Work Sans Light"/>
              <a:ea typeface="Work Sans Light"/>
              <a:cs typeface="Work Sans Light"/>
              <a:sym typeface="Work Sans Light"/>
            </a:endParaRPr>
          </a:p>
          <a:p>
            <a:pPr marL="285750" marR="0" lvl="0" indent="-285750" algn="l" rtl="0">
              <a:lnSpc>
                <a:spcPct val="100000"/>
              </a:lnSpc>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Generar reportes sobre usuarios, productos y ventas , permitiendo un análisis claro del desempeño de la empresa.</a:t>
            </a:r>
          </a:p>
        </p:txBody>
      </p:sp>
      <p:pic>
        <p:nvPicPr>
          <p:cNvPr id="161" name="Google Shape;161;g36393dac501_6_2"/>
          <p:cNvPicPr preferRelativeResize="0"/>
          <p:nvPr/>
        </p:nvPicPr>
        <p:blipFill>
          <a:blip r:embed="rId3">
            <a:alphaModFix/>
          </a:blip>
          <a:stretch>
            <a:fillRect/>
          </a:stretch>
        </p:blipFill>
        <p:spPr>
          <a:xfrm>
            <a:off x="7446025" y="105238"/>
            <a:ext cx="4870726" cy="6647524"/>
          </a:xfrm>
          <a:prstGeom prst="rect">
            <a:avLst/>
          </a:prstGeom>
          <a:noFill/>
          <a:ln>
            <a:noFill/>
          </a:ln>
        </p:spPr>
      </p:pic>
      <p:pic>
        <p:nvPicPr>
          <p:cNvPr id="162" name="Google Shape;162;g36393dac501_6_2"/>
          <p:cNvPicPr preferRelativeResize="0"/>
          <p:nvPr/>
        </p:nvPicPr>
        <p:blipFill>
          <a:blip r:embed="rId4">
            <a:alphaModFix/>
          </a:blip>
          <a:stretch>
            <a:fillRect/>
          </a:stretch>
        </p:blipFill>
        <p:spPr>
          <a:xfrm>
            <a:off x="7446025" y="105238"/>
            <a:ext cx="4870726" cy="664752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g36393dac501_4_0"/>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Justificación</a:t>
            </a:r>
            <a:endParaRPr/>
          </a:p>
        </p:txBody>
      </p:sp>
      <p:sp>
        <p:nvSpPr>
          <p:cNvPr id="168" name="Google Shape;168;g36393dac501_4_0"/>
          <p:cNvSpPr txBox="1"/>
          <p:nvPr/>
        </p:nvSpPr>
        <p:spPr>
          <a:xfrm>
            <a:off x="372353" y="1667521"/>
            <a:ext cx="11447400" cy="4770496"/>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Se propone el desarrollo de un Sistema de Información Web denominado </a:t>
            </a:r>
            <a:r>
              <a:rPr lang="es-MX" sz="1500" dirty="0" err="1">
                <a:solidFill>
                  <a:srgbClr val="0C0C0C"/>
                </a:solidFill>
                <a:latin typeface="Work Sans Light"/>
                <a:ea typeface="Work Sans Light"/>
                <a:cs typeface="Work Sans Light"/>
                <a:sym typeface="Work Sans Light"/>
              </a:rPr>
              <a:t>Zéfiro</a:t>
            </a:r>
            <a:r>
              <a:rPr lang="es-MX" sz="1600" dirty="0">
                <a:solidFill>
                  <a:schemeClr val="dk1"/>
                </a:solidFill>
                <a:latin typeface="Work Sans Light"/>
                <a:ea typeface="Work Sans Light"/>
                <a:cs typeface="Work Sans Light"/>
                <a:sym typeface="Work Sans Light"/>
              </a:rPr>
              <a:t> que sirva como herramienta software de apoyo al seguimiento de los procesos de la comercialización del producto, y el proceso de la facturación manual de la Empresa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a:t>
            </a:r>
            <a:endParaRPr sz="1600" dirty="0">
              <a:solidFill>
                <a:schemeClr val="dk1"/>
              </a:solidFill>
              <a:latin typeface="Work Sans Light"/>
              <a:ea typeface="Work Sans Light"/>
              <a:cs typeface="Work Sans Light"/>
              <a:sym typeface="Work Sans Light"/>
            </a:endParaRPr>
          </a:p>
          <a:p>
            <a:pPr marL="45720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La importancia del Sistema: Permitirá la gestión de los compradores y los Administradores como usuarios de la Empresa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En el Modulo de catalogo de productos los compradores y administradores podrán gestionar el catálogo. </a:t>
            </a: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457200" lvl="0" indent="-361950" algn="l" rtl="0">
              <a:spcBef>
                <a:spcPts val="0"/>
              </a:spcBef>
              <a:spcAft>
                <a:spcPts val="0"/>
              </a:spcAft>
              <a:buClr>
                <a:schemeClr val="dk1"/>
              </a:buClr>
              <a:buSzPts val="2100"/>
              <a:buFont typeface="Work Sans Light"/>
              <a:buChar char="●"/>
            </a:pPr>
            <a:r>
              <a:rPr lang="es-MX" sz="1600" b="1" dirty="0">
                <a:solidFill>
                  <a:schemeClr val="dk1"/>
                </a:solidFill>
                <a:latin typeface="Work Sans"/>
                <a:ea typeface="Work Sans"/>
                <a:cs typeface="Work Sans"/>
                <a:sym typeface="Work Sans"/>
              </a:rPr>
              <a:t>Módulo de gestión de usuarios:</a:t>
            </a:r>
            <a:br>
              <a:rPr lang="es-MX" sz="1600" b="1" dirty="0">
                <a:solidFill>
                  <a:schemeClr val="dk1"/>
                </a:solidFill>
                <a:latin typeface="Work Sans"/>
                <a:ea typeface="Work Sans"/>
                <a:cs typeface="Work Sans"/>
                <a:sym typeface="Work Sans"/>
              </a:rPr>
            </a:br>
            <a:r>
              <a:rPr lang="es-MX" sz="1600" dirty="0">
                <a:solidFill>
                  <a:schemeClr val="dk1"/>
                </a:solidFill>
                <a:latin typeface="Work Sans"/>
                <a:ea typeface="Work Sans"/>
                <a:cs typeface="Work Sans"/>
                <a:sym typeface="Work Sans"/>
              </a:rPr>
              <a:t> </a:t>
            </a:r>
            <a:r>
              <a:rPr lang="es-MX" sz="1600" dirty="0">
                <a:solidFill>
                  <a:schemeClr val="dk1"/>
                </a:solidFill>
                <a:latin typeface="Work Sans Light"/>
                <a:ea typeface="Work Sans Light"/>
                <a:cs typeface="Work Sans Light"/>
                <a:sym typeface="Work Sans Light"/>
              </a:rPr>
              <a:t>Compradores y administradores podrán: editar la información de los usuarios y agregar administradores</a:t>
            </a:r>
            <a:endParaRPr sz="1600" dirty="0">
              <a:solidFill>
                <a:schemeClr val="dk1"/>
              </a:solidFill>
              <a:latin typeface="Work Sans Light"/>
              <a:ea typeface="Work Sans Light"/>
              <a:cs typeface="Work Sans Light"/>
              <a:sym typeface="Work Sans Light"/>
            </a:endParaRPr>
          </a:p>
          <a:p>
            <a:pPr marL="457200" lvl="0" indent="-361950" algn="l" rtl="0">
              <a:spcBef>
                <a:spcPts val="0"/>
              </a:spcBef>
              <a:spcAft>
                <a:spcPts val="0"/>
              </a:spcAft>
              <a:buClr>
                <a:schemeClr val="dk1"/>
              </a:buClr>
              <a:buSzPts val="2100"/>
              <a:buFont typeface="Work Sans Light"/>
              <a:buChar char="●"/>
            </a:pPr>
            <a:r>
              <a:rPr lang="es-MX" sz="1600" b="1" dirty="0">
                <a:solidFill>
                  <a:schemeClr val="dk1"/>
                </a:solidFill>
                <a:latin typeface="Work Sans"/>
                <a:ea typeface="Work Sans"/>
                <a:cs typeface="Work Sans"/>
                <a:sym typeface="Work Sans"/>
              </a:rPr>
              <a:t>Módulo de gestión de compras:</a:t>
            </a:r>
            <a:br>
              <a:rPr lang="es-MX" sz="1600" b="1" dirty="0">
                <a:solidFill>
                  <a:schemeClr val="dk1"/>
                </a:solidFill>
                <a:latin typeface="Work Sans"/>
                <a:ea typeface="Work Sans"/>
                <a:cs typeface="Work Sans"/>
                <a:sym typeface="Work Sans"/>
              </a:rPr>
            </a:br>
            <a:r>
              <a:rPr lang="es-MX" sz="1600" dirty="0">
                <a:solidFill>
                  <a:schemeClr val="dk1"/>
                </a:solidFill>
                <a:latin typeface="Work Sans"/>
                <a:ea typeface="Work Sans"/>
                <a:cs typeface="Work Sans"/>
                <a:sym typeface="Work Sans"/>
              </a:rPr>
              <a:t> </a:t>
            </a:r>
            <a:r>
              <a:rPr lang="es-MX" sz="1600" dirty="0">
                <a:solidFill>
                  <a:schemeClr val="dk1"/>
                </a:solidFill>
                <a:latin typeface="Work Sans Light"/>
                <a:ea typeface="Work Sans Light"/>
                <a:cs typeface="Work Sans Light"/>
                <a:sym typeface="Work Sans Light"/>
              </a:rPr>
              <a:t>Compradores y administradores podrán: manejar el carrito de compras y podrán ponerle a un producto promociones.</a:t>
            </a:r>
            <a:endParaRPr sz="1600" dirty="0">
              <a:solidFill>
                <a:schemeClr val="dk1"/>
              </a:solidFill>
              <a:latin typeface="Work Sans Light"/>
              <a:ea typeface="Work Sans Light"/>
              <a:cs typeface="Work Sans Light"/>
              <a:sym typeface="Work Sans Light"/>
            </a:endParaRPr>
          </a:p>
          <a:p>
            <a:pPr marL="457200" lvl="0" indent="-361950" algn="l" rtl="0">
              <a:spcBef>
                <a:spcPts val="0"/>
              </a:spcBef>
              <a:spcAft>
                <a:spcPts val="0"/>
              </a:spcAft>
              <a:buClr>
                <a:schemeClr val="dk1"/>
              </a:buClr>
              <a:buSzPts val="2100"/>
              <a:buFont typeface="Work Sans Light"/>
              <a:buChar char="●"/>
            </a:pPr>
            <a:r>
              <a:rPr lang="es-MX" sz="1600" b="1" dirty="0">
                <a:solidFill>
                  <a:schemeClr val="dk1"/>
                </a:solidFill>
                <a:latin typeface="Work Sans"/>
                <a:ea typeface="Work Sans"/>
                <a:cs typeface="Work Sans"/>
                <a:sym typeface="Work Sans"/>
              </a:rPr>
              <a:t>Módulo de gestión de pedidos:</a:t>
            </a:r>
            <a:br>
              <a:rPr lang="es-MX" sz="1600" b="1" dirty="0">
                <a:solidFill>
                  <a:schemeClr val="dk1"/>
                </a:solidFill>
                <a:latin typeface="Work Sans"/>
                <a:ea typeface="Work Sans"/>
                <a:cs typeface="Work Sans"/>
                <a:sym typeface="Work Sans"/>
              </a:rPr>
            </a:br>
            <a:r>
              <a:rPr lang="es-MX" sz="1600" dirty="0">
                <a:solidFill>
                  <a:schemeClr val="dk1"/>
                </a:solidFill>
                <a:latin typeface="Work Sans Light"/>
                <a:ea typeface="Work Sans Light"/>
                <a:cs typeface="Work Sans Light"/>
                <a:sym typeface="Work Sans Light"/>
              </a:rPr>
              <a:t> Compradores y administradores  podrán: tener la posibilidad de consultar sus pedidos y actualizarlos según sea necesario.</a:t>
            </a:r>
            <a:endParaRPr sz="1600" dirty="0">
              <a:solidFill>
                <a:schemeClr val="dk1"/>
              </a:solidFill>
              <a:latin typeface="Work Sans Light"/>
              <a:ea typeface="Work Sans Light"/>
              <a:cs typeface="Work Sans Light"/>
              <a:sym typeface="Work Sans Light"/>
            </a:endParaRPr>
          </a:p>
          <a:p>
            <a:pPr marL="457200" lvl="0" indent="0" algn="l" rtl="0">
              <a:spcBef>
                <a:spcPts val="0"/>
              </a:spcBef>
              <a:spcAft>
                <a:spcPts val="0"/>
              </a:spcAft>
              <a:buNone/>
            </a:pPr>
            <a:endParaRPr sz="1600" dirty="0">
              <a:solidFill>
                <a:schemeClr val="dk1"/>
              </a:solidFill>
              <a:latin typeface="Work Sans"/>
              <a:ea typeface="Work Sans"/>
              <a:cs typeface="Work Sans"/>
              <a:sym typeface="Work Sans"/>
            </a:endParaRPr>
          </a:p>
          <a:p>
            <a:pPr marL="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Clr>
                <a:schemeClr val="dk1"/>
              </a:buClr>
              <a:buSzPts val="1600"/>
              <a:buFont typeface="Arial"/>
              <a:buNone/>
            </a:pPr>
            <a:endParaRPr sz="1600" b="1" dirty="0">
              <a:solidFill>
                <a:schemeClr val="dk1"/>
              </a:solidFill>
              <a:latin typeface="Work Sans Light"/>
              <a:ea typeface="Work Sans Light"/>
              <a:cs typeface="Work Sans Light"/>
              <a:sym typeface="Work Sans Light"/>
            </a:endParaRPr>
          </a:p>
        </p:txBody>
      </p:sp>
      <p:pic>
        <p:nvPicPr>
          <p:cNvPr id="169" name="Google Shape;169;g36393dac501_4_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70" name="Google Shape;170;g36393dac501_4_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D2E8B193-DAFA-86A6-449C-054190DC5E91}"/>
              </a:ext>
            </a:extLst>
          </p:cNvPr>
          <p:cNvPicPr>
            <a:picLocks noChangeAspect="1"/>
          </p:cNvPicPr>
          <p:nvPr/>
        </p:nvPicPr>
        <p:blipFill>
          <a:blip r:embed="rId4"/>
          <a:stretch>
            <a:fillRect/>
          </a:stretch>
        </p:blipFill>
        <p:spPr>
          <a:xfrm>
            <a:off x="8160249" y="164723"/>
            <a:ext cx="1217077" cy="12170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9"/>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MX" sz="4400">
                <a:solidFill>
                  <a:srgbClr val="0C0C0C"/>
                </a:solidFill>
                <a:latin typeface="Work Sans Medium"/>
                <a:ea typeface="Work Sans Medium"/>
                <a:cs typeface="Work Sans Medium"/>
                <a:sym typeface="Work Sans Medium"/>
              </a:rPr>
              <a:t>Justificación</a:t>
            </a:r>
            <a:endParaRPr/>
          </a:p>
        </p:txBody>
      </p:sp>
      <p:sp>
        <p:nvSpPr>
          <p:cNvPr id="178" name="Google Shape;178;p9"/>
          <p:cNvSpPr txBox="1"/>
          <p:nvPr/>
        </p:nvSpPr>
        <p:spPr>
          <a:xfrm>
            <a:off x="372353" y="1667521"/>
            <a:ext cx="11447400" cy="4316100"/>
          </a:xfrm>
          <a:prstGeom prst="rect">
            <a:avLst/>
          </a:prstGeom>
          <a:noFill/>
          <a:ln>
            <a:noFill/>
          </a:ln>
        </p:spPr>
        <p:txBody>
          <a:bodyPr spcFirstLastPara="1" wrap="square" lIns="91425" tIns="45700" rIns="91425" bIns="45700" anchor="t" anchorCtr="0">
            <a:spAutoFit/>
          </a:bodyPr>
          <a:lstStyle/>
          <a:p>
            <a:pPr marL="457200" lvl="0" indent="-330200" algn="l" rtl="0">
              <a:spcBef>
                <a:spcPts val="0"/>
              </a:spcBef>
              <a:spcAft>
                <a:spcPts val="0"/>
              </a:spcAft>
              <a:buClr>
                <a:schemeClr val="dk1"/>
              </a:buClr>
              <a:buSzPts val="1600"/>
              <a:buFont typeface="Work Sans Light"/>
              <a:buChar char="●"/>
            </a:pPr>
            <a:r>
              <a:rPr lang="es-MX" sz="1600" b="1">
                <a:solidFill>
                  <a:schemeClr val="dk1"/>
                </a:solidFill>
                <a:latin typeface="Work Sans"/>
                <a:ea typeface="Work Sans"/>
                <a:cs typeface="Work Sans"/>
                <a:sym typeface="Work Sans"/>
              </a:rPr>
              <a:t>Módulo de administrador:</a:t>
            </a:r>
            <a:br>
              <a:rPr lang="es-MX" sz="1600" b="1">
                <a:solidFill>
                  <a:schemeClr val="dk1"/>
                </a:solidFill>
                <a:latin typeface="Work Sans"/>
                <a:ea typeface="Work Sans"/>
                <a:cs typeface="Work Sans"/>
                <a:sym typeface="Work Sans"/>
              </a:rPr>
            </a:br>
            <a:r>
              <a:rPr lang="es-MX" sz="1600">
                <a:solidFill>
                  <a:schemeClr val="dk1"/>
                </a:solidFill>
                <a:latin typeface="Work Sans"/>
                <a:ea typeface="Work Sans"/>
                <a:cs typeface="Work Sans"/>
                <a:sym typeface="Work Sans"/>
              </a:rPr>
              <a:t> </a:t>
            </a:r>
            <a:r>
              <a:rPr lang="es-MX" sz="1600">
                <a:solidFill>
                  <a:schemeClr val="dk1"/>
                </a:solidFill>
                <a:latin typeface="Work Sans Light"/>
                <a:ea typeface="Work Sans Light"/>
                <a:cs typeface="Work Sans Light"/>
                <a:sym typeface="Work Sans Light"/>
              </a:rPr>
              <a:t>los administradores podrán: gestionar el inventario de productos, incluyendo la visibilidad y actualización de los datos de cada artículo.</a:t>
            </a:r>
            <a:endParaRPr sz="1600">
              <a:solidFill>
                <a:schemeClr val="dk1"/>
              </a:solidFill>
              <a:latin typeface="Work Sans Light"/>
              <a:ea typeface="Work Sans Light"/>
              <a:cs typeface="Work Sans Light"/>
              <a:sym typeface="Work Sans Light"/>
            </a:endParaRPr>
          </a:p>
          <a:p>
            <a:pPr marL="457200" lvl="0" indent="-330200" algn="l" rtl="0">
              <a:spcBef>
                <a:spcPts val="0"/>
              </a:spcBef>
              <a:spcAft>
                <a:spcPts val="0"/>
              </a:spcAft>
              <a:buClr>
                <a:schemeClr val="dk1"/>
              </a:buClr>
              <a:buSzPts val="1600"/>
              <a:buFont typeface="Work Sans Light"/>
              <a:buChar char="●"/>
            </a:pPr>
            <a:r>
              <a:rPr lang="es-MX" sz="1600" b="1">
                <a:solidFill>
                  <a:schemeClr val="dk1"/>
                </a:solidFill>
                <a:latin typeface="Work Sans"/>
                <a:ea typeface="Work Sans"/>
                <a:cs typeface="Work Sans"/>
                <a:sym typeface="Work Sans"/>
              </a:rPr>
              <a:t>Módulo de promociones y descuentos:</a:t>
            </a:r>
            <a:br>
              <a:rPr lang="es-MX" sz="1600" b="1">
                <a:solidFill>
                  <a:schemeClr val="dk1"/>
                </a:solidFill>
                <a:latin typeface="Work Sans"/>
                <a:ea typeface="Work Sans"/>
                <a:cs typeface="Work Sans"/>
                <a:sym typeface="Work Sans"/>
              </a:rPr>
            </a:br>
            <a:r>
              <a:rPr lang="es-MX" sz="1600">
                <a:solidFill>
                  <a:schemeClr val="dk1"/>
                </a:solidFill>
                <a:latin typeface="Work Sans"/>
                <a:ea typeface="Work Sans"/>
                <a:cs typeface="Work Sans"/>
                <a:sym typeface="Work Sans"/>
              </a:rPr>
              <a:t> </a:t>
            </a:r>
            <a:r>
              <a:rPr lang="es-MX" sz="1600">
                <a:solidFill>
                  <a:schemeClr val="dk1"/>
                </a:solidFill>
                <a:latin typeface="Work Sans Light"/>
                <a:ea typeface="Work Sans Light"/>
                <a:cs typeface="Work Sans Light"/>
                <a:sym typeface="Work Sans Light"/>
              </a:rPr>
              <a:t>Compradores y administradores podrán: usar las promociones disponibles, gestionar las colecciones y descuentos</a:t>
            </a:r>
            <a:r>
              <a:rPr lang="es-MX" sz="1600">
                <a:solidFill>
                  <a:schemeClr val="dk1"/>
                </a:solidFill>
                <a:latin typeface="Work Sans"/>
                <a:ea typeface="Work Sans"/>
                <a:cs typeface="Work Sans"/>
                <a:sym typeface="Work Sans"/>
              </a:rPr>
              <a:t>.</a:t>
            </a:r>
            <a:endParaRPr sz="1600" b="1">
              <a:solidFill>
                <a:schemeClr val="dk1"/>
              </a:solidFill>
              <a:latin typeface="Work Sans"/>
              <a:ea typeface="Work Sans"/>
              <a:cs typeface="Work Sans"/>
              <a:sym typeface="Work Sans"/>
            </a:endParaRPr>
          </a:p>
          <a:p>
            <a:pPr marL="457200" lvl="0" indent="-330200" algn="l" rtl="0">
              <a:lnSpc>
                <a:spcPct val="115000"/>
              </a:lnSpc>
              <a:spcBef>
                <a:spcPts val="0"/>
              </a:spcBef>
              <a:spcAft>
                <a:spcPts val="0"/>
              </a:spcAft>
              <a:buClr>
                <a:schemeClr val="dk1"/>
              </a:buClr>
              <a:buSzPts val="1600"/>
              <a:buChar char="●"/>
            </a:pPr>
            <a:r>
              <a:rPr lang="es-MX" sz="1600" b="1">
                <a:solidFill>
                  <a:schemeClr val="dk1"/>
                </a:solidFill>
                <a:latin typeface="Work Sans"/>
                <a:ea typeface="Work Sans"/>
                <a:cs typeface="Work Sans"/>
                <a:sym typeface="Work Sans"/>
              </a:rPr>
              <a:t>Módulo de notificaciones y soporte:</a:t>
            </a:r>
            <a:br>
              <a:rPr lang="es-MX" sz="1600" b="1">
                <a:solidFill>
                  <a:schemeClr val="dk1"/>
                </a:solidFill>
                <a:latin typeface="Work Sans"/>
                <a:ea typeface="Work Sans"/>
                <a:cs typeface="Work Sans"/>
                <a:sym typeface="Work Sans"/>
              </a:rPr>
            </a:br>
            <a:r>
              <a:rPr lang="es-MX" sz="1600">
                <a:solidFill>
                  <a:schemeClr val="dk1"/>
                </a:solidFill>
                <a:latin typeface="Work Sans Light"/>
                <a:ea typeface="Work Sans Light"/>
                <a:cs typeface="Work Sans Light"/>
                <a:sym typeface="Work Sans Light"/>
              </a:rPr>
              <a:t> Compradores podrán: acceder a soporte mediante chat y los administradores serán responsables de gestionar las solicitudes de ayuda y brindar respuestas.</a:t>
            </a:r>
            <a:endParaRPr sz="1600">
              <a:solidFill>
                <a:schemeClr val="dk1"/>
              </a:solidFill>
              <a:latin typeface="Work Sans Light"/>
              <a:ea typeface="Work Sans Light"/>
              <a:cs typeface="Work Sans Light"/>
              <a:sym typeface="Work Sans Light"/>
            </a:endParaRPr>
          </a:p>
          <a:p>
            <a:pPr marL="457200" lvl="0" indent="-330200" algn="l" rtl="0">
              <a:lnSpc>
                <a:spcPct val="115000"/>
              </a:lnSpc>
              <a:spcBef>
                <a:spcPts val="0"/>
              </a:spcBef>
              <a:spcAft>
                <a:spcPts val="0"/>
              </a:spcAft>
              <a:buClr>
                <a:schemeClr val="dk1"/>
              </a:buClr>
              <a:buSzPts val="1600"/>
              <a:buChar char="●"/>
            </a:pPr>
            <a:r>
              <a:rPr lang="es-MX" sz="1600" b="1">
                <a:solidFill>
                  <a:schemeClr val="dk1"/>
                </a:solidFill>
                <a:latin typeface="Work Sans"/>
                <a:ea typeface="Work Sans"/>
                <a:cs typeface="Work Sans"/>
                <a:sym typeface="Work Sans"/>
              </a:rPr>
              <a:t>Reportes y estadísticas:</a:t>
            </a:r>
            <a:br>
              <a:rPr lang="es-MX" sz="1600" b="1">
                <a:solidFill>
                  <a:schemeClr val="dk1"/>
                </a:solidFill>
                <a:latin typeface="Work Sans"/>
                <a:ea typeface="Work Sans"/>
                <a:cs typeface="Work Sans"/>
                <a:sym typeface="Work Sans"/>
              </a:rPr>
            </a:br>
            <a:r>
              <a:rPr lang="es-MX" sz="1600">
                <a:solidFill>
                  <a:schemeClr val="dk1"/>
                </a:solidFill>
                <a:latin typeface="Work Sans Light"/>
                <a:ea typeface="Work Sans Light"/>
                <a:cs typeface="Work Sans Light"/>
                <a:sym typeface="Work Sans Light"/>
              </a:rPr>
              <a:t> El sistema permitirá a los administradores generar reportes gráficos e impresos, útiles para la toma de decisiones estratégicas.</a:t>
            </a:r>
            <a:endParaRPr sz="1600">
              <a:solidFill>
                <a:schemeClr val="dk1"/>
              </a:solidFill>
              <a:latin typeface="Work Sans Light"/>
              <a:ea typeface="Work Sans Light"/>
              <a:cs typeface="Work Sans Light"/>
              <a:sym typeface="Work Sans Light"/>
            </a:endParaRPr>
          </a:p>
          <a:p>
            <a:pPr marL="0" lvl="0" indent="0" algn="l" rtl="0">
              <a:spcBef>
                <a:spcPts val="1200"/>
              </a:spcBef>
              <a:spcAft>
                <a:spcPts val="0"/>
              </a:spcAft>
              <a:buNone/>
            </a:pPr>
            <a:endParaRPr sz="1600">
              <a:solidFill>
                <a:schemeClr val="dk1"/>
              </a:solidFill>
              <a:latin typeface="Work Sans Light"/>
              <a:ea typeface="Work Sans Light"/>
              <a:cs typeface="Work Sans Light"/>
              <a:sym typeface="Work Sans Light"/>
            </a:endParaRPr>
          </a:p>
          <a:p>
            <a:pPr marL="0" lvl="0" indent="0" algn="l" rtl="0">
              <a:spcBef>
                <a:spcPts val="0"/>
              </a:spcBef>
              <a:spcAft>
                <a:spcPts val="0"/>
              </a:spcAft>
              <a:buNone/>
            </a:pPr>
            <a:endParaRPr sz="1600">
              <a:solidFill>
                <a:schemeClr val="dk1"/>
              </a:solidFill>
              <a:latin typeface="Work Sans Light"/>
              <a:ea typeface="Work Sans Light"/>
              <a:cs typeface="Work Sans Light"/>
              <a:sym typeface="Work Sans Light"/>
            </a:endParaRPr>
          </a:p>
          <a:p>
            <a:pPr marL="0" lvl="0" indent="0" algn="l" rtl="0">
              <a:lnSpc>
                <a:spcPct val="115000"/>
              </a:lnSpc>
              <a:spcBef>
                <a:spcPts val="1200"/>
              </a:spcBef>
              <a:spcAft>
                <a:spcPts val="1200"/>
              </a:spcAft>
              <a:buClr>
                <a:schemeClr val="dk1"/>
              </a:buClr>
              <a:buSzPts val="1100"/>
              <a:buFont typeface="Arial"/>
              <a:buNone/>
            </a:pPr>
            <a:endParaRPr sz="1600">
              <a:solidFill>
                <a:schemeClr val="dk1"/>
              </a:solidFill>
              <a:latin typeface="Work Sans Light"/>
              <a:ea typeface="Work Sans Light"/>
              <a:cs typeface="Work Sans Light"/>
              <a:sym typeface="Work Sans Light"/>
            </a:endParaRPr>
          </a:p>
        </p:txBody>
      </p:sp>
      <p:pic>
        <p:nvPicPr>
          <p:cNvPr id="179" name="Google Shape;179;p9"/>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80" name="Google Shape;180;p9"/>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99C76A1A-E541-9B5B-7DED-37EB7E9D6D7B}"/>
              </a:ext>
            </a:extLst>
          </p:cNvPr>
          <p:cNvPicPr>
            <a:picLocks noChangeAspect="1"/>
          </p:cNvPicPr>
          <p:nvPr/>
        </p:nvPicPr>
        <p:blipFill>
          <a:blip r:embed="rId4"/>
          <a:stretch>
            <a:fillRect/>
          </a:stretch>
        </p:blipFill>
        <p:spPr>
          <a:xfrm>
            <a:off x="8378378" y="164723"/>
            <a:ext cx="1217077" cy="121707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p10"/>
          <p:cNvSpPr txBox="1">
            <a:spLocks noGrp="1"/>
          </p:cNvSpPr>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Alcance</a:t>
            </a:r>
            <a:endParaRPr/>
          </a:p>
        </p:txBody>
      </p:sp>
      <p:sp>
        <p:nvSpPr>
          <p:cNvPr id="188" name="Google Shape;188;p10"/>
          <p:cNvSpPr txBox="1"/>
          <p:nvPr/>
        </p:nvSpPr>
        <p:spPr>
          <a:xfrm>
            <a:off x="3149325" y="1890313"/>
            <a:ext cx="8737200" cy="181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a:solidFill>
                  <a:schemeClr val="dk1"/>
                </a:solidFill>
                <a:latin typeface="Work Sans Light"/>
                <a:ea typeface="Work Sans Light"/>
                <a:cs typeface="Work Sans Light"/>
                <a:sym typeface="Work Sans Light"/>
              </a:rPr>
              <a:t>Usuarios del sistema podrán iniciar sesión, administrar su perfil, ver catálogo de productos organizado por filtros de búsqueda, agregar estos al carrito o a favoritos, una vez se tengan productos en el carrito de compras podrán seleccionar los productos a comprar, posterior a esto el cliente facilitará al aplicativo su método de pago, y lugar de envío. Una vez el cliente haya recibido su producto podrá valorar este en una escala de 5 estrellas y dejar una breve descripción de su experiencia. La empresa no realiza facturacion por la DIAN genera un ticket o comprobante de venta </a:t>
            </a:r>
            <a:endParaRPr sz="1600">
              <a:solidFill>
                <a:schemeClr val="dk1"/>
              </a:solidFill>
              <a:latin typeface="Work Sans Light"/>
              <a:ea typeface="Work Sans Light"/>
              <a:cs typeface="Work Sans Light"/>
              <a:sym typeface="Work Sans Light"/>
            </a:endParaRPr>
          </a:p>
        </p:txBody>
      </p:sp>
      <p:pic>
        <p:nvPicPr>
          <p:cNvPr id="189" name="Google Shape;189;p1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90" name="Google Shape;190;p10"/>
          <p:cNvPicPr preferRelativeResize="0"/>
          <p:nvPr/>
        </p:nvPicPr>
        <p:blipFill>
          <a:blip r:embed="rId4">
            <a:alphaModFix/>
          </a:blip>
          <a:stretch>
            <a:fillRect/>
          </a:stretch>
        </p:blipFill>
        <p:spPr>
          <a:xfrm>
            <a:off x="405700" y="1541549"/>
            <a:ext cx="2267425" cy="2267425"/>
          </a:xfrm>
          <a:prstGeom prst="rect">
            <a:avLst/>
          </a:prstGeom>
          <a:noFill/>
          <a:ln>
            <a:noFill/>
          </a:ln>
        </p:spPr>
      </p:pic>
      <p:sp>
        <p:nvSpPr>
          <p:cNvPr id="191" name="Google Shape;191;p10"/>
          <p:cNvSpPr txBox="1"/>
          <p:nvPr/>
        </p:nvSpPr>
        <p:spPr>
          <a:xfrm>
            <a:off x="280825" y="4620450"/>
            <a:ext cx="8737200" cy="1077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a:solidFill>
                  <a:schemeClr val="dk1"/>
                </a:solidFill>
                <a:latin typeface="Work Sans Light"/>
                <a:ea typeface="Work Sans Light"/>
                <a:cs typeface="Work Sans Light"/>
                <a:sym typeface="Work Sans Light"/>
              </a:rPr>
              <a:t>Administrador(es) del sistema podrán iniciar sesión, administrar la visibilidad de productos según su stock, gestionar los datos de estos como el precio, descripción, entre otros. Además podrán eliminar valoraciones de productos que infrinjan las normas de protección al usuario.</a:t>
            </a:r>
            <a:endParaRPr/>
          </a:p>
        </p:txBody>
      </p:sp>
      <p:pic>
        <p:nvPicPr>
          <p:cNvPr id="192" name="Google Shape;192;p10"/>
          <p:cNvPicPr preferRelativeResize="0"/>
          <p:nvPr/>
        </p:nvPicPr>
        <p:blipFill>
          <a:blip r:embed="rId5">
            <a:alphaModFix/>
          </a:blip>
          <a:stretch>
            <a:fillRect/>
          </a:stretch>
        </p:blipFill>
        <p:spPr>
          <a:xfrm>
            <a:off x="9339200" y="3864301"/>
            <a:ext cx="2397175" cy="2397175"/>
          </a:xfrm>
          <a:prstGeom prst="rect">
            <a:avLst/>
          </a:prstGeom>
          <a:noFill/>
          <a:ln>
            <a:noFill/>
          </a:ln>
        </p:spPr>
      </p:pic>
      <p:pic>
        <p:nvPicPr>
          <p:cNvPr id="193" name="Google Shape;193;p1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3D4760B4-944F-2F2A-1A61-4192CCCAA611}"/>
              </a:ext>
            </a:extLst>
          </p:cNvPr>
          <p:cNvPicPr>
            <a:picLocks noChangeAspect="1"/>
          </p:cNvPicPr>
          <p:nvPr/>
        </p:nvPicPr>
        <p:blipFill>
          <a:blip r:embed="rId6"/>
          <a:stretch>
            <a:fillRect/>
          </a:stretch>
        </p:blipFill>
        <p:spPr>
          <a:xfrm>
            <a:off x="8378378" y="164723"/>
            <a:ext cx="1217077" cy="121707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11"/>
          <p:cNvSpPr txBox="1"/>
          <p:nvPr/>
        </p:nvSpPr>
        <p:spPr>
          <a:xfrm>
            <a:off x="456236" y="434948"/>
            <a:ext cx="105156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MX" sz="4400">
                <a:solidFill>
                  <a:srgbClr val="0C0C0C"/>
                </a:solidFill>
                <a:latin typeface="Work Sans Medium"/>
                <a:ea typeface="Work Sans Medium"/>
                <a:cs typeface="Work Sans Medium"/>
                <a:sym typeface="Work Sans Medium"/>
              </a:rPr>
              <a:t>Alcance</a:t>
            </a:r>
            <a:endParaRPr/>
          </a:p>
        </p:txBody>
      </p:sp>
      <p:sp>
        <p:nvSpPr>
          <p:cNvPr id="201" name="Google Shape;201;p11"/>
          <p:cNvSpPr txBox="1"/>
          <p:nvPr/>
        </p:nvSpPr>
        <p:spPr>
          <a:xfrm>
            <a:off x="4012450" y="1882675"/>
            <a:ext cx="7292400" cy="1077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El sistema no envía los productos al cliente, el sistema es un intermediario entre el cliente y la empresa para que este pueda adquirir los productos de esta respectivamente. Los envíos son responsabilidad de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y la empresa de envíos.</a:t>
            </a:r>
            <a:endParaRPr dirty="0"/>
          </a:p>
        </p:txBody>
      </p:sp>
      <p:pic>
        <p:nvPicPr>
          <p:cNvPr id="202" name="Google Shape;202;p11"/>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03" name="Google Shape;203;p11"/>
          <p:cNvPicPr preferRelativeResize="0"/>
          <p:nvPr/>
        </p:nvPicPr>
        <p:blipFill>
          <a:blip r:embed="rId4">
            <a:alphaModFix/>
          </a:blip>
          <a:stretch>
            <a:fillRect/>
          </a:stretch>
        </p:blipFill>
        <p:spPr>
          <a:xfrm>
            <a:off x="734050" y="1553263"/>
            <a:ext cx="1905000" cy="1905000"/>
          </a:xfrm>
          <a:prstGeom prst="rect">
            <a:avLst/>
          </a:prstGeom>
          <a:noFill/>
          <a:ln>
            <a:noFill/>
          </a:ln>
        </p:spPr>
      </p:pic>
      <p:sp>
        <p:nvSpPr>
          <p:cNvPr id="204" name="Google Shape;204;p11"/>
          <p:cNvSpPr txBox="1"/>
          <p:nvPr/>
        </p:nvSpPr>
        <p:spPr>
          <a:xfrm>
            <a:off x="827850" y="4275825"/>
            <a:ext cx="6837000" cy="1323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a:solidFill>
                  <a:schemeClr val="dk1"/>
                </a:solidFill>
                <a:latin typeface="Work Sans Light"/>
                <a:ea typeface="Work Sans Light"/>
                <a:cs typeface="Work Sans Light"/>
                <a:sym typeface="Work Sans Light"/>
              </a:rPr>
              <a:t>El aplicativo está siendo realizado bajo el patrón arquitectónico MVC (modelo vista controlador), usando como lenguaje de programación JAVA (JDK 21), Se usa React (React 19.1) como framework para el frontend del aplicativo, (SPRINGBOOT 3.5.5) , (</a:t>
            </a:r>
            <a:r>
              <a:rPr lang="es-MX" sz="1600" u="sng">
                <a:solidFill>
                  <a:schemeClr val="hlink"/>
                </a:solidFill>
                <a:latin typeface="Work Sans Light"/>
                <a:ea typeface="Work Sans Light"/>
                <a:cs typeface="Work Sans Light"/>
                <a:sym typeface="Work Sans Light"/>
                <a:hlinkClick r:id="rId5"/>
              </a:rPr>
              <a:t>NODE.JS</a:t>
            </a:r>
            <a:r>
              <a:rPr lang="es-MX" sz="1600">
                <a:solidFill>
                  <a:schemeClr val="dk1"/>
                </a:solidFill>
                <a:latin typeface="Work Sans Light"/>
                <a:ea typeface="Work Sans Light"/>
                <a:cs typeface="Work Sans Light"/>
                <a:sym typeface="Work Sans Light"/>
              </a:rPr>
              <a:t> 22.18.0) Y (NPM 10.9.3)</a:t>
            </a:r>
            <a:endParaRPr/>
          </a:p>
        </p:txBody>
      </p:sp>
      <p:pic>
        <p:nvPicPr>
          <p:cNvPr id="205" name="Google Shape;205;p11"/>
          <p:cNvPicPr preferRelativeResize="0"/>
          <p:nvPr/>
        </p:nvPicPr>
        <p:blipFill>
          <a:blip r:embed="rId6">
            <a:alphaModFix/>
          </a:blip>
          <a:stretch>
            <a:fillRect/>
          </a:stretch>
        </p:blipFill>
        <p:spPr>
          <a:xfrm>
            <a:off x="8189000" y="3794178"/>
            <a:ext cx="3472425" cy="2040600"/>
          </a:xfrm>
          <a:prstGeom prst="rect">
            <a:avLst/>
          </a:prstGeom>
          <a:noFill/>
          <a:ln>
            <a:noFill/>
          </a:ln>
        </p:spPr>
      </p:pic>
      <p:pic>
        <p:nvPicPr>
          <p:cNvPr id="206" name="Google Shape;206;p11"/>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899C0858-8D2E-F02C-C9FF-0DF32F2CC0AA}"/>
              </a:ext>
            </a:extLst>
          </p:cNvPr>
          <p:cNvPicPr>
            <a:picLocks noChangeAspect="1"/>
          </p:cNvPicPr>
          <p:nvPr/>
        </p:nvPicPr>
        <p:blipFill>
          <a:blip r:embed="rId7"/>
          <a:stretch>
            <a:fillRect/>
          </a:stretch>
        </p:blipFill>
        <p:spPr>
          <a:xfrm>
            <a:off x="8378378" y="164723"/>
            <a:ext cx="1217077" cy="12170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14"/>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3200"/>
              <a:buFont typeface="Work Sans Medium"/>
              <a:buNone/>
            </a:pPr>
            <a:r>
              <a:rPr lang="es-MX" sz="3200">
                <a:solidFill>
                  <a:schemeClr val="lt1"/>
                </a:solidFill>
                <a:latin typeface="Work Sans Medium"/>
                <a:ea typeface="Work Sans Medium"/>
                <a:cs typeface="Work Sans Medium"/>
                <a:sym typeface="Work Sans Medium"/>
              </a:rPr>
              <a:t>Entregables Proyecto Formativo</a:t>
            </a:r>
            <a:br>
              <a:rPr lang="es-MX" sz="3200">
                <a:solidFill>
                  <a:schemeClr val="lt1"/>
                </a:solidFill>
                <a:latin typeface="Work Sans Medium"/>
                <a:ea typeface="Work Sans Medium"/>
                <a:cs typeface="Work Sans Medium"/>
                <a:sym typeface="Work Sans Medium"/>
              </a:rPr>
            </a:br>
            <a:r>
              <a:rPr lang="es-MX" sz="3200">
                <a:solidFill>
                  <a:schemeClr val="lt1"/>
                </a:solidFill>
                <a:latin typeface="Work Sans Medium"/>
                <a:ea typeface="Work Sans Medium"/>
                <a:cs typeface="Work Sans Medium"/>
                <a:sym typeface="Work Sans Medium"/>
              </a:rPr>
              <a:t>por Trimestre</a:t>
            </a:r>
            <a:endParaRPr sz="3200">
              <a:solidFill>
                <a:schemeClr val="lt1"/>
              </a:solidFill>
              <a:latin typeface="Work Sans Medium"/>
              <a:ea typeface="Work Sans Medium"/>
              <a:cs typeface="Work Sans Medium"/>
              <a:sym typeface="Work Sans Medium"/>
            </a:endParaRPr>
          </a:p>
        </p:txBody>
      </p:sp>
      <p:sp>
        <p:nvSpPr>
          <p:cNvPr id="215" name="Google Shape;215;p14"/>
          <p:cNvSpPr/>
          <p:nvPr/>
        </p:nvSpPr>
        <p:spPr>
          <a:xfrm>
            <a:off x="579652" y="1787235"/>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16" name="Google Shape;216;p14"/>
          <p:cNvSpPr txBox="1"/>
          <p:nvPr/>
        </p:nvSpPr>
        <p:spPr>
          <a:xfrm>
            <a:off x="456213" y="1926673"/>
            <a:ext cx="3854400" cy="41868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Nombre proyecto - Objetivo general - Objetivos especí­ficos - Planteamiento del problema y pregunta problema - Alcance del proyecto - Justificación</a:t>
            </a:r>
            <a:endParaRPr dirty="0">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BPMN del proceso de negocio, no del aplicativo a desarrollar)</a:t>
            </a:r>
            <a:endParaRPr dirty="0">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Técnicas de recolección de información y análisis de resultados estadística descriptiva </a:t>
            </a:r>
            <a:endParaRPr dirty="0">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Estándar IEEE </a:t>
            </a:r>
            <a:r>
              <a:rPr lang="es-MX" dirty="0" err="1">
                <a:solidFill>
                  <a:schemeClr val="dk1"/>
                </a:solidFill>
                <a:latin typeface="Work Sans Light"/>
                <a:ea typeface="Work Sans Light"/>
                <a:cs typeface="Work Sans Light"/>
                <a:sym typeface="Work Sans Light"/>
              </a:rPr>
              <a:t>Std</a:t>
            </a:r>
            <a:r>
              <a:rPr lang="es-MX" dirty="0">
                <a:solidFill>
                  <a:schemeClr val="dk1"/>
                </a:solidFill>
                <a:latin typeface="Work Sans Light"/>
                <a:ea typeface="Work Sans Light"/>
                <a:cs typeface="Work Sans Light"/>
                <a:sym typeface="Work Sans Light"/>
              </a:rPr>
              <a:t> 830-1998, IEEE 1233-1998, IEEE 29148:2018.</a:t>
            </a:r>
            <a:endParaRPr dirty="0">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Diagrama de casos de uso y documentación de casos de uso (formato de casos de uso extendido).</a:t>
            </a:r>
            <a:endParaRPr dirty="0">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Validación de requerimientos (Realización de un prototipo usando mockups o </a:t>
            </a:r>
            <a:r>
              <a:rPr lang="es-MX" dirty="0" err="1">
                <a:solidFill>
                  <a:schemeClr val="dk1"/>
                </a:solidFill>
                <a:latin typeface="Work Sans Light"/>
                <a:ea typeface="Work Sans Light"/>
                <a:cs typeface="Work Sans Light"/>
                <a:sym typeface="Work Sans Light"/>
              </a:rPr>
              <a:t>wireframes</a:t>
            </a:r>
            <a:r>
              <a:rPr lang="es-MX" dirty="0">
                <a:solidFill>
                  <a:schemeClr val="dk1"/>
                </a:solidFill>
                <a:latin typeface="Work Sans Light"/>
                <a:ea typeface="Work Sans Light"/>
                <a:cs typeface="Work Sans Light"/>
                <a:sym typeface="Work Sans Light"/>
              </a:rPr>
              <a:t>)</a:t>
            </a:r>
            <a:endParaRPr dirty="0">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Fichas técnicas. </a:t>
            </a:r>
            <a:endParaRPr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dirty="0">
              <a:solidFill>
                <a:schemeClr val="dk1"/>
              </a:solidFill>
              <a:latin typeface="Work Sans Light"/>
              <a:ea typeface="Work Sans Light"/>
              <a:cs typeface="Work Sans Light"/>
              <a:sym typeface="Work Sans Light"/>
            </a:endParaRPr>
          </a:p>
        </p:txBody>
      </p:sp>
      <p:grpSp>
        <p:nvGrpSpPr>
          <p:cNvPr id="217" name="Google Shape;217;p14"/>
          <p:cNvGrpSpPr/>
          <p:nvPr/>
        </p:nvGrpSpPr>
        <p:grpSpPr>
          <a:xfrm>
            <a:off x="518475" y="1483910"/>
            <a:ext cx="3239100" cy="294480"/>
            <a:chOff x="126603" y="-1251822"/>
            <a:chExt cx="3239100" cy="2796582"/>
          </a:xfrm>
        </p:grpSpPr>
        <p:sp>
          <p:nvSpPr>
            <p:cNvPr id="218" name="Google Shape;218;p14"/>
            <p:cNvSpPr/>
            <p:nvPr/>
          </p:nvSpPr>
          <p:spPr>
            <a:xfrm>
              <a:off x="922388" y="1499160"/>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19" name="Google Shape;219;p14"/>
            <p:cNvSpPr txBox="1"/>
            <p:nvPr/>
          </p:nvSpPr>
          <p:spPr>
            <a:xfrm>
              <a:off x="126603" y="-1251822"/>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Segundo Trimestre</a:t>
              </a:r>
              <a:endParaRPr/>
            </a:p>
          </p:txBody>
        </p:sp>
      </p:grpSp>
      <p:grpSp>
        <p:nvGrpSpPr>
          <p:cNvPr id="220" name="Google Shape;220;p14"/>
          <p:cNvGrpSpPr/>
          <p:nvPr/>
        </p:nvGrpSpPr>
        <p:grpSpPr>
          <a:xfrm>
            <a:off x="5250780" y="1586425"/>
            <a:ext cx="3328015" cy="447313"/>
            <a:chOff x="781688" y="1395228"/>
            <a:chExt cx="3328015" cy="447313"/>
          </a:xfrm>
        </p:grpSpPr>
        <p:sp>
          <p:nvSpPr>
            <p:cNvPr id="221" name="Google Shape;221;p14"/>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22" name="Google Shape;222;p14"/>
            <p:cNvSpPr txBox="1"/>
            <p:nvPr/>
          </p:nvSpPr>
          <p:spPr>
            <a:xfrm>
              <a:off x="870603" y="1395228"/>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Tercer Trimestre</a:t>
              </a:r>
              <a:endParaRPr/>
            </a:p>
          </p:txBody>
        </p:sp>
      </p:grpSp>
      <p:sp>
        <p:nvSpPr>
          <p:cNvPr id="223" name="Google Shape;223;p14"/>
          <p:cNvSpPr txBox="1"/>
          <p:nvPr/>
        </p:nvSpPr>
        <p:spPr>
          <a:xfrm>
            <a:off x="5220433" y="2184131"/>
            <a:ext cx="3854400" cy="22473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Modelo relacional notación crows foot</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Normalización del modelo relacional identificando las 3FN</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En el proyecto se evidencia el diccionario de datos</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Diagrama de clases.</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Diagrama de distribución.</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Prototipo navegable del software (Html - CSS)</a:t>
            </a:r>
            <a:endParaRPr>
              <a:solidFill>
                <a:schemeClr val="dk1"/>
              </a:solidFill>
              <a:latin typeface="Work Sans Light"/>
              <a:ea typeface="Work Sans Light"/>
              <a:cs typeface="Work Sans Light"/>
              <a:sym typeface="Work Sans Light"/>
            </a:endParaRPr>
          </a:p>
          <a:p>
            <a:pPr marL="457200" marR="0" lvl="0" indent="0" algn="l" rtl="0">
              <a:spcBef>
                <a:spcPts val="0"/>
              </a:spcBef>
              <a:spcAft>
                <a:spcPts val="0"/>
              </a:spcAft>
              <a:buNone/>
            </a:pPr>
            <a:endParaRPr>
              <a:solidFill>
                <a:schemeClr val="dk1"/>
              </a:solidFill>
              <a:latin typeface="Work Sans Light"/>
              <a:ea typeface="Work Sans Light"/>
              <a:cs typeface="Work Sans Light"/>
              <a:sym typeface="Work Sans Light"/>
            </a:endParaRPr>
          </a:p>
        </p:txBody>
      </p:sp>
      <p:grpSp>
        <p:nvGrpSpPr>
          <p:cNvPr id="224" name="Google Shape;224;p14"/>
          <p:cNvGrpSpPr/>
          <p:nvPr/>
        </p:nvGrpSpPr>
        <p:grpSpPr>
          <a:xfrm>
            <a:off x="5155290" y="4318019"/>
            <a:ext cx="3379040" cy="463794"/>
            <a:chOff x="846638" y="-350472"/>
            <a:chExt cx="3379040" cy="463794"/>
          </a:xfrm>
        </p:grpSpPr>
        <p:sp>
          <p:nvSpPr>
            <p:cNvPr id="225" name="Google Shape;225;p14"/>
            <p:cNvSpPr/>
            <p:nvPr/>
          </p:nvSpPr>
          <p:spPr>
            <a:xfrm>
              <a:off x="846638" y="67722"/>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26" name="Google Shape;226;p14"/>
            <p:cNvSpPr txBox="1"/>
            <p:nvPr/>
          </p:nvSpPr>
          <p:spPr>
            <a:xfrm>
              <a:off x="986578" y="-350472"/>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Cuarto Trimestre</a:t>
              </a:r>
              <a:endParaRPr/>
            </a:p>
          </p:txBody>
        </p:sp>
      </p:grpSp>
      <p:sp>
        <p:nvSpPr>
          <p:cNvPr id="227" name="Google Shape;227;p14"/>
          <p:cNvSpPr txBox="1"/>
          <p:nvPr/>
        </p:nvSpPr>
        <p:spPr>
          <a:xfrm>
            <a:off x="5220430" y="4781825"/>
            <a:ext cx="4941900" cy="13854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la construcción de la base de datos usando sentencias DDL (SQL)</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Uso de la base de datos a través de sentencias DML (SQL),</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Base de Datos con encriptación.</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FrontEnd Funcional utilizando Framework </a:t>
            </a:r>
            <a:endParaRPr>
              <a:solidFill>
                <a:schemeClr val="dk1"/>
              </a:solidFill>
              <a:latin typeface="Work Sans Light"/>
              <a:ea typeface="Work Sans Light"/>
              <a:cs typeface="Work Sans Light"/>
              <a:sym typeface="Work Sans Light"/>
            </a:endParaRPr>
          </a:p>
        </p:txBody>
      </p:sp>
      <p:pic>
        <p:nvPicPr>
          <p:cNvPr id="228" name="Google Shape;228;p14"/>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65AA3F47-F50E-0FC9-4CE0-D77264A2FA99}"/>
              </a:ext>
            </a:extLst>
          </p:cNvPr>
          <p:cNvPicPr>
            <a:picLocks noChangeAspect="1"/>
          </p:cNvPicPr>
          <p:nvPr/>
        </p:nvPicPr>
        <p:blipFill>
          <a:blip r:embed="rId4"/>
          <a:stretch>
            <a:fillRect/>
          </a:stretch>
        </p:blipFill>
        <p:spPr>
          <a:xfrm>
            <a:off x="8378378" y="164723"/>
            <a:ext cx="1217077" cy="121707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35"/>
        <p:cNvGrpSpPr/>
        <p:nvPr/>
      </p:nvGrpSpPr>
      <p:grpSpPr>
        <a:xfrm>
          <a:off x="0" y="0"/>
          <a:ext cx="0" cy="0"/>
          <a:chOff x="0" y="0"/>
          <a:chExt cx="0" cy="0"/>
        </a:xfrm>
      </p:grpSpPr>
      <p:sp>
        <p:nvSpPr>
          <p:cNvPr id="236" name="Google Shape;236;g348fab2c6ef_1_9"/>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3200"/>
              <a:buFont typeface="Work Sans Medium"/>
              <a:buNone/>
            </a:pPr>
            <a:r>
              <a:rPr lang="es-MX" sz="3200">
                <a:solidFill>
                  <a:schemeClr val="lt1"/>
                </a:solidFill>
                <a:latin typeface="Work Sans Medium"/>
                <a:ea typeface="Work Sans Medium"/>
                <a:cs typeface="Work Sans Medium"/>
                <a:sym typeface="Work Sans Medium"/>
              </a:rPr>
              <a:t>Entregables Proyecto Formativo</a:t>
            </a:r>
            <a:br>
              <a:rPr lang="es-MX" sz="3200">
                <a:solidFill>
                  <a:schemeClr val="lt1"/>
                </a:solidFill>
                <a:latin typeface="Work Sans Medium"/>
                <a:ea typeface="Work Sans Medium"/>
                <a:cs typeface="Work Sans Medium"/>
                <a:sym typeface="Work Sans Medium"/>
              </a:rPr>
            </a:br>
            <a:r>
              <a:rPr lang="es-MX" sz="3200">
                <a:solidFill>
                  <a:schemeClr val="lt1"/>
                </a:solidFill>
                <a:latin typeface="Work Sans Medium"/>
                <a:ea typeface="Work Sans Medium"/>
                <a:cs typeface="Work Sans Medium"/>
                <a:sym typeface="Work Sans Medium"/>
              </a:rPr>
              <a:t>por Trimestre</a:t>
            </a:r>
            <a:endParaRPr sz="3200">
              <a:solidFill>
                <a:schemeClr val="lt1"/>
              </a:solidFill>
              <a:latin typeface="Work Sans Medium"/>
              <a:ea typeface="Work Sans Medium"/>
              <a:cs typeface="Work Sans Medium"/>
              <a:sym typeface="Work Sans Medium"/>
            </a:endParaRPr>
          </a:p>
        </p:txBody>
      </p:sp>
      <p:sp>
        <p:nvSpPr>
          <p:cNvPr id="237" name="Google Shape;237;g348fab2c6ef_1_9"/>
          <p:cNvSpPr/>
          <p:nvPr/>
        </p:nvSpPr>
        <p:spPr>
          <a:xfrm>
            <a:off x="579652" y="1787235"/>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38" name="Google Shape;238;g348fab2c6ef_1_9"/>
          <p:cNvSpPr txBox="1"/>
          <p:nvPr/>
        </p:nvSpPr>
        <p:spPr>
          <a:xfrm>
            <a:off x="456213" y="1926673"/>
            <a:ext cx="3854400" cy="22473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Las API REST de la solución sotware incluye seguridad</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Font typeface="Work Sans Light"/>
              <a:buChar char="•"/>
            </a:pPr>
            <a:r>
              <a:rPr lang="es-MX">
                <a:solidFill>
                  <a:schemeClr val="dk1"/>
                </a:solidFill>
                <a:latin typeface="Work Sans Light"/>
                <a:ea typeface="Work Sans Light"/>
                <a:cs typeface="Work Sans Light"/>
                <a:sym typeface="Work Sans Light"/>
              </a:rPr>
              <a:t>El front_end web de la solución software está hecha en Angular, Vue.js, React (u otro), consume la API REST y tiene un avance del 80%</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Font typeface="Work Sans Light"/>
              <a:buChar char="•"/>
            </a:pPr>
            <a:r>
              <a:rPr lang="es-MX">
                <a:solidFill>
                  <a:schemeClr val="dk1"/>
                </a:solidFill>
                <a:latin typeface="Work Sans Light"/>
                <a:ea typeface="Work Sans Light"/>
                <a:cs typeface="Work Sans Light"/>
                <a:sym typeface="Work Sans Light"/>
              </a:rPr>
              <a:t>Las entregas del trimestre de la solución software se hacen a través de un Sistema de Control de Versiones (SCV)</a:t>
            </a:r>
            <a:endParaRPr>
              <a:solidFill>
                <a:schemeClr val="dk1"/>
              </a:solidFill>
              <a:latin typeface="Work Sans Light"/>
              <a:ea typeface="Work Sans Light"/>
              <a:cs typeface="Work Sans Light"/>
              <a:sym typeface="Work Sans Light"/>
            </a:endParaRPr>
          </a:p>
        </p:txBody>
      </p:sp>
      <p:grpSp>
        <p:nvGrpSpPr>
          <p:cNvPr id="239" name="Google Shape;239;g348fab2c6ef_1_9"/>
          <p:cNvGrpSpPr/>
          <p:nvPr/>
        </p:nvGrpSpPr>
        <p:grpSpPr>
          <a:xfrm>
            <a:off x="518475" y="1483910"/>
            <a:ext cx="3239100" cy="294480"/>
            <a:chOff x="126603" y="-1251822"/>
            <a:chExt cx="3239100" cy="2796582"/>
          </a:xfrm>
        </p:grpSpPr>
        <p:sp>
          <p:nvSpPr>
            <p:cNvPr id="240" name="Google Shape;240;g348fab2c6ef_1_9"/>
            <p:cNvSpPr/>
            <p:nvPr/>
          </p:nvSpPr>
          <p:spPr>
            <a:xfrm>
              <a:off x="922388" y="1499160"/>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41" name="Google Shape;241;g348fab2c6ef_1_9"/>
            <p:cNvSpPr txBox="1"/>
            <p:nvPr/>
          </p:nvSpPr>
          <p:spPr>
            <a:xfrm>
              <a:off x="126603" y="-1251822"/>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Quinto Trimestre</a:t>
              </a:r>
              <a:endParaRPr/>
            </a:p>
          </p:txBody>
        </p:sp>
      </p:grpSp>
      <p:pic>
        <p:nvPicPr>
          <p:cNvPr id="242" name="Google Shape;242;g348fab2c6ef_1_9"/>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9008A25D-5C91-E9FE-F04A-9C7810FAB64E}"/>
              </a:ext>
            </a:extLst>
          </p:cNvPr>
          <p:cNvPicPr>
            <a:picLocks noChangeAspect="1"/>
          </p:cNvPicPr>
          <p:nvPr/>
        </p:nvPicPr>
        <p:blipFill>
          <a:blip r:embed="rId4"/>
          <a:stretch>
            <a:fillRect/>
          </a:stretch>
        </p:blipFill>
        <p:spPr>
          <a:xfrm>
            <a:off x="8378378" y="164723"/>
            <a:ext cx="1217077" cy="1217077"/>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15" descr="Imagen que contiene Interfaz de usuario gráfica&#10;&#10;Descripción generada automáticamente"/>
          <p:cNvPicPr preferRelativeResize="0"/>
          <p:nvPr/>
        </p:nvPicPr>
        <p:blipFill rotWithShape="1">
          <a:blip r:embed="rId3">
            <a:alphaModFix/>
          </a:blip>
          <a:srcRect/>
          <a:stretch/>
        </p:blipFill>
        <p:spPr>
          <a:xfrm>
            <a:off x="0" y="0"/>
            <a:ext cx="12192000" cy="6858000"/>
          </a:xfrm>
          <a:prstGeom prst="rect">
            <a:avLst/>
          </a:prstGeom>
          <a:noFill/>
          <a:ln>
            <a:noFill/>
          </a:ln>
        </p:spPr>
      </p:pic>
    </p:spTree>
  </p:cSld>
  <p:clrMapOvr>
    <a:masterClrMapping/>
  </p:clrMapOvr>
</p:sld>
</file>

<file path=ppt/theme/theme1.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772</TotalTime>
  <Words>1720</Words>
  <Application>Microsoft Office PowerPoint</Application>
  <PresentationFormat>Panorámica</PresentationFormat>
  <Paragraphs>108</Paragraphs>
  <Slides>16</Slides>
  <Notes>16</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16</vt:i4>
      </vt:variant>
    </vt:vector>
  </HeadingPairs>
  <TitlesOfParts>
    <vt:vector size="22" baseType="lpstr">
      <vt:lpstr>Work Sans</vt:lpstr>
      <vt:lpstr>Arial</vt:lpstr>
      <vt:lpstr>Work Sans Medium</vt:lpstr>
      <vt:lpstr>Work Sans Light</vt:lpstr>
      <vt:lpstr>Calibri</vt:lpstr>
      <vt:lpstr>Tema de Office</vt:lpstr>
      <vt:lpstr>Presentación de PowerPoint</vt:lpstr>
      <vt:lpstr>Presentación de PowerPoint</vt:lpstr>
      <vt:lpstr>Presentación de PowerPoint</vt:lpstr>
      <vt:lpstr>Presentación de PowerPoint</vt:lpstr>
      <vt:lpstr>Presentación de PowerPoint</vt:lpstr>
      <vt:lpstr>Problema</vt:lpstr>
      <vt:lpstr>Problema</vt:lpstr>
      <vt:lpstr>Presentación de PowerPoint</vt:lpstr>
      <vt:lpstr>Presentación de PowerPoint</vt:lpstr>
      <vt:lpstr>Justificación</vt:lpstr>
      <vt:lpstr>Presentación de PowerPoint</vt:lpstr>
      <vt:lpstr>Alcance</vt:lpstr>
      <vt:lpstr>Presentación de PowerPoint</vt:lpstr>
      <vt:lpstr>Entregables Proyecto Formativo por Trimestre</vt:lpstr>
      <vt:lpstr>Entregables Proyecto Formativo por Trimestre</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Jorge Enrique Pedraza Sanchez</dc:creator>
  <cp:lastModifiedBy>Katherin Q</cp:lastModifiedBy>
  <cp:revision>9</cp:revision>
  <dcterms:created xsi:type="dcterms:W3CDTF">2020-10-01T23:51:28Z</dcterms:created>
  <dcterms:modified xsi:type="dcterms:W3CDTF">2026-02-17T20:56:34Z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299739c-ad3d-4908-806e-4d91151a6e13_Enabled">
    <vt:lpwstr>true</vt:lpwstr>
  </property>
  <property fmtid="{D5CDD505-2E9C-101B-9397-08002B2CF9AE}" pid="3" name="MSIP_Label_1299739c-ad3d-4908-806e-4d91151a6e13_Method">
    <vt:lpwstr>Standard</vt:lpwstr>
  </property>
  <property fmtid="{D5CDD505-2E9C-101B-9397-08002B2CF9AE}" pid="4" name="MSIP_Label_1299739c-ad3d-4908-806e-4d91151a6e13_Name">
    <vt:lpwstr>All Employees (Unrestricted)</vt:lpwstr>
  </property>
  <property fmtid="{D5CDD505-2E9C-101B-9397-08002B2CF9AE}" pid="5" name="MSIP_Label_1299739c-ad3d-4908-806e-4d91151a6e13_SiteId">
    <vt:lpwstr>cbc2c381-2f2e-4d93-91d1-506c9316ace7</vt:lpwstr>
  </property>
  <property fmtid="{D5CDD505-2E9C-101B-9397-08002B2CF9AE}" pid="6" name="MSIP_Label_1299739c-ad3d-4908-806e-4d91151a6e13_ContentBits">
    <vt:lpwstr>0</vt:lpwstr>
  </property>
  <property fmtid="{D5CDD505-2E9C-101B-9397-08002B2CF9AE}" pid="7" name="MSIP_Label_1299739c-ad3d-4908-806e-4d91151a6e13_SetDate">
    <vt:lpwstr>2022-08-12T19:17:55Z</vt:lpwstr>
  </property>
  <property fmtid="{D5CDD505-2E9C-101B-9397-08002B2CF9AE}" pid="8" name="MSIP_Label_1299739c-ad3d-4908-806e-4d91151a6e13_ActionId">
    <vt:lpwstr>8c6bc714-34a9-4b82-914e-50b1377a2da4</vt:lpwstr>
  </property>
</Properties>
</file>